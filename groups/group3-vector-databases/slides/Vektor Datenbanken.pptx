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82" r:id="rId2"/>
    <p:sldId id="283" r:id="rId3"/>
    <p:sldId id="284" r:id="rId4"/>
    <p:sldId id="285" r:id="rId5"/>
    <p:sldId id="286" r:id="rId6"/>
    <p:sldId id="316" r:id="rId7"/>
    <p:sldId id="317" r:id="rId8"/>
    <p:sldId id="318" r:id="rId9"/>
    <p:sldId id="319" r:id="rId10"/>
    <p:sldId id="288" r:id="rId11"/>
    <p:sldId id="289" r:id="rId12"/>
    <p:sldId id="290" r:id="rId13"/>
    <p:sldId id="291" r:id="rId14"/>
    <p:sldId id="307" r:id="rId15"/>
    <p:sldId id="257" r:id="rId16"/>
    <p:sldId id="258" r:id="rId17"/>
    <p:sldId id="260" r:id="rId18"/>
    <p:sldId id="261" r:id="rId19"/>
    <p:sldId id="262" r:id="rId20"/>
    <p:sldId id="263" r:id="rId21"/>
    <p:sldId id="264" r:id="rId22"/>
    <p:sldId id="259" r:id="rId23"/>
    <p:sldId id="265" r:id="rId24"/>
    <p:sldId id="266" r:id="rId25"/>
    <p:sldId id="308" r:id="rId26"/>
    <p:sldId id="302" r:id="rId27"/>
    <p:sldId id="267" r:id="rId28"/>
    <p:sldId id="303" r:id="rId29"/>
    <p:sldId id="304" r:id="rId30"/>
    <p:sldId id="305" r:id="rId31"/>
    <p:sldId id="306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14" r:id="rId41"/>
    <p:sldId id="309" r:id="rId42"/>
    <p:sldId id="276" r:id="rId43"/>
    <p:sldId id="277" r:id="rId44"/>
    <p:sldId id="278" r:id="rId45"/>
    <p:sldId id="279" r:id="rId46"/>
    <p:sldId id="280" r:id="rId47"/>
    <p:sldId id="281" r:id="rId48"/>
    <p:sldId id="310" r:id="rId49"/>
    <p:sldId id="311" r:id="rId50"/>
    <p:sldId id="312" r:id="rId51"/>
    <p:sldId id="315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8" autoAdjust="0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8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93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3D5D-DA09-34D8-752C-6EC04245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5D6D9-2E49-0798-D904-63CC27C3B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18464-05FC-3C69-2CF6-9F60C2F54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7265B-AC38-4163-82E0-3FC5BC50A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97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two tables and the KundenID link. The point: everything has a fixed place and a fixed type. That is the strength — and the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line is the bridge to the next slide. Don't rush past it —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pivot. Everything Tim said about relational DBs failing leads here. Keep it high-level — the detail comes in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map slide — orient the audience before going into detail. Don't explain each item yet, just name the two families and their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similar words cluster together in this space because they appear in similar contexts. The matrix gets huge fast — a vocabulary of 10,000 words = 10,000 × 10,000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intuition: common words that appear everywhere tell you nothing. Rare words that appear a lot in one document tell you everything about that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the network is trained to predict words, but what we actually use are the weights — the intermediate representation. This is the "embedding." The prediction task is just the training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GloVe is the bridge between the two families covered so far. Key message: no single method is universally best — the choice depends on dataset size, task, and computational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simplified to 2D — stress that real embeddings have hundreds or thousands of dimensions. The intuition is the same: similar things cluster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length doesn't matter, only direction. A tweet and a book about the same topic can have cosine similarity close 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cosine: L2 cares about magnitude. A small red dot and a large red dot would have different L2 but potentially the same cosine similarity.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table on the right is the takeaway. Close with the rule of thumb at the bottom — students will remember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C7DA-160D-385F-F940-53D611E2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EE204-8F4A-3081-816D-D52586B35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BC1C3-9E79-05F7-1921-A06F92012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E12BB-4282-8926-4E0A-2189EF860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52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conceptual point. The separation exists for operational reasons, not theoretical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diagram on screen for the next four slides. Then go to the engagement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specialized, not general-purpose. Walk through the math on the right callout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what an index IS before naming algorithms. Key distinction: the index is a map, not a copy of the data. The Speicherschicht holds the data; the index holds the navigation structure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earns the architecture. Without understanding WHY search is hard, the four-tier design feels like over-engineering. With it, every layer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layer decides HOW to use the index, not just that it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will interact with this layer in practice. Multi-tenancy is a real production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QUESTION — Pause here. Give students 30-60 seconds to think or discuss briefly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design insight. Follow with the concrete scenario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scenario slowly. The startup framing makes it relatable. The contrast between 02 and 03 is the whole point of disaggregation.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2E097-BCB8-5C3F-D40A-A4638FAD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5E78D-09E8-EFA7-9B3A-106C85D6B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6F84F-7A20-26B2-8460-9FD55FC84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68139-C265-4572-0859-D611B97ED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852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B67F-5DF3-0C3D-A121-73B9A7B2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96F6D-30FE-1276-0039-45E88AD48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33601-A037-DAE5-7452-D4E6CB810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scenario slowly. The startup framing makes it relatable. The contrast between 02 and 03 is the whole point of disaggregation.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15432-9D0B-4F78-FD9E-FD173B713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42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slide — you walk through the pipeline and connect each stage back to the four layers you just explained. Then hand off to Tim: "Tim will now go deeper into what happens inside each stage."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DB never sees raw data. The embedding step is a prerequisite. This is why the quality of the embedding model matters enormously — garbage in, garbage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parallelism of A and B is the key insight here. Storage and indexing are not sequential — they happen together. This is why the four-tier separation matters operationally.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is where Tim's algorithms live — you can say "step 3 is what Tim will explain in detail." The rest is yours. Focus on the flow, not the algorithm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timing line at the bottom is important — it contextualizes the entire workflow. 1-20ms end-to-end is what makes this technology usable in production. Close with: "That's the full workflow. Now the question is — why is this a database and not just a search library?"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05C4-7F5C-A6ED-2A62-14CF258F2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DC3EB-765A-97A0-BE96-180A8798B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8DF6E-2ECB-C457-8C40-290EF71E7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60DD4-7864-5021-5AE8-374A2A8501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85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orientation — don't explain each algorithm yet. Just show the landscape and note the progression from exact to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is the conceptual baseline. All ANN algorithms are trying to approximate this result faster. Make that clear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message: 95-99% accuracy at 100x the speed is a worthwhile trade for almost all real applications. Bridge to HNSW and LSH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layered structure is the key intuition. Start high, zoom in. Like zooming into a map — you start with countries, then cities, then streets.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bucket metaphor is the key. Show: query comes in, gets hashed to Bucket B, only search within B. Much faster than searching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back to Joey's section — filtered search only works because the database stores metadata. A pure index cannot do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hybrid search is the state of the art for most production search systems. Neither keyword alone nor vector alone is enough. This is what modern search engines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A0F7-F4FD-FA11-0C84-9B629CF4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6037F-AFDB-FC25-CED6-DFDBB795F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FB913-55FD-9559-BA91-EC51A802F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A6C4C-70B9-ABCF-08DC-86829DD305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166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comes directly from the source article. Let the question sit, then go to engagement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genuinely fair here. The contrast on the next slide is more credible when the praise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each gap concrete. CRUD and metadata land best with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detection example hits hardest. Makes the stakes tangible.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makes the metadata gap concrete and immediate. The three example queries are directly relatable.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disaggregation from Section 2. Same principle, applied to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scenarios, not three — the Neustart scenario was already covered on the "Was einem Index fehlt" slide (no persistent storage). Don't repeat it here. These two are distinct: node failure shows replication in action, inconsistent data shows consistency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retell the PayPal fraud story — you already told it on the CRUD slide. Just reference it briefly: "PayPal kennen wir schon." The table speaks for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showing this table, go to the final engagement question slide before the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QUESTION — Pause here. Give students 30-60 seconds to think or discuss briefly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9AD82-190B-5FA6-4DBE-D556079E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E6EE2-73FF-9350-E162-B668BBDA4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2B9C3-27CF-69BD-701D-A485BD169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C2930-A9D0-ECD5-7B82-EE567CD73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3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8E2D5-BCA8-8A40-EC09-90C2CDFB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68D45F-15B5-4359-5E5C-40835150F614}"/>
              </a:ext>
            </a:extLst>
          </p:cNvPr>
          <p:cNvSpPr/>
          <p:nvPr/>
        </p:nvSpPr>
        <p:spPr>
          <a:xfrm>
            <a:off x="502920" y="146304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99852D-AE69-7131-0E1A-F21D58465375}"/>
              </a:ext>
            </a:extLst>
          </p:cNvPr>
          <p:cNvSpPr/>
          <p:nvPr/>
        </p:nvSpPr>
        <p:spPr>
          <a:xfrm>
            <a:off x="731520" y="15214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</a:t>
            </a: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606784-9DE6-6BF4-513E-A41B99A14068}"/>
              </a:ext>
            </a:extLst>
          </p:cNvPr>
          <p:cNvSpPr/>
          <p:nvPr/>
        </p:nvSpPr>
        <p:spPr>
          <a:xfrm>
            <a:off x="73152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relationalen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Vektordatenbank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12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 Datenbanken: Aufbau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sind strukturiert, tabellarisch und über Relationen verknüpft.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Kunden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609344"/>
          <a:ext cx="3840480" cy="16093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KundenID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Anna Müller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 Schmidt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München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Weber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Hamburg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2984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Bestellungen</a:t>
            </a:r>
            <a:endParaRPr lang="en-US" sz="13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/>
        </p:nvGraphicFramePr>
        <p:xfrm>
          <a:off x="4754880" y="1609344"/>
          <a:ext cx="4023360" cy="160934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BestellID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KundenID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Tastatur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3246120"/>
            <a:ext cx="26517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5760" y="3246120"/>
            <a:ext cx="2651760" cy="640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" y="33375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5488" y="3721608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in Zeilen und Spalten – jede Zeile ein Datensatz, jede Spalte ein Attribut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00400" y="3246120"/>
            <a:ext cx="26517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00400" y="3246120"/>
            <a:ext cx="2651760" cy="640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10128" y="33375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Geordnet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10128" y="3721608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Feld hat einen festen Typ: Text, Zahl, Datum – keine freien Strukturen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3246120"/>
            <a:ext cx="26517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35040" y="3246120"/>
            <a:ext cx="2651760" cy="640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44768" y="33375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Relationen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144768" y="3721608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sind über Schlüssel verbunden – ermöglicht komplexe, verschachtelte Abfragen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 Datenbanken: Stärken &amp; Schwächen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393192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408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Exakte Suche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755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preis = 49.99 — findet genau diesen Wert, immer.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393192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1343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2368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Filtern über Relationen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7157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über Tabellen — alle Bestellungen eines Kunden aus Berlin.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73552"/>
            <a:ext cx="393192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7355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3328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Konsistenz &amp; Integrität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Transaktionen, ACID-Garantien, keine inkonsistenten Zustände.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0" cy="3749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Schwächen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846320" y="1353312"/>
            <a:ext cx="393192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5331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76672" y="1408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Unstrukturierte Daten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1755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Bilder, Audiodateien, Fließtext — kein festes Schema, kein natürlicher Platz.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313432"/>
            <a:ext cx="393192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31343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2368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Ähnlichkeitssuche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27157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kennt kein "ähnlich wie" — nur exakte Werte oder Ranges.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diese Schwächen löst eine Vektordatenbank.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sind Vektordatenbanken?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Datenbank, die für unstrukturierte Daten und Ähnlichkeitssuche gebaut ist.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087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Unstrukturierte Daten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892808"/>
            <a:ext cx="38953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Bilder, Audio, Video — keine festen Schemas erforderlich. Die Daten müssen nicht in Tabellen passen.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1480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41148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5087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Ähnlichkeitssuche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1892808"/>
            <a:ext cx="38953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"exakt gleich" findet sie "semantisch ähnlich" — das nächste Bild, den ähnlichsten Text, das relevanteste Dokument.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11480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337560"/>
            <a:ext cx="41148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42900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Kein manuelles Labeln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813048"/>
            <a:ext cx="38953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Embedding-Modelle extrahieren Bedeutung automatisch. Menschen müssen Daten nicht kategorisieren.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411480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337560"/>
            <a:ext cx="41148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42900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Vektoren als Repräsentation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813048"/>
            <a:ext cx="38953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Objekt wird als Zahlenvektor im hochdimensionalen Raum dargestellt. Ähnlichkeit = geometrische Nähe.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Embedding-Modelle: Überblick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werden Texte, Bilder oder Audio in Vektoren umgewandelt?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Frequenzbasiert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Basiert auf dem Zählen von Wort-Vorkommen und -Häufigkeiten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Matrix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821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93192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Vorhersagebasiert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847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Lernt Wortbedeutungen aus dem Kontext durch neuronale Netze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237744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3774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(CBOW / SkipGram)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83480" y="31455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14553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391363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0" name="Text 18"/>
          <p:cNvSpPr/>
          <p:nvPr/>
        </p:nvSpPr>
        <p:spPr>
          <a:xfrm>
            <a:off x="5120640" y="39136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Kontextuell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Kernidee: Wörter, die oft zusammen auftreten, haben ähnliche Bedeutung.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Zählt Wort-Paar-Auftritte in einem festen Kontext-Fenster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eine Matrix der Größe Vokabular × Vokabular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Zeile repräsentiert ein Wort als Vektor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Repräsentation — aber Dimension wächst mit dem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Vokabular</a:t>
            </a:r>
            <a:endParaRPr lang="en-US" sz="15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Bsp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: “Hund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isst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Fleisch”, “Katze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isst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Fisch”, “Katze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isst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Fleisch”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93437" y="1444752"/>
            <a:ext cx="3676243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8" name="Text 6"/>
          <p:cNvSpPr/>
          <p:nvPr/>
        </p:nvSpPr>
        <p:spPr>
          <a:xfrm>
            <a:off x="5193437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Fenster = 2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06770"/>
              </p:ext>
            </p:extLst>
          </p:nvPr>
        </p:nvGraphicFramePr>
        <p:xfrm>
          <a:off x="5460969" y="2068497"/>
          <a:ext cx="3141177" cy="2105580"/>
        </p:xfrm>
        <a:graphic>
          <a:graphicData uri="http://schemas.openxmlformats.org/drawingml/2006/table">
            <a:tbl>
              <a:tblPr/>
              <a:tblGrid>
                <a:gridCol w="597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18">
                  <a:extLst>
                    <a:ext uri="{9D8B030D-6E8A-4147-A177-3AD203B41FA5}">
                      <a16:colId xmlns:a16="http://schemas.microsoft.com/office/drawing/2014/main" val="21955709"/>
                    </a:ext>
                  </a:extLst>
                </a:gridCol>
                <a:gridCol w="478250">
                  <a:extLst>
                    <a:ext uri="{9D8B030D-6E8A-4147-A177-3AD203B41FA5}">
                      <a16:colId xmlns:a16="http://schemas.microsoft.com/office/drawing/2014/main" val="3349879670"/>
                    </a:ext>
                  </a:extLst>
                </a:gridCol>
                <a:gridCol w="574477">
                  <a:extLst>
                    <a:ext uri="{9D8B030D-6E8A-4147-A177-3AD203B41FA5}">
                      <a16:colId xmlns:a16="http://schemas.microsoft.com/office/drawing/2014/main" val="75506004"/>
                    </a:ext>
                  </a:extLst>
                </a:gridCol>
                <a:gridCol w="546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9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Fleisch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9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Fleisch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9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Katzte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958653"/>
                  </a:ext>
                </a:extLst>
              </a:tr>
              <a:tr h="2869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Fisch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030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– Term Frequency · Inverse Document Frequency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Kernidee: Wichtigkeit eines Wortes im Dokument relativ zum gesamten Korpus bestimmen.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02336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58468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– Term Frequency (lokal)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787652"/>
            <a:ext cx="3803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kommt ein Wort im aktuellen Dokument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TF(t, d) =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t in d /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Gesamtwörter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Häufiges Wort im Dokument = hoher TF-Wert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44752"/>
            <a:ext cx="402336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8590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– Inverse Document Frequency (global)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793156"/>
            <a:ext cx="3803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selten ist das Wort im gesamten Korpus?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IDF(t) = log(N / df(t))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Seltenes Wort im Korpus = hoher IDF-Wert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0779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= TF × IDF — stark bei seltenen, aussagekräftigen Begriffen. Schwach bei Stoppwörtern wie „der", „ist", „und".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30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050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einem Medizin-Dokument: „Aspirin" hat hohen TF (oft genannt) und hohen IDF (selten in anderen Dokumenten) → hoher TF-IDF Score. „Der" hat hohen TF aber niedrigen IDF → niedriger Score.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– CBOW &amp; SkipGram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Kernidee: Vorhersage-basierte Embeddings durch neuronale Netze.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02336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Bag of Words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→ Zielwort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___ bellt laut"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Vorhersage: „Hund"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mehrere Kontextwörter gleichzeitig.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44752"/>
            <a:ext cx="402336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4475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SkipGram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73936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Zielwort → Kontext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„Hund"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Vorhersage: „bellt", „treues", „Tier"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Besonders gut bei seltenen Wörtern.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478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Embeddings sind die trainierten Gewichte des neuronalen Netzes — nicht das Ergebnis der Vorhersage.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2757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Neuronales Netz (vereinfacht):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95748"/>
            <a:ext cx="146304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957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(Kontext)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4842636"/>
            <a:ext cx="8229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4595748"/>
            <a:ext cx="146304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5957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(Embeddings)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4842636"/>
            <a:ext cx="8229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4595748"/>
            <a:ext cx="146304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45957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(Zielwort)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– Global Vectors for Word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Kernidee: Das Beste aus beiden Welten — globale Co-Occurrence-Statistik + effiziente Vektoren.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globale Co-Occurrence-Statistik des gesamten Korpus — nicht nur lokale Kontext-Fenster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Matrix-Faktorisierung auf Log-Wahrscheinlichkeiten der Kookkurrenzen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exzellent auf große Datensätze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Kombination: statistische Stärke von Co-Occurrence Matrix + Effizienz von Word2Vec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444752"/>
            <a:ext cx="320040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806440" y="1828800"/>
          <a:ext cx="2926080" cy="160934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Co-Occ.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133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3891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lernt: P(Eis | Wasser) ist viel höher als P(Feuer | Wasser). Diese Verhältnisse aus dem gesamten Korpus kodiert es direkt in die Vektoren — präziser als lokale Fenster allein.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 Ähnlichkeit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Ähnlichkeit ist Distanz im Vektorraum.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Wort, Dokument oder Objekt wird als Punkt im hochdimensionalen Raum dargestellt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 ähnliche Konzepte liegen geometrisch nah beieinander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Distanz zwischen zwei Punkten = Maß für Unähnlichkeit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Richtung des Vektors trägt die semantische Information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35661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0789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Vektorraum (vereinfacht)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4206240"/>
            <a:ext cx="2743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1463040"/>
            <a:ext cx="0" cy="2743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91072" y="199339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975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235915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23408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45552" y="363931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3296" y="36210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457200" cy="365760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4652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103120"/>
            <a:ext cx="1554480" cy="164592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287768" y="2926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Kosinusähnlichkeit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Misst den Winkel zwischen zwei Vektoren — nicht ihre Länge.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Berechnung &amp; Wertebereich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55064"/>
            <a:ext cx="4809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Wertebereich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−1 bis +1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+1 = gleiche Richtung (sehr ähnlich)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 = orthogonal (kein Zusammenhang)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 = entgegengesetzt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5029200" cy="10058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72491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Besonderheit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004381"/>
            <a:ext cx="4809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Ignoriert die Länge der Vektoren komplett — nur die Richtung zählt. Ein kurzes und ein langes Dokument über dasselbe Thema haben hohe Kosinusähnlichkeit.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02920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2219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Einsatz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4169664"/>
            <a:ext cx="4809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Dokumentenähnlichkeit, Texte unterschiedlicher Länge vergleichen, Empfehlungssysteme.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325880"/>
            <a:ext cx="320040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3990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Winkel θ zwischen A und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4087368"/>
            <a:ext cx="146304" cy="14630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217920" y="3302493"/>
            <a:ext cx="2286000" cy="858027"/>
          </a:xfrm>
          <a:prstGeom prst="line">
            <a:avLst/>
          </a:prstGeom>
          <a:noFill/>
          <a:ln w="3175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V="1">
            <a:off x="6217920" y="2143961"/>
            <a:ext cx="1828800" cy="2016559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Euklidische Distanz (L2)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Misst die direkte "Luftlinie" zwischen zwei Punkten im Vektorraum.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92224"/>
            <a:ext cx="4809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Distanz = ähnlich    Große Distanz = unähnlich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502920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58775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 zu Kosinus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881070"/>
            <a:ext cx="4809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berücksichtigt sowohl Richtung als auch Länge. Zwei Vektoren mit gleicher Richtung aber unterschiedlicher Länge haben eine L2-Distanz größer 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502920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68503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Einsatz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4032504"/>
            <a:ext cx="4809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Bilder, Farben, Feature-Vektoren aus Computer Vision. Überall dort, wo die Magnitude des Vektors eine inhaltliche Bedeutung hat.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325880"/>
            <a:ext cx="320040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3990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L2-Distanz im 2D-Raum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434340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783080"/>
            <a:ext cx="0" cy="2560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213055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19872" y="3776472"/>
            <a:ext cx="219456" cy="21945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240280"/>
            <a:ext cx="1737360" cy="164592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315200" y="2875477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d(A,B)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Skalarprodukt (Dot Product)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Effizient, skalierbar — und bei normalisierten Vektoren äquivalent zu Kosinus.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10058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46504"/>
            <a:ext cx="4809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elementweise Multiplikation und Summe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50292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9631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Berücksichtigt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843784"/>
            <a:ext cx="4809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Sowohl Länge als auch Winkel — ähnlich wie L2, aber andere Formel. Große Werte = ähnlich (wenn Vektoren normalisiert sind).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502920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59359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Besonderer Vorteil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941064"/>
            <a:ext cx="4809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Rechnerisch günstiger als Kosinus, da keine Division durch Längen nötig.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Ideal für Large-Scale und Echtzeit-Systeme.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Bei normalisierten Vektoren: Dot Product = Kosinus-Ähnlichkeit.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325880"/>
            <a:ext cx="320040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3898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der drei Metriken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715000" y="1737360"/>
          <a:ext cx="3108960" cy="175564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Länge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Winkel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Kosinus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71500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Kosinus für Text, L2 für Bilder, Dot für Geschwindigkeit.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8795F-E282-3218-FA84-45663188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638E1C-72E3-8081-DE86-2F2130E11B31}"/>
              </a:ext>
            </a:extLst>
          </p:cNvPr>
          <p:cNvSpPr/>
          <p:nvPr/>
        </p:nvSpPr>
        <p:spPr>
          <a:xfrm>
            <a:off x="502920" y="146304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99DE9A-E1B3-6801-B135-06259A9AF4BA}"/>
              </a:ext>
            </a:extLst>
          </p:cNvPr>
          <p:cNvSpPr/>
          <p:nvPr/>
        </p:nvSpPr>
        <p:spPr>
          <a:xfrm>
            <a:off x="731520" y="15087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Architektur</a:t>
            </a: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6EAC4A-5263-00C0-1FAB-7C18DB4A1B4A}"/>
              </a:ext>
            </a:extLst>
          </p:cNvPr>
          <p:cNvSpPr/>
          <p:nvPr/>
        </p:nvSpPr>
        <p:spPr>
          <a:xfrm>
            <a:off x="73152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Vektordatenbank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aufgebaut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26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Grundprinzip: Trennung von Verantwortlichkeiten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eine Schichtenarchitektur?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Vektordatenbanken bestehen aus vier klar getrennten Schichten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Schicht trägt eine eigene, abgegrenzte Verantwortung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Trennung ist eine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Designentscheidung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Unabhängige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Skalierbarkeit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Wartbarkeit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Fehlertoleranz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960120"/>
            <a:ext cx="2606040" cy="35661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51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Kernprinzip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463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jede Schicht unabhängig arbeitet, kann sie auch unabhängig skalieren, ausfallen und optimiert werden.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Überblick: Die vier Schichten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731520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Dienstschicht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27101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Verbindungen · Routing · Sicherheit · Multi-Tenancy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673352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14400" y="1856232"/>
            <a:ext cx="7315200" cy="8046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Abfrageschicht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258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verarbeiten · Strategie wählen · Caching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2660904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0" y="2843784"/>
            <a:ext cx="7315200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Indexschicht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Indexierungsalgorithmen · Hardware-Optimierung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3648456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4400" y="3831336"/>
            <a:ext cx="7315200" cy="8046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38496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Speicherschicht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2336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 Datenhaltung · Komprimierung · I/O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 1: Speicherschicht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Unterste Schicht – Fundament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 Speicherung aller Vektoren und zugehöriger Metadaten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Spezialisierte Kodierung und Komprimierung für hochdimensionale Daten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Optimierte I/O-Muster für vektorspezifische Zugriffsmuster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für schnellen Zugriff — NVMe-SSD für kosteneffiziente Skalierung (DiskANN)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8346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Maßstab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50876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Mio. Vektoren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1.024 Dimensionen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4 Byte (float32)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~400 GB RAM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Ohne SSD-Indexierung nicht wirtschaftlich skalierbar.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Schlüsselwort: Spezialisierung – kein Allzweck-Speicher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 2: Indexschicht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Strukturierung für schnellen Zugriff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EEF2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ein Index?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vorberechnete Datenstruktur über die gespeicherten Vektoren. Sie speichert keine Vektoren selbst — das macht die Speicherschicht. Sie speichert eine Karte: Welche Vektoren liegen nah beieinander? Wenn eine Anfrage kommt, folgt die Suche dieser Karte statt alles zu durchsuchen.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Verwaltet mehrere Indexierungsalgorithmen gleichzeitig – je nach Anwendungsfall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fortlaufend aktualisiert, wenn neue Daten eintreffen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Hardwarespezifische Optimierungen: (AVX512, SIMD-Instruktionen, GPU-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Beschleunigung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2359152"/>
            <a:ext cx="283464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(Vorschau)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27889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· IVF · PQ · DiskANN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Suchalgorithmen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Teil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Vektorsuche grundlegend schwierig 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Problem: Hohe </a:t>
            </a:r>
            <a:r>
              <a:rPr lang="en-US" sz="17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Dimensionalität</a:t>
            </a: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heißt</a:t>
            </a: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</a:t>
            </a: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Exakte Suche (kNN)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1 Milliarde Vektoren: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Anfrage vergleicht den Query-Vektor mit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gespeicherten Vektoren.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Mrd. Berechnungen pro Anfrage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Bei 1.024 Dimensionen: Milliarden von Multiplikationen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Nicht in Echtzeit möglich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02336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 (ANN)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exakter Suche: intelligente Abkürzungen.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Index strukturiert Vektoren vorab so,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 man nur einen kleinen Bruchteil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durchsuchen muss.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Millisekunden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Kleine Genauigkeitseinbußen (akzeptabel)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 ist die Aufgabe der Indexschicht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 3: Abfrageschicht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Das Gehirn jeder Suchanfrage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Nimmt eingehende Suchanfragen entgegen und parst sie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Bestimmt die Ausführungsstrategie – welcher Index, welche Partition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Verarbeitet, bewertet und rankt die zurückgegebenen Ergebnisse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Implementiert Caching für häufig wiederkehrende Anfragen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834640" cy="201168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Caching?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5087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Nutzer suchen dasselbe Produkt → das Ergebnis wird nicht 1.000× neu berechnet.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 4: Dienstschicht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Oberste Schicht – Schnittstelle zur Außenwelt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56032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5603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2340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API-Endpunkte, Client-Verwaltung, Load Balancing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56032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5603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8872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4408" y="1572768"/>
            <a:ext cx="2340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Metriken, Alerts bei Systemfehlern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256032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097280"/>
            <a:ext cx="25603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118872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53328" y="1572768"/>
            <a:ext cx="2340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Authentifizierung, Autorisierung, Verschlüsselung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8412480" cy="16459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Verschiedene Teams oder Kunden teilen dieselbe Datenbankinstanz – ohne gegenseitigen Datenzugriff. Realisiert durch Sharding, Partitionierung oder Row-Level Security.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 an euch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dieser vier Schichten haltet ihr für die kritischste — und warum?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768096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Denkanstoß: Denkt daran: Was passiert, wenn genau diese eine Schicht ausfällt oder falsch gebaut ist?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diese Trennung? – Das Prinzip der Disaggregation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und Storage sind entkoppelt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Monolithische Systeme: Alles skaliert zusammen – teuer und unflexibel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Schichtenarchitektur: Jede Einheit skaliert nur dort, wo Bedarf besteht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Ausfall einer Schicht bringt das gesamte System zum Stillstand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417320"/>
            <a:ext cx="31089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141732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5312" y="1453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Speicher?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25312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Nur Speicherschicht erweitern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31089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24028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2276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Anfragen?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5312" y="2587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Nur Abfrageschicht skalieren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31089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306324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3099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Indizes?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5312" y="3410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Nur Indexschicht aktualisieren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776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ermöglicht es, Milliarden von Vektoren in Produktionssystemen zu verwalten – ohne Kompromisse bei der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Disaggregation in der Praxis: Ein konkretes Szenario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 euch vor: Ein Startup, das gerade viral geht.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Euer monolithischer Server hat 64 GB RAM. Ihr habt 50 Mio. Vektoren gespeichert – der Speicher ist fast voll. Gleichzeitig explodiert die Anzahl der Anfragen.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14600"/>
            <a:ext cx="45720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146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Monolithische Lösung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95351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kauft einen größeren Server: 256 GB RAM, doppelt so viele CPU-Kerne – auch wenn das CPU-Problem gar nicht existiert. Kosten verdoppeln sich.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11880"/>
            <a:ext cx="45720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118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675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Disaggregierte Lösung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5079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fügt einen Speicherknoten hinzu. Abfrage- und Indexknoten bleiben unverändert. Nur das Problem wird gelöst – und nur dort, wo es existiert.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75C21-7947-91D8-7887-6EF84CB3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E72804-BCCA-4195-F542-0D024C0E4C29}"/>
              </a:ext>
            </a:extLst>
          </p:cNvPr>
          <p:cNvSpPr/>
          <p:nvPr/>
        </p:nvSpPr>
        <p:spPr>
          <a:xfrm>
            <a:off x="502920" y="146304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2F3F98-C9AC-5F0E-AD10-D39371F2B64C}"/>
              </a:ext>
            </a:extLst>
          </p:cNvPr>
          <p:cNvSpPr/>
          <p:nvPr/>
        </p:nvSpPr>
        <p:spPr>
          <a:xfrm>
            <a:off x="731520" y="15087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Workflow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einer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Vektorsuche</a:t>
            </a: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C0CBA7-6676-A846-BECD-906D1F991996}"/>
              </a:ext>
            </a:extLst>
          </p:cNvPr>
          <p:cNvSpPr/>
          <p:nvPr/>
        </p:nvSpPr>
        <p:spPr>
          <a:xfrm>
            <a:off x="73152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Suchergebnis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Schritt für Schritt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23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157-E8F9-AC44-3448-EC6E8D06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8A4649-AD7B-9F19-929D-A2F30D8E585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5C7F50-39A6-5869-A80C-954C6B8BC27F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Kompletter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einer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Vector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Suchoperation</a:t>
            </a:r>
            <a:endParaRPr lang="en-US" sz="2200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2EFD658-ADC3-2827-962B-A0ABB008B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21" y="814606"/>
            <a:ext cx="8211758" cy="418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18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Pipeline: Architektur in Bewegung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7043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44752" y="1211580"/>
            <a:ext cx="31455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9306" y="914400"/>
            <a:ext cx="1170432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59306" y="91440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9738" y="1211580"/>
            <a:ext cx="31455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7866" y="156362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außerhalb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4291" y="914400"/>
            <a:ext cx="1170432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4291" y="91440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4723" y="1211580"/>
            <a:ext cx="31455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2851" y="156362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Speicherschicht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29277" y="914400"/>
            <a:ext cx="1170432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9277" y="91440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9709" y="1211580"/>
            <a:ext cx="31455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7837" y="156362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Indexschicht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4262" y="914400"/>
            <a:ext cx="1170432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4262" y="91440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84694" y="1211580"/>
            <a:ext cx="31455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2822" y="156362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Abfrageschicht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99248" y="914400"/>
            <a:ext cx="1170432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9248" y="91440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1874520"/>
            <a:ext cx="85953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874520"/>
            <a:ext cx="384048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187452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" y="192938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→ außerhalb der DB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22585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 werden in Vektoren umgewandelt – durch ein Modell wie BERT oder CLIP – bevor sie die Datenbank erreichen. Die DB nimmt fertige Vektoren entgegen.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834640"/>
            <a:ext cx="85953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834640"/>
            <a:ext cx="384048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83464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9808" y="28895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 + Index → Speicher- &amp; Indexschicht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9808" y="32186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Vektor wird persistent gespeichert (Speicherschicht) und gleichzeitig in den ANN-Index eingetragen (Indexschicht). Beide Schritte sind eng koordiniert.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85953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94760"/>
            <a:ext cx="384048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9476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9808" y="38496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 → Abfrageschicht + Dienstschicht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9808" y="41788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Suchanfrage trifft über die Dienstschicht ein, wird von der Abfrageschicht verarbeitet, und das Ergebnis wird über dieselbe Dienstschicht zurückgeliefert.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1: Transformation &amp; Embedding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Außerhalb der Datenbank — vor dem Eintritt in das System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36192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66314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96435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26557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56678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1536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hier?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1901952"/>
            <a:ext cx="50292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Text, Bild, Audio, Video;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einem Embedding-Modell übergeben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(z.B. BERT für Text, CLIP für Bilder) wandelt das Objekt in einen Zahlenvektor 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Dieser Vektor repräsentiert die semantische Bedeutung des Objekts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dieser fertige Vektor wird an die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Vektordatenbank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übergeben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502920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24528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4279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Modellwechsel = Neueinbettung aller Daten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5171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Wechselt das Embedding-Modell, sind alle gespeicherten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ungültig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Der gesamte Datensatz muss neu eingebettet werden.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1536192"/>
            <a:ext cx="31089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609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Text-Embedding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97880" y="19933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"Der Hund bellt laut"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97880" y="23591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BERT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97880" y="2670048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[0.21, -0.84, 0.37,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0.92, -0.15, 0.63,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...  (768 Werte)]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35112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an die DB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3840480"/>
            <a:ext cx="283464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8404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Vektordatenbank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2: Speicherung &amp; Indexierung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Speicherschicht + Indexschicht arbeiten koordiniert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36192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66314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96435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26557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56678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508760"/>
            <a:ext cx="4160520" cy="3246120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508760"/>
            <a:ext cx="384048" cy="32461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508760"/>
            <a:ext cx="3840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 Speicherung (Speicherschicht)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1993392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wird mit eindeutiger ID und Metadaten auf Disk geschrieben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Spezialisierte Kodierung reduziert Speicherverbrauch (z.B. Quantisierung)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Write-Ahead-Log sichert gegen Datenverlust bei Absturz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Vektor überlebt jeden Neustart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00600" y="1508760"/>
            <a:ext cx="416052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1508760"/>
            <a:ext cx="384048" cy="3246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508760"/>
            <a:ext cx="3840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76088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Index-Aktualisierung (Indexschicht)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76088" y="1993392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Gleichzeitig wird der Vektor in die Index-Datenstruktur eingetragen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HNSW: Neue Graphverbindungen werden berechnet und gesetzt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Inkrementelle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Aktualisierung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vollständiger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Neuaufbau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nötig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Vektor ist ab sofort in der Suche auffindbar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Schritte passieren beim Einfügen eines neuen Vektors — koordiniert und transaktional.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3: Abfrageverarbeitung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Abfrageschicht + Dienstschicht — wenn eine Suchanfrage eintrifft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36192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66314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96435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26557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56678" y="1216152"/>
            <a:ext cx="35113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508760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508760"/>
            <a:ext cx="384048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50876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 trifft über die Dienstschicht ein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1874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sendet einen Query-Vektor — embedded mit demselben Modell wie die gespeicherten Daten. Anderes Modell = anderer Vektorraum = falsche Ergebnisse.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350008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350008"/>
            <a:ext cx="384048" cy="7315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35000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1248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Abfrageschicht wählt eine Strategie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27157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Welcher Index wird verwendet? Welche Partition ist relevant? Gibt es Metadaten-Filter? Ist das Ergebnis bereits gecacht?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191256"/>
            <a:ext cx="384048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191256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1248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ANN-Suche wird ausgeführt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" y="3557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Index (HNSW, LSH, etc.) traversiert seine Datenstruktur und liefert Kandidaten zurück — die K ähnlichsten Vektoren aus dem relevanten Suchraum.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032504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032504"/>
            <a:ext cx="384048" cy="7315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32504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41248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werden assembliert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1248" y="43982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 werden mit Ähnlichkeitswerten versehen, ggf. nach Metadaten gefiltert (Post-Filtering), gerankt und als Antwort vorbereitet.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4: Post Processing &amp; Ergebnisrückgabe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Kandidatenliste zum ausgelieferten Ergebnis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36192" y="1216152"/>
            <a:ext cx="35113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7322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66314" y="1216152"/>
            <a:ext cx="35113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7443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96435" y="1216152"/>
            <a:ext cx="35113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7565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26557" y="1216152"/>
            <a:ext cx="35113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7686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56678" y="1216152"/>
            <a:ext cx="35113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10515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508760"/>
            <a:ext cx="416052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508760"/>
            <a:ext cx="416052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1581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Ähnlichkeitsbewertung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" y="1956816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Kandidat erhält einen Score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Distanzwert aus der ANN-Suche. </a:t>
            </a:r>
            <a:b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Niedrigere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Distanz = höherer Score = relevanteres Ergebnis.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508760"/>
            <a:ext cx="416052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508760"/>
            <a:ext cx="4160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1581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Post-Filtering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0328" y="1956816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Metadaten-Filter werden auf die Kandidatenliste angewendet: Preisrange, Kategorie, Datum. Treffer ohne passende Metadaten fallen heraus.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291840"/>
            <a:ext cx="416052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291840"/>
            <a:ext cx="416052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364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Sortierung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5488" y="3739896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verbleibenden Kandidaten werden nach Score geordnet. Optional: Reranking durch ein zweites Modell für höhere Relevanz.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00600" y="3291840"/>
            <a:ext cx="416052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291840"/>
            <a:ext cx="4160520" cy="640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3364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Rückgabe über Dienstschicht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10328" y="3739896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finale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Vektoren, IDs, Metadaten, Scores</a:t>
            </a:r>
            <a:b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serialisiert und über die API an den Client zurückgeliefert.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52A4B-9134-EBC5-94AC-F3AA1310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61F733-58BB-CA3A-DCA2-B0D967040519}"/>
              </a:ext>
            </a:extLst>
          </p:cNvPr>
          <p:cNvSpPr/>
          <p:nvPr/>
        </p:nvSpPr>
        <p:spPr>
          <a:xfrm>
            <a:off x="502920" y="146304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0660AA-3999-CE42-AD52-5FF53580B8C7}"/>
              </a:ext>
            </a:extLst>
          </p:cNvPr>
          <p:cNvSpPr/>
          <p:nvPr/>
        </p:nvSpPr>
        <p:spPr>
          <a:xfrm>
            <a:off x="731520" y="15087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Suchalgorithmen</a:t>
            </a: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07CC47-0A8D-EEBF-74FB-ED23D6BDAA80}"/>
              </a:ext>
            </a:extLst>
          </p:cNvPr>
          <p:cNvSpPr/>
          <p:nvPr/>
        </p:nvSpPr>
        <p:spPr>
          <a:xfrm>
            <a:off x="73152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Vektordatenbank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Einträge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1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Überblick: Suchalgorithmen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exakt zu approximativ — und von einfach zu produktionstauglich.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Exakt, langsam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417320"/>
            <a:ext cx="182880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Approximativ, schnell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417320"/>
            <a:ext cx="18288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Graph-basiert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417320"/>
            <a:ext cx="1828800" cy="7315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Hash-basiert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Erweiterungen &amp; Kombinationen: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" y="2702185"/>
            <a:ext cx="265176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2702185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2793625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Search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5216" y="3177673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Vektorsuche kombiniert mit Metadaten-Filtern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10128" y="2702185"/>
            <a:ext cx="265176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702185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2793625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19856" y="3177673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Keyword-Suche + semantische Vektorsuche kombiniert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 (KNN)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naive Ansatz — und der genaueste.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8463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funktioniert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46504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Gegeben ein Query-Vektor: Berechne die Distanz zu ALLEN gespeicherten Vektoren. Gib die K nächsten zurück.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8463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2688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Perfekte Genauigkeit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980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garantiert die K tatsächlich nächsten Vektoren zurück.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456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Nachteile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85616"/>
            <a:ext cx="4846320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8561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7824" y="3813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 Komplexität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40782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jede Anfrage vergleicht alle n Vektoren. Bei Millionen Einträgen: Sekunden bis Minuten.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443984"/>
            <a:ext cx="4846320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439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" y="44714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skalierbar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47365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mehr Daten, desto langsamer — ohne Ausnahme.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325880"/>
            <a:ext cx="338328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399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K=3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9944" y="215798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32904" y="243230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75704" y="307238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90104" y="197510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44184" y="352958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64424" y="343814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279806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0024" y="416966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61304" y="2615184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13448" y="2807208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73368" y="2121408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2926080"/>
            <a:ext cx="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196328" y="2395728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926080"/>
            <a:ext cx="1828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739128" y="3035808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2926080"/>
            <a:ext cx="0" cy="228600"/>
          </a:xfrm>
          <a:prstGeom prst="line">
            <a:avLst/>
          </a:prstGeom>
          <a:noFill/>
          <a:ln w="15240">
            <a:solidFill>
              <a:srgbClr val="1D4ED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5623560" y="4480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Query  ● K=3 nächste  ● Alle anderen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 (ANN)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als KNN — mit kontrolliertem Genauigkeitsverlust.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Kernidee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46504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alle Vektoren zu vergleichen: Durchsuche nur eine intelligente Teilmenge. Die Ergebnisse sind nicht garantiert exakt — aber in der Praxis gut genug.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 ←————————————————— Kompromiss —————————————————→ Geschwindigkeit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1148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16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Exakt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Genauigkeit: 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Geschwindigkeit: Langsam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 nicht nutzbar bei Millionen Einträgen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41148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16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— Approximativ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Genauigkeit: ~95–99%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Geschwindigkeit: Sehr schnell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9502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Millisekunden — selbst bei Milliarden Einträgen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und LSH sind konkrete Implementierungen von ANN.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– Hierarchical Navigable Small World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mehrschichtiger Graph, der von grob nach fein sucht.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75488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46504"/>
            <a:ext cx="45354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 werden als Knoten in einem mehrschichtigen Graphen gespeichert. Jeder Knoten ist mit ähnlichen Knoten verbunden — die Verbindungsdichte nimmt nach unten zu.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4754880" cy="10058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51227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9794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der obersten Schicht (wenige Knoten, grobe Navigation). Springe Ebene für Ebene nach unten, verfeinere dabei die Suche. Sehr schnell bei hoher Genauigkeit.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475488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22192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416966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Beliebtester ANN-Algorithmus in Produktionssystemen. Standard in Milvus, Pinecone, Weaviate.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1005840"/>
            <a:ext cx="3474720" cy="3794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078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Schichten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2 (oben)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04304" y="171907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4231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99048" y="2670048"/>
            <a:ext cx="237744" cy="2377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27848" y="2670048"/>
            <a:ext cx="237744" cy="2377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788920"/>
            <a:ext cx="1828800" cy="0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3832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0 (unten)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33872" y="363931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363931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6912" y="363931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3639312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749040"/>
            <a:ext cx="73152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749040"/>
            <a:ext cx="73152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749040"/>
            <a:ext cx="73152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6217919" y="1847088"/>
            <a:ext cx="914400" cy="941832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132320" y="1847088"/>
            <a:ext cx="914400" cy="941832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H="1">
            <a:off x="5943599" y="2788920"/>
            <a:ext cx="274321" cy="960105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046720" y="2788920"/>
            <a:ext cx="91440" cy="96012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486400" y="4498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Navigation: grob oben, fein unten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– Locality-Sensitive Hashing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3566" y="891540"/>
            <a:ext cx="4541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 Vektoren landen mit hoher Wahrscheinlichkeit im selben Hash-Bucket.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75488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99032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Grundprinzip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46504"/>
            <a:ext cx="4535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Wende eine Hash-Funktion an, die ähnliche Vektoren mit hoher Wahrscheinlichkeit auf denselben Bucket abbildet. Suche dann nur in diesen Buckets — nicht im gesamten Datensatz.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4754880" cy="10058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523655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sich von HNSW unterscheidet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876365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nutzt einen Graphen für Navigation. LSH nutzt Hash-Funktionen für Gruppierung. Beide sind ANN — mit unterschiedlichen Stärken.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8113" y="377656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8113" y="4076981"/>
            <a:ext cx="2151059" cy="80147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1" y="4133177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schnell bei Einfügen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1005840"/>
            <a:ext cx="34747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078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Buckets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1783080"/>
            <a:ext cx="914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623560" y="15819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1920240"/>
            <a:ext cx="182880" cy="1828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286000"/>
            <a:ext cx="182880" cy="1828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651760"/>
            <a:ext cx="182880" cy="1828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600" y="169164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086600" y="14904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1828800"/>
            <a:ext cx="182880" cy="1828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2194560"/>
            <a:ext cx="182880" cy="1828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2560320"/>
            <a:ext cx="182880" cy="1828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2011680"/>
            <a:ext cx="182880" cy="1828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23560" y="3337560"/>
            <a:ext cx="128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623560" y="31363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474720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3749040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4023360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21488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82803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→ Bucket B</a:t>
            </a:r>
            <a:endParaRPr lang="en-US" sz="11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565CF9B-2098-E7C6-C664-F2F5E6969FC5}"/>
              </a:ext>
            </a:extLst>
          </p:cNvPr>
          <p:cNvSpPr/>
          <p:nvPr/>
        </p:nvSpPr>
        <p:spPr>
          <a:xfrm>
            <a:off x="477841" y="4476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r>
              <a:rPr lang="de-DE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tigt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</a:t>
            </a:r>
            <a:endParaRPr lang="en-US" sz="120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890EF46A-D5B7-0AB7-9B29-42114001A387}"/>
              </a:ext>
            </a:extLst>
          </p:cNvPr>
          <p:cNvSpPr/>
          <p:nvPr/>
        </p:nvSpPr>
        <p:spPr>
          <a:xfrm>
            <a:off x="2628900" y="4101216"/>
            <a:ext cx="2494093" cy="777239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3BAF24C2-6C78-EBA0-BE16-4C43818D2961}"/>
              </a:ext>
            </a:extLst>
          </p:cNvPr>
          <p:cNvSpPr/>
          <p:nvPr/>
        </p:nvSpPr>
        <p:spPr>
          <a:xfrm>
            <a:off x="2727265" y="4146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Schlechtere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2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2CFCC6EA-4051-E2CE-312E-4AD65CAE722F}"/>
              </a:ext>
            </a:extLst>
          </p:cNvPr>
          <p:cNvSpPr/>
          <p:nvPr/>
        </p:nvSpPr>
        <p:spPr>
          <a:xfrm>
            <a:off x="2724912" y="4512607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Fehler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bei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dicht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aneinander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liegenden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Daten</a:t>
            </a:r>
            <a:endParaRPr lang="en-US" sz="12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AEEC8292-B8FB-11BD-97DC-9C9C8C9C83BF}"/>
              </a:ext>
            </a:extLst>
          </p:cNvPr>
          <p:cNvSpPr/>
          <p:nvPr/>
        </p:nvSpPr>
        <p:spPr>
          <a:xfrm>
            <a:off x="2628900" y="37856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Nachteile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Search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Kombination von Metadaten-Filtern und Vektorähnlichkeit.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„Finde ähnliche Produkte wie dieses Bild — aber nur Produkte unter 50 € aus der Kategorie Schuhe."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Strategien: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02336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Filter: Nur Schuhe unter 50 €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Vektorsuche in dieser Teilmenge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Schneller, da kleinerer Suchraum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Risiko: Teilmenge zu klein für gute Treffer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423160"/>
            <a:ext cx="4023360" cy="2377440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Post-Filtering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907792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Vektorsuche über alle Daten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Filter: Nur Ergebnisse unter 50 € behalten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Vollständigere Ergebnisse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Teurer: Suche über den gesamten Datensatz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 nur in einer Vektordatenbank mit Metadatenspeicherung — nicht in einem reinen Index.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Search: Hybrid-Suche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Keyword-Suche und semantische Vektorsuche kombiniert.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2900" y="1147572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„Pizza Italien" — exakt nach Keyword und semantisch nach ähnlichen Inhalten suchen.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87008"/>
            <a:ext cx="402336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6016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Keyword-Suche (BM25)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07632"/>
            <a:ext cx="38039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Dokumente, die den exakten Begriff „Pizza" oder „Italien" enthalten.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Präzise, aber kein Bedeutungsverständnis — „Neapolitanische Küche" wird nicht gefunden.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887008"/>
            <a:ext cx="4023360" cy="1417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96016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Vektor-Suche (Semantisch)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2307632"/>
            <a:ext cx="38039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Dokumente mit ähnlicher Bedeutung — auch ohne die exakten Wörter.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„Italienische Küche", „Margherita", „Pasta" werden als relevant erkannt.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14056"/>
            <a:ext cx="8412480" cy="126187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487208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zusammenführen: RRF &amp; Gewichtetes Scoring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834680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(RRF): Rankt Ergebnisse aus beiden Suchen zusammen, ohne Annahmen über Skalen.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Gewichtetes Scoring: Keyword-Treffer zählen X%, Vektor-Ähnlichkeit Y% — konfigurierbar je Anwendungsfall.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721648"/>
            <a:ext cx="84124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2164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Exakt + Semantisch = mehr relevante Treffer als beide Ansätze allein.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5838D-55EE-474C-EBCC-DA069B4E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937E89-02CE-314B-0F06-2FDAC15402A4}"/>
              </a:ext>
            </a:extLst>
          </p:cNvPr>
          <p:cNvSpPr/>
          <p:nvPr/>
        </p:nvSpPr>
        <p:spPr>
          <a:xfrm>
            <a:off x="502920" y="146304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D4B3ED-6358-E8DC-3ECE-FA460F27F391}"/>
              </a:ext>
            </a:extLst>
          </p:cNvPr>
          <p:cNvSpPr/>
          <p:nvPr/>
        </p:nvSpPr>
        <p:spPr>
          <a:xfrm>
            <a:off x="731520" y="15087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macht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"?</a:t>
            </a: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455756-C322-E4B8-146C-E80DE2A6EF57}"/>
              </a:ext>
            </a:extLst>
          </p:cNvPr>
          <p:cNvSpPr/>
          <p:nvPr/>
        </p:nvSpPr>
        <p:spPr>
          <a:xfrm>
            <a:off x="73152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vs.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</a:t>
            </a:r>
            <a:r>
              <a:rPr lang="en-US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Datenbankinfrastruktur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95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Ausgangsfrage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91440" cy="1920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91440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„Ein Vektorindex kann ähnliche </a:t>
            </a:r>
            <a:r>
              <a:rPr lang="en-US" sz="2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finden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was fehlt noch, damit es eine vollständige Datenbank ist?"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Vektorindex ist ein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mächtiges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aber kein vollständiges System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unterscheidet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“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von der </a:t>
            </a:r>
            <a:r>
              <a:rPr lang="en-US" sz="1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braucht eine Produktionsanwendung, das ein Index allein nicht liefert?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 reiner Index leistet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22216"/>
            <a:ext cx="841248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222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9679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Ähnlichkeitssuche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33369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ANN-Algorithmen finden ähnliche Vektoren in Millisekunden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82336"/>
            <a:ext cx="841248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8233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9280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Effiziente Algorithmen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29381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HNSW, IVF und andere optimierte Suchstrukturen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42456"/>
            <a:ext cx="841248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4245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888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für große Mengen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2539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für Millionen von Vektoren auf einer Maschine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einem reinen Index fehlt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8686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905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CRUD-Operationen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2161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Aktualisieren oder Löschen einzelner Einträge ohne kompletten Neuaufbau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7335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1709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Metadatenspeicherung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020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Filter wie „nur Kategorie X" oder „nur Preis unter 50 €"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8412480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7802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7552" y="2514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Replikation / Fehlertoleranz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825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Fällt die Maschine aus, sind alle Daten verloren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82696"/>
            <a:ext cx="8412480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8269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7552" y="3319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persistente Datenhaltung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630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leben nur im RAM – kein Neustart möglich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87368"/>
            <a:ext cx="8412480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8736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7552" y="41239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Zugriffskontrolle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4434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Multi-Tenancy, keine Rollenverwaltung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Daten sind lebendig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 entstehen nicht einmalig und bleiben unverändert.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544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  E-Commerce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938528"/>
            <a:ext cx="2432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Nutzer aktualisiert seine Präferenzen. Ohne Update-Fähigkeit werden veraltete Empfehlungen geliefert.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630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5544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Betrugserkennung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938528"/>
            <a:ext cx="2432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Betrugsmerkmale müssen sofort eingepflegt werden. Veraltete Daten bedeuten nicht erkannten Betrug.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630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5544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Dokumentensuche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1938528"/>
            <a:ext cx="2432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werden überarbeitet. Der alte Vektor muss ersetzt werden – ohne kompletten Index-Neuaufbau.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84448"/>
            <a:ext cx="84124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58444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6301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Löschen in der Praxis: Soft Deletes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86791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meisten Implementierungen markieren Einträge als gelöscht und bereinigen sie periodisch — kein echtes In-Place-Löschen im Index.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519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CRUD-Unterstützung ist kein Komfort – sie ist eine Grundanforderung für Produktionssysteme.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Metadaten-Problem: Warum Vektorsuche allein nicht reicht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realistische Suchanfrage sieht nie so aus: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„Finde die 10 ähnlichsten Vektoren im gesamten Datensatz."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Sondern so: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5760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8046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„Finde ähnliche Schuhe, aber nur unter 80 €, nur in Größe 42, nur auf Lager."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5760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8046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„Finde ähnliche Artikel, aber nur aus der Kategorie Outdoor, veröffentlicht nach 2023."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8412480" cy="5760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8046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„Finde ähnliche Kandidatenprofile, aber nur mit Standort Berlin und min. 5 Jahren Erfahrung."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553712"/>
            <a:ext cx="8412480" cy="365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Metadatenspeicherung ist keine dieser Anfragen möglich. Ein reiner Index kennt nur Vektoren.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&amp; Replikation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Horizontales Sharding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35608"/>
            <a:ext cx="38953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werden auf mehrere Knoten verteilt – kein einzelner Flaschenhals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148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515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64608" y="1435608"/>
            <a:ext cx="38953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Redundante Datenkopien für Ausfallsicherheit und höheren Lesedurchsatz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411480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7180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Unabhängige Skalierung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3355848"/>
            <a:ext cx="38953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Suche, Indexierung und Einfügen skalieren separat nach Bedarf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1148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97180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Milliarden von Vektoren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64608" y="3355848"/>
            <a:ext cx="38953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Konsistente Performance auch bei extremem Datenvolumen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Index läuft auf einer Maschine. Fällt sie aus, ist alles weg. Eine Datenbank verteilt und überlebt.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Zuverlässigkeit im Produktionsbetrieb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passiert, wenn etwas schiefläuft?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502920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Szenario: Knotenausfall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86537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Abfrageknoten fällt aus. In einem monolithischen System: Datenbankausfall. In einer Vektordatenbank: Die Replikationsschicht übernimmt automatisch. Kein Datenverlust, minimale Unterbrechung.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84124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880360"/>
            <a:ext cx="502920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Szenario: Inkonsistente Daten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7413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werden gleichzeitig geschrieben und gelesen. Vektordatenbanken nutzen Konsistenzprotokolle wie Raft oder Paxos, um sicherzustellen, dass alle Knoten denselben Zustand sehen.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Einsatzszenarien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0995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Vektordatenbanken in der Produktion.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365760" y="1165748"/>
          <a:ext cx="8412480" cy="28529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Unternehmen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Anwendungsfall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Benötigt DB-Features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Kundenunterstützung &amp; Empfehlungen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CRUD, Filterung, Skalierung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Betrugserkennung in Echtzeit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Echtzeit-Updates, Fehlertoleranz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Produktsuche &amp; Ähnlichkeitsmatching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Metadaten-Filter, Millionen Einträge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Unterkunftsempfehlungen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CRUD, Multi-Tenancy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KI-Infrastruktur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Skalierung, Replikation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22966"/>
            <a:ext cx="157276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222966"/>
            <a:ext cx="1572768" cy="54864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428697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NLP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457043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Textklassifikation, Sentiment, Übersetzung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84832" y="4222966"/>
            <a:ext cx="157276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84832" y="4222966"/>
            <a:ext cx="1572768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57984" y="428697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Computer Vision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57984" y="457043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Bilderkennung, autonomes Fahren, Medizin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67328" y="4222966"/>
            <a:ext cx="157276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67328" y="4222966"/>
            <a:ext cx="157276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0" y="428697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Genomik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0" y="457043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Genetische Ähnlichkeiten, Proteinstrukturen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4222966"/>
            <a:ext cx="157276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0" y="4222966"/>
            <a:ext cx="1572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59552" y="428697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Empfehlungen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59552" y="457043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Musik, Filme, Produkte, Inhalte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05472" y="4222966"/>
            <a:ext cx="157276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05472" y="4222966"/>
            <a:ext cx="1572768" cy="5486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78624" y="428697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Chatbots &amp; KI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78624" y="457043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Kontextsuche, virtuelle Assistenten</a:t>
            </a:r>
            <a:endParaRPr lang="en-US" sz="10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6C2FAFD-A42E-5EBB-4342-FFF491BE3B1B}"/>
              </a:ext>
            </a:extLst>
          </p:cNvPr>
          <p:cNvSpPr/>
          <p:nvPr/>
        </p:nvSpPr>
        <p:spPr>
          <a:xfrm>
            <a:off x="365760" y="4028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Generelle</a:t>
            </a: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Einsatzgebiete: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Fazit: Reiner Index vs. Vektordatenbank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457200" y="914400"/>
          <a:ext cx="8229600" cy="395020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Fähigkeit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Reiner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Vektordatenbank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Ähnlichkeitssuche (ANN)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CRUD-Operationen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Metadaten &amp; Filterung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Persistente Datenhaltung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Fehlertoleranz &amp; Replikation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skalierbar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Produktionstauglich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 an euch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welche eigene App-Idee oder welchen Anwendungsfall würdet ihr eine Vektordatenbank einsetzen?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768096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Denkanstoß: Was wäre der konkrete Mehrwert gegenüber einer klassischen Datenbanksuche?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6E3F0-2D92-53B6-F89D-462ADCC1E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B4C9D0-908E-5C9A-8D83-018BD98FA9A3}"/>
              </a:ext>
            </a:extLst>
          </p:cNvPr>
          <p:cNvSpPr/>
          <p:nvPr/>
        </p:nvSpPr>
        <p:spPr>
          <a:xfrm>
            <a:off x="502920" y="1463040"/>
            <a:ext cx="73152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6F9720-0757-A932-C4B3-A46FF63354AB}"/>
              </a:ext>
            </a:extLst>
          </p:cNvPr>
          <p:cNvSpPr/>
          <p:nvPr/>
        </p:nvSpPr>
        <p:spPr>
          <a:xfrm>
            <a:off x="731520" y="3291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Vektordatenbanken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Nischenlösung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vollwertige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Datenbankinfrastruktur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gebaut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die KI-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Ära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D6A84A4-895C-273B-D454-6B9C4871B49E}"/>
              </a:ext>
            </a:extLst>
          </p:cNvPr>
          <p:cNvSpPr/>
          <p:nvPr/>
        </p:nvSpPr>
        <p:spPr>
          <a:xfrm>
            <a:off x="731520" y="1544444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Vektorindex findet Ähnlichkeit.</a:t>
            </a:r>
            <a:endParaRPr lang="en-US" sz="3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6C762D8-B89A-514E-3E6E-569F7E7863A4}"/>
              </a:ext>
            </a:extLst>
          </p:cNvPr>
          <p:cNvSpPr/>
          <p:nvPr/>
        </p:nvSpPr>
        <p:spPr>
          <a:xfrm>
            <a:off x="731520" y="228098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Vektordatenbank verwaltet Wissen.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48603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5132</Words>
  <Application>Microsoft Office PowerPoint</Application>
  <PresentationFormat>Bildschirmpräsentation (16:9)</PresentationFormat>
  <Paragraphs>796</Paragraphs>
  <Slides>51</Slides>
  <Notes>51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Vektordatenbanken – Joey v2</dc:title>
  <dc:subject>PptxGenJS Presentation</dc:subject>
  <dc:creator>PptxGenJS</dc:creator>
  <cp:lastModifiedBy>Joey Kiss</cp:lastModifiedBy>
  <cp:revision>25</cp:revision>
  <dcterms:created xsi:type="dcterms:W3CDTF">2026-04-29T20:34:21Z</dcterms:created>
  <dcterms:modified xsi:type="dcterms:W3CDTF">2026-05-06T14:17:24Z</dcterms:modified>
</cp:coreProperties>
</file>