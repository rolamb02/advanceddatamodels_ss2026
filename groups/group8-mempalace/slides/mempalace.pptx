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Begrüßung.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Struktur kurz vorstellen: Wir fangen mit dem 'Wer' und 'Warum' an, gehen dann in die mathematischen Grundlagen (Embeddings, RAG), erklären die komplette Architektur, und schließen mit Benchmarks und kritischer Einordnung.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Interaktiv - offene Fragen, immer gerne einfach Antworten.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Agenda für 180 Minuten.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RAG/Embeddings → Cosine-Similarity-Übung, Architektur/Ingestion → Ingestion-Simulationsübung, Benchmarks → Debatte.</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Frage ans Plenum stellen, 1-2 Minuten raten lassen. Dann Reveal. Milla Jovovich hat zusammen mit dem Entwickler Ben Sigman (CEO von Libre Labs, einem Bitcoin-Lending-Startup) MemPalace designt. Jovovich entwarf die Architektur, Sigman implementierte sie. Beide nutzten Claude Code als Werkzeug. Das Repo wurde am 5. April 2026 veröffentlicht und erreichte innerhalb von 48h über 7.000 GitHub-Stars. Der Überraschungsmoment dient als erster Memory Anchor der Vorlesung — genau das Prinzip der Method of Loci, die wir später besprechen.</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365/2 Tage × ~107k Tokens/Tag = 19.5M Tokens. Jede Session endet, der gesamte Kontext ist weg — Entscheidungen, Debugging-Sessions, Architektur-Debatten. Drei Lösungsansätze vorstellen:</a:t>
            </a:r>
            <a:br>
              <a:rPr lang="en-US"/>
            </a:br>
            <a:br>
              <a:rPr lang="en-US"/>
            </a:br>
            <a:r>
              <a:rPr lang="en-US"/>
              <a:t>1) Long Context: Alles in den Context Window packen. Problem: 19.5M Tokens passen in kein Context Window, und selbst wenn, explodieren die Kosten.</a:t>
            </a:r>
            <a:br>
              <a:rPr lang="en-US"/>
            </a:br>
            <a:br>
              <a:rPr lang="en-US"/>
            </a:br>
            <a:r>
              <a:rPr lang="en-US"/>
              <a:t>2) LLM Summaries (Mem0-Ansatz): Ein LLM entscheidet, was 'erinnernswert' ist und extrahiert kompakte Fakten wie 'User prefers Postgres'. </a:t>
            </a:r>
            <a:endParaRPr/>
          </a:p>
          <a:p>
            <a:pPr indent="0" lvl="0" marL="0" rtl="0" algn="l">
              <a:spcBef>
                <a:spcPts val="0"/>
              </a:spcBef>
              <a:spcAft>
                <a:spcPts val="0"/>
              </a:spcAft>
              <a:buNone/>
            </a:pPr>
            <a:r>
              <a:rPr lang="en-US"/>
              <a:t>Problem: Die Begründung ('weil wir 10GB concurrent writes brauchen') geht verloren.</a:t>
            </a:r>
            <a:br>
              <a:rPr lang="en-US"/>
            </a:br>
            <a:br>
              <a:rPr lang="en-US"/>
            </a:br>
            <a:r>
              <a:rPr lang="en-US"/>
              <a:t>3) MemPalace: Alles verbatim speichern und über eine hierarchische Struktur findbar machen. Die Intelligenz liegt im Retrieval, nicht im Filtern.</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Zahlen direkt aus dem MemPalace README. Die Differenz ist dramatisch: $507/Jahr für LLM-basierte Summaries vs. $10/Jahr für MemPalace mit 5 Searches pro Tag.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Der Trick: MemPalace lädt beim Start nur 170 Tokens (L0: Identity + L1: Critical Facts), und führt Deep Searches nur on-demand durch. Das hält das Token-Budget minimal bei maximaler Recall-Fähigkeit. Frage: 'Warum kosten LLM Summaries so viel?' — Weil bei jeder Speicherung ein LLM-Call nötig ist, der die Konversation zusammenfasst.</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Frage vorlesen, dann Ablauf erklären. Think: 2 Minuten stille Einzelarbeit. Pair: 3 Minuten Austausch mit Sitznachbar. Share: 2-3 Paare stellen vor, du sammelst an der Tafel.</a:t>
            </a:r>
            <a:br>
              <a:rPr lang="en-US"/>
            </a:br>
            <a:br>
              <a:rPr lang="en-US"/>
            </a:br>
            <a:r>
              <a:rPr lang="en-US"/>
              <a:t>Erwartete Punkte:</a:t>
            </a:r>
            <a:br>
              <a:rPr lang="en-US"/>
            </a:br>
            <a:r>
              <a:rPr lang="en-US"/>
              <a:t>Verbatim (MemPalace): + Kein Informationsverlust, + Auditierbar/reproduzierbar, + Keine LLM-Halluzinationen beim Filtern, + Komplett offline möglich. − Größerer Speicherbedarf, − Retrieval muss exzellent sein.</a:t>
            </a:r>
            <a:br>
              <a:rPr lang="en-US"/>
            </a:br>
            <a:br>
              <a:rPr lang="en-US"/>
            </a:br>
            <a:r>
              <a:rPr lang="en-US"/>
              <a:t>Summarization (Mem0/Zep): + Kompakte Speicherung, + Schnelleres Retrieval. − Informationsverlust bei Extraktion, − LLM-Halluzinationen, − Cloud-Abhängigkeit, − Hohe laufende Kosten.</a:t>
            </a:r>
            <a:br>
              <a:rPr lang="en-US"/>
            </a:br>
            <a:br>
              <a:rPr lang="en-US"/>
            </a:br>
            <a:r>
              <a:rPr lang="en-US"/>
              <a:t>Wichtig: Die Antworten der Studis aufgreifen und auf die nächsten Folien verweisen — 'Wie genau das Retrieval bei MemPalace funktioniert, schauen wir uns jetzt mathematisch an.'</a:t>
            </a:r>
            <a:endParaRPr/>
          </a:p>
        </p:txBody>
      </p:sp>
      <p:sp>
        <p:nvSpPr>
          <p:cNvPr id="134" name="Google Shape;13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RAG ist das Fundament, auf dem MemPalace und alle modernen Memory-Systeme aufbauen. Lewis et al. (2020) formalisierten die Idee bei NeurIPS:</a:t>
            </a:r>
            <a:br>
              <a:rPr lang="en-US"/>
            </a:br>
            <a:br>
              <a:rPr lang="en-US"/>
            </a:br>
            <a:r>
              <a:rPr lang="en-US"/>
              <a:t>Kernidee: Statt ein LLM auf neue Daten zu fine-tunen, werden relevante Dokumente zur Laufzeit abgerufen und dem Modell als Kontext mitgegeben.</a:t>
            </a:r>
            <a:br>
              <a:rPr lang="en-US"/>
            </a:br>
            <a:br>
              <a:rPr lang="en-US"/>
            </a:br>
            <a:r>
              <a:rPr lang="en-US"/>
              <a:t>Der RAG-Pipeline-Flow:</a:t>
            </a:r>
            <a:br>
              <a:rPr lang="en-US"/>
            </a:br>
            <a:r>
              <a:rPr lang="en-US"/>
              <a:t>1. Eine Frage ('Warum haben wir auf GraphQL gewechselt?') wird gestellt</a:t>
            </a:r>
            <a:br>
              <a:rPr lang="en-US"/>
            </a:br>
            <a:r>
              <a:rPr lang="en-US"/>
              <a:t>2. Die Frage wird als Embedding-Vektor kodiert</a:t>
            </a:r>
            <a:br>
              <a:rPr lang="en-US"/>
            </a:br>
            <a:r>
              <a:rPr lang="en-US"/>
              <a:t>3. ChromaDB sucht die semantisch ähnlichsten Chunks (Approximate Nearest Neighbor)</a:t>
            </a:r>
            <a:br>
              <a:rPr lang="en-US"/>
            </a:br>
            <a:r>
              <a:rPr lang="en-US"/>
              <a:t>4. Die Top-K Ergebnisse werden zurückgegeben</a:t>
            </a:r>
            <a:br>
              <a:rPr lang="en-US"/>
            </a:br>
            <a:r>
              <a:rPr lang="en-US"/>
              <a:t>5. Diese werden zusammen mit der Frage in den LLM-Context injiziert</a:t>
            </a:r>
            <a:br>
              <a:rPr lang="en-US"/>
            </a:br>
            <a:r>
              <a:rPr lang="en-US"/>
              <a:t>6. Das LLM generiert eine Antwort basierend auf den abgerufenen Originaltexten</a:t>
            </a:r>
            <a:br>
              <a:rPr lang="en-US"/>
            </a:br>
            <a:br>
              <a:rPr lang="en-US"/>
            </a:br>
            <a:r>
              <a:rPr lang="en-US"/>
              <a:t>Zwei Wissensarten:</a:t>
            </a:r>
            <a:br>
              <a:rPr lang="en-US"/>
            </a:br>
            <a:r>
              <a:rPr lang="en-US"/>
              <a:t>- Parametrisch = im Modell trainiert, statisch, veraltet</a:t>
            </a:r>
            <a:br>
              <a:rPr lang="en-US"/>
            </a:br>
            <a:r>
              <a:rPr lang="en-US"/>
              <a:t>- Nicht-parametrisch = externe DB, dynamisch, aktuell</a:t>
            </a:r>
            <a:br>
              <a:rPr lang="en-US"/>
            </a:br>
            <a:br>
              <a:rPr lang="en-US"/>
            </a:br>
            <a:r>
              <a:rPr lang="en-US"/>
              <a:t>MemPalace fügt drei Neuerungen gegenüber Standard-RAG hinzu:</a:t>
            </a:r>
            <a:br>
              <a:rPr lang="en-US"/>
            </a:br>
            <a:r>
              <a:rPr lang="en-US"/>
              <a:t>1. Hierarchische Struktur (Wings/Rooms) statt flacher Indizierung</a:t>
            </a:r>
            <a:br>
              <a:rPr lang="en-US"/>
            </a:br>
            <a:r>
              <a:rPr lang="en-US"/>
              <a:t>2. 4-Layer Memory Stack statt monolithischem Abruf</a:t>
            </a:r>
            <a:br>
              <a:rPr lang="en-US"/>
            </a:br>
            <a:r>
              <a:rPr lang="en-US"/>
              <a:t>3. Cross-Domain-Tunnels statt isolierter Namespaces</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Dieses Konzept ist zentral für das Verständnis von MemPalace. Ohne Embeddings bleibt ChromaDB eine Blackbox.</a:t>
            </a:r>
            <a:br>
              <a:rPr lang="en-US"/>
            </a:br>
            <a:br>
              <a:rPr lang="en-US"/>
            </a:br>
            <a:r>
              <a:rPr lang="en-US"/>
              <a:t>Was passiert technisch:</a:t>
            </a:r>
            <a:br>
              <a:rPr lang="en-US"/>
            </a:br>
            <a:r>
              <a:rPr lang="en-US"/>
              <a:t>1. Ein Text wie 'Kai debugged OAuth refresh' wird durch das Sentence-Transformer-Modell all-MiniLM-L6-v2 geschickt</a:t>
            </a:r>
            <a:br>
              <a:rPr lang="en-US"/>
            </a:br>
            <a:r>
              <a:rPr lang="en-US"/>
              <a:t>2. Das Modell gibt einen Vektor mit 384 Dimensionen zurück — z.B. [0.023, -0.187, 0.441, ...]</a:t>
            </a:r>
            <a:br>
              <a:rPr lang="en-US"/>
            </a:br>
            <a:r>
              <a:rPr lang="en-US"/>
              <a:t>3. Dieser Vektor repräsentiert die *Bedeutung* des Textes, nicht seine exakten Wörter</a:t>
            </a:r>
            <a:br>
              <a:rPr lang="en-US"/>
            </a:br>
            <a:r>
              <a:rPr lang="en-US"/>
              <a:t>4. 'Auth problem fixed' benutzt komplett andere Wörter, liegt aber im Vektorraum sehr nahe (Cosine Similarity 0.82), weil die Bedeutung ähnlich ist</a:t>
            </a:r>
            <a:br>
              <a:rPr lang="en-US"/>
            </a:br>
            <a:br>
              <a:rPr lang="en-US"/>
            </a:br>
            <a:r>
              <a:rPr lang="en-US"/>
              <a:t>Cosine Similarity misst den Winkel zwischen zwei Vektoren:</a:t>
            </a:r>
            <a:br>
              <a:rPr lang="en-US"/>
            </a:br>
            <a:r>
              <a:rPr lang="en-US"/>
              <a:t>- cos(θ) = (A · B) / (||A|| × ||B||)</a:t>
            </a:r>
            <a:br>
              <a:rPr lang="en-US"/>
            </a:br>
            <a:r>
              <a:rPr lang="en-US"/>
              <a:t>- Das Skalarprodukt A · B = Σ(aᵢ × bᵢ) über alle 384 Dimensionen</a:t>
            </a:r>
            <a:br>
              <a:rPr lang="en-US"/>
            </a:br>
            <a:r>
              <a:rPr lang="en-US"/>
              <a:t>- ||A|| = √(Σ aᵢ²) = Euklidische Norm</a:t>
            </a:r>
            <a:br>
              <a:rPr lang="en-US"/>
            </a:br>
            <a:r>
              <a:rPr lang="en-US"/>
              <a:t>- Ergebnis: 1.0 = identisch, 0 = orthogonal (keine Beziehung), -1 = gegensätzlich</a:t>
            </a:r>
            <a:br>
              <a:rPr lang="en-US"/>
            </a:br>
            <a:br>
              <a:rPr lang="en-US"/>
            </a:br>
            <a:r>
              <a:rPr lang="en-US"/>
              <a:t>Wichtig: MemPalace nutzt ChromaDBs Default-Embedding-Modell. Es trainiert kein eigenes Modell — die Qualität des Retrievals hängt vollständig von der Qualität des vortrainierten Embedding-Modells ab.</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15-Minuten-Übung in 2er-Gruppen. Handout oder Tafel mit den Vektoren.</a:t>
            </a:r>
            <a:br>
              <a:rPr lang="en-US"/>
            </a:br>
            <a:br>
              <a:rPr lang="en-US"/>
            </a:br>
            <a:r>
              <a:rPr lang="en-US"/>
              <a:t>Ablauf:</a:t>
            </a:r>
            <a:br>
              <a:rPr lang="en-US"/>
            </a:br>
            <a:r>
              <a:rPr lang="en-US"/>
              <a:t>1. Erkläre kurz das Vorgehen an Beispiel A·B: Skalarprodukt = 0.8×0.7 + 0.6×0.5 + 0.1×0.2 + 0.0×0.1 = 0.56+0.30+0.02+0.00 = 0.88</a:t>
            </a:r>
            <a:br>
              <a:rPr lang="en-US"/>
            </a:br>
            <a:r>
              <a:rPr lang="en-US"/>
              <a:t>2. ||A|| = √(0.64+0.36+0.01+0.00) = √1.01 ≈ 1.005</a:t>
            </a:r>
            <a:br>
              <a:rPr lang="en-US"/>
            </a:br>
            <a:r>
              <a:rPr lang="en-US"/>
              <a:t>3. ||B|| = √(0.49+0.25+0.04+0.01) = √0.79 ≈ 0.889</a:t>
            </a:r>
            <a:br>
              <a:rPr lang="en-US"/>
            </a:br>
            <a:r>
              <a:rPr lang="en-US"/>
              <a:t>4. cos(θ) = 0.88 / (1.005 × 0.889) ≈ 0.985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00">
                <a:solidFill>
                  <a:srgbClr val="85929E"/>
                </a:solidFill>
                <a:latin typeface="Consolas"/>
                <a:ea typeface="Consolas"/>
                <a:cs typeface="Consolas"/>
                <a:sym typeface="Consolas"/>
              </a:rPr>
              <a:t>Lösung: A↔B ≈ 0.96 (sehr ähnlich) · A↔C ≈ 0.28 · A↔D ≈ 0.27 · B↔C ≈ 0.39 · B↔D ≈ 0.32 · C↔D ≈ 0.59</a:t>
            </a:r>
            <a:br>
              <a:rPr lang="en-US"/>
            </a:br>
            <a:br>
              <a:rPr lang="en-US"/>
            </a:br>
            <a:r>
              <a:rPr lang="en-US"/>
              <a:t>Die Studis sollen alle 6 Paare berechnen. Pointe: A und B haben komplett verschiedene Wörter ('fixed OAuth bug' vs. 'authentication error resolved'), aber die höchste Similarity — weil die Vektoren die Bedeutung kodieren, nicht die Wörter. Genau das macht semantische Suche mächtiger als Keyword-Matching.</a:t>
            </a:r>
            <a:br>
              <a:rPr lang="en-US"/>
            </a:br>
            <a:br>
              <a:rPr lang="en-US"/>
            </a:br>
            <a:r>
              <a:rPr lang="en-US"/>
              <a:t>C und D haben mittlere Similarity (0.59) — datenbank-bezogener Kontext vs. persönliche Vorliebe. Das zeigt, warum Metadata-Filtering (Wing+Room) so wichtig ist: Ohne Filter würde eine Suche nach 'database' auch Kais Pizza-Präferenz mit mittlerer Confidence zurückgeben.</a:t>
            </a:r>
            <a:endParaRPr/>
          </a:p>
        </p:txBody>
      </p:sp>
      <p:sp>
        <p:nvSpPr>
          <p:cNvPr id="222" name="Google Shape;22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 Geschichte von Simonides ist der kulturelle Anker für die gesamte Palace-Metapher. Sie zeigt: Raumposition verankert Erinnerung — das ist nicht nur Folklore, sondern durch kognitionswissenschaftliche Forschung bestätigt.</a:t>
            </a:r>
            <a:br>
              <a:rPr lang="en-US"/>
            </a:br>
            <a:br>
              <a:rPr lang="en-US"/>
            </a:br>
            <a:r>
              <a:rPr lang="en-US"/>
              <a:t>Legge et al. (2012, University of Alberta): Virtuelle Umgebungen sind als Gedächtnispaläste ebenso effektiv wie real-imaginierte.</a:t>
            </a:r>
            <a:br>
              <a:rPr lang="en-US"/>
            </a:br>
            <a:br>
              <a:rPr lang="en-US"/>
            </a:br>
            <a:r>
              <a:rPr lang="en-US"/>
              <a:t>PMC Metaanalyse (2025): Die MoL verbessert die Erinnerungsleistung um ~20% durch räumliche Enkodierung.</a:t>
            </a:r>
            <a:br>
              <a:rPr lang="en-US"/>
            </a:br>
            <a:br>
              <a:rPr lang="en-US"/>
            </a:br>
            <a:r>
              <a:rPr lang="en-US"/>
              <a:t>Krokos et al. (2022, PMC): VR-optimierte Gedächtnispaläste steigerten die Recall-Rate um 20-22%.</a:t>
            </a:r>
            <a:br>
              <a:rPr lang="en-US"/>
            </a:br>
            <a:br>
              <a:rPr lang="en-US"/>
            </a:br>
            <a:r>
              <a:rPr lang="en-US"/>
              <a:t>Die Übertragung auf AI: Statt Informationen in einem flachen Vektorspeicher abzulegen, organisiert MemPalace sie in eine navigierbare, hierarchische Struktur — Wings, Rooms, Halls. So wie räumliche Organisation beim menschlichen Gedächtnis den Abruf verbessert, verbessert hierarchisches Metadata-Filtering das Retrieval in Vektordatenbanken. Der +34% Boost (60.9% → 94.8%) ist die quantitative Bestätigung dieser These.</a:t>
            </a:r>
            <a:endParaRPr/>
          </a:p>
        </p:txBody>
      </p:sp>
      <p:sp>
        <p:nvSpPr>
          <p:cNvPr id="251" name="Google Shape;2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 Hierarchie ist das zentrale Designelement von MemPalace und unterscheidet es von Standard-RAG.</a:t>
            </a:r>
            <a:br>
              <a:rPr lang="en-US"/>
            </a:br>
            <a:br>
              <a:rPr lang="en-US"/>
            </a:br>
            <a:r>
              <a:rPr lang="en-US"/>
              <a:t>Palace: ChromaDB-Instanz + SQLite-Datenbank. Enthält alle Konversationen und Metadaten.</a:t>
            </a:r>
            <a:br>
              <a:rPr lang="en-US"/>
            </a:br>
            <a:br>
              <a:rPr lang="en-US"/>
            </a:br>
            <a:r>
              <a:rPr lang="en-US"/>
              <a:t>Wing: Top-Level-Namespace, technisch ein Metadaten-Tag: where={'wing': 'wing_kai'}. Wird bei mempalace init definiert oder automatisch erkannt.</a:t>
            </a:r>
            <a:br>
              <a:rPr lang="en-US"/>
            </a:br>
            <a:br>
              <a:rPr lang="en-US"/>
            </a:br>
            <a:r>
              <a:rPr lang="en-US"/>
              <a:t>Hall: Fest definierter Gedächtnistyp (5 Stück), zweites Metadaten-Feld. Zuweisung über Keyword-Scoring.</a:t>
            </a:r>
            <a:br>
              <a:rPr lang="en-US"/>
            </a:br>
            <a:br>
              <a:rPr lang="en-US"/>
            </a:br>
            <a:r>
              <a:rPr lang="en-US"/>
              <a:t>Room: Thema innerhalb eines Wings, drittes Metadaten-Feld. Room-Detection über ~60 Keyword-Mappings.</a:t>
            </a:r>
            <a:br>
              <a:rPr lang="en-US"/>
            </a:br>
            <a:br>
              <a:rPr lang="en-US"/>
            </a:br>
            <a:r>
              <a:rPr lang="en-US"/>
              <a:t>Closet: Plaintext-Summary, verweist per ID auf den Drawer.</a:t>
            </a:r>
            <a:br>
              <a:rPr lang="en-US"/>
            </a:br>
            <a:br>
              <a:rPr lang="en-US"/>
            </a:br>
            <a:r>
              <a:rPr lang="en-US"/>
              <a:t>Drawer: Vollständiger Originaltext (verbatim), 800-Zeichen-Chunks, Embedding über all-MiniLM-L6-v2.</a:t>
            </a:r>
            <a:br>
              <a:rPr lang="en-US"/>
            </a:br>
            <a:br>
              <a:rPr lang="en-US"/>
            </a:br>
            <a:r>
              <a:rPr lang="en-US"/>
              <a:t>Tunnel: Automatische Querverbindung wenn gleicher Room-Name in verschiedenen Wings auftritt.</a:t>
            </a:r>
            <a:br>
              <a:rPr lang="en-US"/>
            </a:br>
            <a:br>
              <a:rPr lang="en-US"/>
            </a:br>
            <a:r>
              <a:rPr lang="en-US"/>
              <a:t>Die Kombination Wing+Hall+Room als Metadaten-Filter ergibt den +34% Retrieval-Boost.</a:t>
            </a:r>
            <a:endParaRPr/>
          </a:p>
        </p:txBody>
      </p:sp>
      <p:sp>
        <p:nvSpPr>
          <p:cNvPr id="262" name="Google Shape;26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Diese Folie ist die Referenz-Tabelle für alle Architektur-Elemente. Sie zeigt für jedes Element: Was es ist, wie es technisch implementiert ist, und wie es zugewiesen wird.</a:t>
            </a:r>
            <a:br>
              <a:rPr lang="en-US"/>
            </a:br>
            <a:br>
              <a:rPr lang="en-US"/>
            </a:br>
            <a:r>
              <a:rPr lang="en-US"/>
              <a:t>Wichtig: Die Palace-Hierarchie ist im Kern ein Metadaten-Schema in ChromaDB. Wing, Hall und Room sind drei Metadaten-Felder, die beim Insert gesetzt und beim Query als Filter verwendet werden. Das ist keine neue Datenbanktechnologie — es ist eine geschickte Nutzung von ChromaDBs Standard-Features.</a:t>
            </a:r>
            <a:br>
              <a:rPr lang="en-US"/>
            </a:br>
            <a:br>
              <a:rPr lang="en-US"/>
            </a:br>
            <a:r>
              <a:rPr lang="en-US"/>
              <a:t>Die Erkennung (welcher Wing, welcher Hall, welcher Room) läuft über Keyword-Scoring: Die ersten 2.000 Zeichen eines Chunks werden gegen vordefinierte Keyword-Sets gescort. Das ist bewusst einfach gehalten — keine ML-basierte Klassifikation, sondern regelbasiertes Matching.</a:t>
            </a:r>
            <a:endParaRPr/>
          </a:p>
        </p:txBody>
      </p:sp>
      <p:sp>
        <p:nvSpPr>
          <p:cNvPr id="287" name="Google Shape;28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Tunnels sind der Mechanismus für domänenübergreifendes Retrieval. Technisch kein eigenes Datenbankobjekt, sondern ein Query-Pattern: Eine Suche mit Room-Filter über mehrere Wings.</a:t>
            </a:r>
            <a:br>
              <a:rPr lang="en-US"/>
            </a:br>
            <a:br>
              <a:rPr lang="en-US"/>
            </a:br>
            <a:r>
              <a:rPr lang="en-US"/>
              <a:t>Beispiel: Die Frage 'Was wissen wir über auth-migration?' wird als Query mit where={'room': 'auth-migration'} (ohne Wing-Filter) ausgeführt. Das liefert Ergebnisse aus allen drei Wings — Kais Debugging, das Team-Decision, Priyas Empfehlung.</a:t>
            </a:r>
            <a:br>
              <a:rPr lang="en-US"/>
            </a:br>
            <a:br>
              <a:rPr lang="en-US"/>
            </a:br>
            <a:r>
              <a:rPr lang="en-US"/>
              <a:t>Das ist der Kern von cross-domain retrieval ohne explizite Foreign Keys. Ein SQL-System bräuchte JOINs und Fremdschlüssel; MemPalace nutzt einfach identische Room-Namen als implizite Verbindung.</a:t>
            </a:r>
            <a:endParaRPr/>
          </a:p>
        </p:txBody>
      </p:sp>
      <p:sp>
        <p:nvSpPr>
          <p:cNvPr id="331" name="Google Shape;3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 5 Halls sind in jedem Wing identisch. Sie bilden die zweite Filterebene nach dem Wing.</a:t>
            </a:r>
            <a:br>
              <a:rPr lang="en-US"/>
            </a:br>
            <a:br>
              <a:rPr lang="en-US"/>
            </a:br>
            <a:r>
              <a:rPr lang="en-US"/>
              <a:t>Die Zuweisung funktioniert über Keyword-Scoring: Für jeden Chunk werden die ersten 2.000 Zeichen gegen 5 Keyword-Sets gescort (je ~13 Keywords pro Hall). Beispiel-Keywords:</a:t>
            </a:r>
            <a:br>
              <a:rPr lang="en-US"/>
            </a:br>
            <a:r>
              <a:rPr lang="en-US"/>
              <a:t>- facts: 'decided', 'chose', 'approved', 'confirmed', 'finalized'</a:t>
            </a:r>
            <a:br>
              <a:rPr lang="en-US"/>
            </a:br>
            <a:r>
              <a:rPr lang="en-US"/>
              <a:t>- events: 'debugged', 'deployed', 'meeting', 'sprint', 'incident'</a:t>
            </a:r>
            <a:br>
              <a:rPr lang="en-US"/>
            </a:br>
            <a:r>
              <a:rPr lang="en-US"/>
              <a:t>- discoveries: 'realized', 'found', 'breakthrough', 'insight', 'learned'</a:t>
            </a:r>
            <a:br>
              <a:rPr lang="en-US"/>
            </a:br>
            <a:r>
              <a:rPr lang="en-US"/>
              <a:t>- preferences: 'prefers', 'likes', 'always', 'habit', 'style'</a:t>
            </a:r>
            <a:br>
              <a:rPr lang="en-US"/>
            </a:br>
            <a:r>
              <a:rPr lang="en-US"/>
              <a:t>- advice: 'recommend', 'suggest', 'should', 'best practice', 'tip'</a:t>
            </a:r>
            <a:br>
              <a:rPr lang="en-US"/>
            </a:br>
            <a:br>
              <a:rPr lang="en-US"/>
            </a:br>
            <a:r>
              <a:rPr lang="en-US"/>
              <a:t>Die Kombination Wing + Hall + Room = der präzise Suchpfad: where={'wing': 'wing_kai', 'hall': 'hall_events', 'room': 'auth-migration'}</a:t>
            </a:r>
            <a:endParaRPr/>
          </a:p>
        </p:txBody>
      </p:sp>
      <p:sp>
        <p:nvSpPr>
          <p:cNvPr id="355" name="Google Shape;3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Der Memory Stack löst das Token-Budget-Problem. Statt alle Daten immer zu laden:</a:t>
            </a:r>
            <a:br>
              <a:rPr lang="en-US"/>
            </a:br>
            <a:br>
              <a:rPr lang="en-US"/>
            </a:br>
            <a:r>
              <a:rPr lang="en-US"/>
              <a:t>L0 (Identity, ~50 Tokens): 'Du bist der Tech-Lead-Assistent für Team Alpha. Du sprichst Deutsch.' Wird IMMER in den System Prompt injiziert.</a:t>
            </a:r>
            <a:br>
              <a:rPr lang="en-US"/>
            </a:br>
            <a:br>
              <a:rPr lang="en-US"/>
            </a:br>
            <a:r>
              <a:rPr lang="en-US"/>
              <a:t>L1 (Critical Facts, ~120 Tokens): Die wichtigsten Fakten — Teammitglieder, aktive Projekte, bekannte Präferenzen. Wird zusammen mit L0 beim Wake-up geladen. Optional in AAAK-Kodierung.</a:t>
            </a:r>
            <a:br>
              <a:rPr lang="en-US"/>
            </a:br>
            <a:br>
              <a:rPr lang="en-US"/>
            </a:br>
            <a:r>
              <a:rPr lang="en-US"/>
              <a:t>L2 (Room Recall, variabel): Kontext aus der aktuellen Session. Wird on-demand geladen, wenn ein Thema aufkommt, das zu einem bestimmten Room passt.</a:t>
            </a:r>
            <a:br>
              <a:rPr lang="en-US"/>
            </a:br>
            <a:br>
              <a:rPr lang="en-US"/>
            </a:br>
            <a:r>
              <a:rPr lang="en-US"/>
              <a:t>L3 (Deep Search, variabel): Vollständige semantische Suche über alle Closets. Wird nur ausgelöst bei expliziter Frage ('Warum haben wir auf GraphQL gewechselt?').</a:t>
            </a:r>
            <a:br>
              <a:rPr lang="en-US"/>
            </a:br>
            <a:br>
              <a:rPr lang="en-US"/>
            </a:br>
            <a:r>
              <a:rPr lang="en-US"/>
              <a:t>Das Ergebnis: Wake-up mit nur ~170 Tokens. Deep Searches liefern ~13.500 Tokens. Jahreskosten: ~$10 statt ~$507.</a:t>
            </a:r>
            <a:endParaRPr/>
          </a:p>
        </p:txBody>
      </p:sp>
      <p:sp>
        <p:nvSpPr>
          <p:cNvPr id="389" name="Google Shape;38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Tech Stack zeigen. Wichtig: Komplett lokal, keine API-Keys nötig, kein Internet nach Installation.</a:t>
            </a:r>
            <a:br>
              <a:rPr lang="en-US"/>
            </a:br>
            <a:br>
              <a:rPr lang="en-US"/>
            </a:br>
            <a:r>
              <a:rPr lang="en-US"/>
              <a:t>SQLite statt Neo4j ist eine bewusste Designentscheidung: Zep nutzt Neo4j Cloud ($25/Monat+), MemPalace hält alles lokal und kostenlos. Der Trade-off: Keine native Graph-Traversierung, weniger Skalierbarkeit — für den Einzelnutzer-Use-Case aber kein Problem.</a:t>
            </a:r>
            <a:br>
              <a:rPr lang="en-US"/>
            </a:br>
            <a:br>
              <a:rPr lang="en-US"/>
            </a:br>
            <a:r>
              <a:rPr lang="en-US"/>
              <a:t>19 MCP Tools exponieren: Lese-Operationen (search, status, taxonomy), Schreib-Operationen (add/delete drawers), Knowledge-Graph-Ops (entities, facts, timelines), Navigation (graph traversal, find tunnels), Agent Diary.</a:t>
            </a:r>
            <a:br>
              <a:rPr lang="en-US"/>
            </a:br>
            <a:br>
              <a:rPr lang="en-US"/>
            </a:br>
            <a:r>
              <a:rPr lang="en-US"/>
              <a:t>CLI-Demo anbieten: 'mempalace init' initialisiert ein Palace-Verzeichnis, 'mempalace search' führt eine semantische Suche durch.</a:t>
            </a:r>
            <a:endParaRPr/>
          </a:p>
        </p:txBody>
      </p:sp>
      <p:sp>
        <p:nvSpPr>
          <p:cNvPr id="419" name="Google Shape;4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 Ingestion-Pipeline ist der Weg vom rohen Chat-Export zum durchsuchbaren Vektor in ChromaDB.</a:t>
            </a:r>
            <a:br>
              <a:rPr lang="en-US"/>
            </a:br>
            <a:br>
              <a:rPr lang="en-US"/>
            </a:br>
            <a:r>
              <a:rPr lang="en-US"/>
              <a:t>Schritt 1 — Normalisierung: Die normalize.py konvertiert 5 verschiedene Chat-Formate (Claude JSON, ChatGPT HTML, Slack Exports, Markdown, Plaintext) in ein einheitliches Transkriptformat mit konsistenten Timestamps und Speaker-Labels.</a:t>
            </a:r>
            <a:br>
              <a:rPr lang="en-US"/>
            </a:br>
            <a:br>
              <a:rPr lang="en-US"/>
            </a:br>
            <a:r>
              <a:rPr lang="en-US"/>
              <a:t>Schritt 2 — Chunking: Text wird in Einheiten von ca. 800 Zeichen aufgeteilt, mit 100 Zeichen Überlappung zwischen benachbarten Chunks. Es wird an Absatzgrenzen gebrochen, nicht mitten im Satz. Die Überlappung stellt sicher, dass Sätze auf der Chunk-Grenze nicht verloren gehen.</a:t>
            </a:r>
            <a:br>
              <a:rPr lang="en-US"/>
            </a:br>
            <a:br>
              <a:rPr lang="en-US"/>
            </a:br>
            <a:r>
              <a:rPr lang="en-US"/>
              <a:t>Schritt 3 — Room-Detection: Für Projektdateien prüft der Detector zuerst den Ordnerpfad, dann den Dateinamen, dann den Inhalt. Für Konversationen werden die ersten 2.000 Zeichen gegen 5 Keyword-Sets gescort.</a:t>
            </a:r>
            <a:br>
              <a:rPr lang="en-US"/>
            </a:br>
            <a:br>
              <a:rPr lang="en-US"/>
            </a:br>
            <a:r>
              <a:rPr lang="en-US"/>
              <a:t>Schritt 4 — Deduplizierung: MD5-Hash pro Chunk. Identische Chunks werden nicht doppelt gespeichert.</a:t>
            </a:r>
            <a:br>
              <a:rPr lang="en-US"/>
            </a:br>
            <a:br>
              <a:rPr lang="en-US"/>
            </a:br>
            <a:r>
              <a:rPr lang="en-US"/>
              <a:t>Schritt 5 — Embedding: Der Chunk wird durch all-MiniLM-L6-v2 in einen 384-dimensionalen Vektor umgewandelt.</a:t>
            </a:r>
            <a:br>
              <a:rPr lang="en-US"/>
            </a:br>
            <a:br>
              <a:rPr lang="en-US"/>
            </a:br>
            <a:r>
              <a:rPr lang="en-US"/>
              <a:t>Schritt 6 — ChromaDB Insert: Der Vektor wird zusammen mit den Metadaten (wing, hall, room) in ChromaDB gespeichert.</a:t>
            </a:r>
            <a:endParaRPr/>
          </a:p>
        </p:txBody>
      </p:sp>
      <p:sp>
        <p:nvSpPr>
          <p:cNvPr id="450" name="Google Shape;4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15-Minuten-Gruppenarbeit. Der Chat-Export ist kurz genug für einen einzigen Chunk (unter 800 Zeichen), aber enthält mehrere Wings, Halls und Rooms.</a:t>
            </a:r>
            <a:br>
              <a:rPr lang="en-US"/>
            </a:br>
            <a:br>
              <a:rPr lang="en-US"/>
            </a:br>
            <a:r>
              <a:rPr lang="en-US"/>
              <a:t>Lösung:</a:t>
            </a:r>
            <a:br>
              <a:rPr lang="en-US"/>
            </a:br>
            <a:r>
              <a:rPr lang="en-US"/>
              <a:t>Wings: wing_kai, wing_lisa, wing_marc, wing_orion (Projekt)</a:t>
            </a:r>
            <a:br>
              <a:rPr lang="en-US"/>
            </a:br>
            <a:br>
              <a:rPr lang="en-US"/>
            </a:br>
            <a:r>
              <a:rPr lang="en-US"/>
              <a:t>Hall+Room-Zuweisungen:</a:t>
            </a:r>
            <a:br>
              <a:rPr lang="en-US"/>
            </a:br>
            <a:r>
              <a:rPr lang="en-US"/>
              <a:t>- Kais OAuth-Bug: wing_kai / hall_events / auth-migration</a:t>
            </a:r>
            <a:br>
              <a:rPr lang="en-US"/>
            </a:br>
            <a:r>
              <a:rPr lang="en-US"/>
              <a:t>- Lisas Timezone-Fund: wing_lisa / hall_discoveries / auth-migration</a:t>
            </a:r>
            <a:br>
              <a:rPr lang="en-US"/>
            </a:br>
            <a:r>
              <a:rPr lang="en-US"/>
              <a:t>- Kais Deploy-Plan: wing_kai / hall_events / deployment</a:t>
            </a:r>
            <a:br>
              <a:rPr lang="en-US"/>
            </a:br>
            <a:r>
              <a:rPr lang="en-US"/>
              <a:t>- Marcs ScyllaDB-Vorschlag: wing_marc / hall_advice / database-choice</a:t>
            </a:r>
            <a:br>
              <a:rPr lang="en-US"/>
            </a:br>
            <a:r>
              <a:rPr lang="en-US"/>
              <a:t>- Lisas Postgres-Entscheidung: wing_orion / hall_facts / database-choice</a:t>
            </a:r>
            <a:br>
              <a:rPr lang="en-US"/>
            </a:br>
            <a:br>
              <a:rPr lang="en-US"/>
            </a:br>
            <a:r>
              <a:rPr lang="en-US"/>
              <a:t>Tunnels:</a:t>
            </a:r>
            <a:br>
              <a:rPr lang="en-US"/>
            </a:br>
            <a:r>
              <a:rPr lang="en-US"/>
              <a:t>- auth-migration: wing_kai ↔ wing_lisa (beide arbeiten am selben Auth-Problem)</a:t>
            </a:r>
            <a:br>
              <a:rPr lang="en-US"/>
            </a:br>
            <a:r>
              <a:rPr lang="en-US"/>
              <a:t>- database-choice: wing_marc ↔ wing_orion (Marcs Vorschlag + Team-Entscheidung)</a:t>
            </a:r>
            <a:br>
              <a:rPr lang="en-US"/>
            </a:br>
            <a:br>
              <a:rPr lang="en-US"/>
            </a:br>
            <a:r>
              <a:rPr lang="en-US"/>
              <a:t>Pointe: Die Studis machen exakt die gleiche Arbeit, die convo_miner.py und room_detector_local.py automatisch versuchen zu lösen. Sie sehen, warum Entity-Detection ein schwieriges Problem ist — und warum menschliche Korrektur beim Setup hilft.</a:t>
            </a:r>
            <a:endParaRPr/>
          </a:p>
        </p:txBody>
      </p:sp>
      <p:sp>
        <p:nvSpPr>
          <p:cNvPr id="488" name="Google Shape;48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Der Retrieval-Prozess Schritt für Schritt:</a:t>
            </a:r>
            <a:br>
              <a:rPr lang="en-US"/>
            </a:br>
            <a:br>
              <a:rPr lang="en-US"/>
            </a:br>
            <a:r>
              <a:rPr lang="en-US"/>
              <a:t>1. Query Embedding: Die Frage wird durch dasselbe Modell (all-MiniLM-L6-v2) in einen 384D-Vektor umgewandelt.</a:t>
            </a:r>
            <a:br>
              <a:rPr lang="en-US"/>
            </a:br>
            <a:br>
              <a:rPr lang="en-US"/>
            </a:br>
            <a:r>
              <a:rPr lang="en-US"/>
              <a:t>2. ANN-Suche (HNSW): Statt alle N Vektoren per Brute-Force zu vergleichen (O(n)), nutzt ChromaDB den HNSW-Algorithmus. HNSW baut einen mehrschichtigen Graphen: Oben wenige 'Autobahn'-Knoten für grobe Navigation, unten alle Vektoren. Suche startet oben, springt zum nächsten Nachbarn, steigt einen Layer ab, wiederholt. Ergebnis: O(log n) statt O(n).</a:t>
            </a:r>
            <a:br>
              <a:rPr lang="en-US"/>
            </a:br>
            <a:br>
              <a:rPr lang="en-US"/>
            </a:br>
            <a:r>
              <a:rPr lang="en-US"/>
              <a:t>3. Metadata-Filter: BEVOR die Vektorsuche läuft, filtert ChromaDB nach Wing, Hall und Room. Das reduziert den Suchraum massiv. Der +34% Boost (60.9% → 94.8%) kommt daher.</a:t>
            </a:r>
            <a:br>
              <a:rPr lang="en-US"/>
            </a:br>
            <a:br>
              <a:rPr lang="en-US"/>
            </a:br>
            <a:r>
              <a:rPr lang="en-US"/>
              <a:t>4. Top-K Closets: Die K ähnlichsten Summaries werden zurückgegeben.</a:t>
            </a:r>
            <a:br>
              <a:rPr lang="en-US"/>
            </a:br>
            <a:br>
              <a:rPr lang="en-US"/>
            </a:br>
            <a:r>
              <a:rPr lang="en-US"/>
              <a:t>5. Drawer Lookup: Jeder Closet hat einen Pointer auf den zugehörigen Drawer. Die Original-Texte werden abgerufen.</a:t>
            </a:r>
            <a:br>
              <a:rPr lang="en-US"/>
            </a:br>
            <a:br>
              <a:rPr lang="en-US"/>
            </a:br>
            <a:r>
              <a:rPr lang="en-US"/>
              <a:t>6. Context Injection: Die Originaltexte werden in den LLM-Context injiziert, und das LLM generiert die Antwort.</a:t>
            </a:r>
            <a:br>
              <a:rPr lang="en-US"/>
            </a:br>
            <a:br>
              <a:rPr lang="en-US"/>
            </a:br>
            <a:r>
              <a:rPr lang="en-US"/>
              <a:t>Wichtig: Der 96.6%-Score auf LongMemEval misst Recall@5 — ob die richtige Information in den Top-5-Ergebnissen ist. Nicht ob die Antwort korrekt generiert wird.</a:t>
            </a:r>
            <a:endParaRPr/>
          </a:p>
        </p:txBody>
      </p:sp>
      <p:sp>
        <p:nvSpPr>
          <p:cNvPr id="522" name="Google Shape;52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AAAK ist ein regex-basiertes Abkürzungssystem, das wiederkehrende Entitäten durch Codes ersetzt. Es ist KEIN Kompressionsalgorithmus im klassischen Sinne.</a:t>
            </a:r>
            <a:br>
              <a:rPr lang="en-US"/>
            </a:br>
            <a:br>
              <a:rPr lang="en-US"/>
            </a:br>
            <a:r>
              <a:rPr lang="en-US"/>
              <a:t>Was es tut: Entitätsnamen werden durch Kürzel ersetzt (Kai→K, Driftwood→DW), Sätze werden verkürzt, strukturelle Marker eingefügt.</a:t>
            </a:r>
            <a:br>
              <a:rPr lang="en-US"/>
            </a:br>
            <a:br>
              <a:rPr lang="en-US"/>
            </a:br>
            <a:r>
              <a:rPr lang="en-US"/>
              <a:t>Die drei Hauptprobleme:</a:t>
            </a:r>
            <a:br>
              <a:rPr lang="en-US"/>
            </a:br>
            <a:r>
              <a:rPr lang="en-US"/>
              <a:t>1. Lossy: Der 'Decode' besteht aus simplem String-Splitting, nicht aus echter Rekonstruktion. Information geht verloren. Im LongMemEval-Benchmark sinkt der Score von 96.6% auf 84.2% — ein Verlust von 12.4 Prozentpunkten.</a:t>
            </a:r>
            <a:endParaRPr/>
          </a:p>
          <a:p>
            <a:pPr indent="0" lvl="0" marL="0" rtl="0" algn="l">
              <a:spcBef>
                <a:spcPts val="0"/>
              </a:spcBef>
              <a:spcAft>
                <a:spcPts val="0"/>
              </a:spcAft>
              <a:buNone/>
            </a:pPr>
            <a:br>
              <a:rPr lang="en-US"/>
            </a:br>
            <a:r>
              <a:rPr lang="en-US"/>
              <a:t>R@5 = Recall at 5 – also, ob der passende Suchvorschlag unter den ersten 5 auftaucht und wie häufig das der Fall ist. Bspw bei 500 Trials nur 482 mal vs 421/500 bei AAAK</a:t>
            </a:r>
            <a:endParaRPr/>
          </a:p>
          <a:p>
            <a:pPr indent="0" lvl="0" marL="0" rtl="0" algn="l">
              <a:spcBef>
                <a:spcPts val="0"/>
              </a:spcBef>
              <a:spcAft>
                <a:spcPts val="0"/>
              </a:spcAft>
              <a:buNone/>
            </a:pPr>
            <a:r>
              <a:rPr lang="en-US"/>
              <a:t>Sonderzeichen=mehr token als normale buchstaben</a:t>
            </a:r>
            <a:endParaRPr/>
          </a:p>
          <a:p>
            <a:pPr indent="0" lvl="0" marL="0" rtl="0" algn="l">
              <a:spcBef>
                <a:spcPts val="0"/>
              </a:spcBef>
              <a:spcAft>
                <a:spcPts val="0"/>
              </a:spcAft>
              <a:buNone/>
            </a:pPr>
            <a:br>
              <a:rPr lang="en-US"/>
            </a:br>
            <a:r>
              <a:rPr lang="en-US"/>
              <a:t>2. Token-Zählung: Die Entwickler nutzten die Heuristik len(text)//3 statt eines echten Tokenizers (z.B. OpenAIs tiktoken). Mit tiktoken war das AAAK-Beispiel sogar LÄNGER als das Original: 73 vs. 66 Tokens.</a:t>
            </a:r>
            <a:br>
              <a:rPr lang="en-US"/>
            </a:br>
            <a:br>
              <a:rPr lang="en-US"/>
            </a:br>
            <a:r>
              <a:rPr lang="en-US"/>
              <a:t>3. Skalierung: AAAK lohnt sich nur bei großem Maßstab mit vielen wiederkehrenden Entitäten. Bei kurzen Texten ist der Overhead der Entitätscodes größer als die Einsparung.</a:t>
            </a:r>
            <a:br>
              <a:rPr lang="en-US"/>
            </a:br>
            <a:br>
              <a:rPr lang="en-US"/>
            </a:br>
            <a:r>
              <a:rPr lang="en-US"/>
              <a:t>Die Entwickler haben diese Probleme nach Community-Feedback innerhalb von 48h öffentlich eingeräumt und den 'lossless'-Claim zurückgezogen.</a:t>
            </a:r>
            <a:endParaRPr/>
          </a:p>
        </p:txBody>
      </p:sp>
      <p:sp>
        <p:nvSpPr>
          <p:cNvPr id="556" name="Google Shape;55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Der temporale Knowledge Graph ist MemPalaces zweite Datenstruktur neben ChromaDB. Er speichert Entity-Relationship-Tripel mit Gültigkeitsfenstern.</a:t>
            </a:r>
            <a:br>
              <a:rPr lang="en-US"/>
            </a:br>
            <a:br>
              <a:rPr lang="en-US"/>
            </a:br>
            <a:r>
              <a:rPr lang="en-US"/>
              <a:t>Format: (Subjekt, Prädikat, Objekt, valid_from, valid_to)</a:t>
            </a:r>
            <a:br>
              <a:rPr lang="en-US"/>
            </a:br>
            <a:r>
              <a:rPr lang="en-US"/>
              <a:t>Beispiel: ('Kai', 'arbeitet_an', 'Orion', '2025-06', '2026-03') — gültig von Juni 2025 bis März 2026, danach abgelaufen.</a:t>
            </a:r>
            <a:br>
              <a:rPr lang="en-US"/>
            </a:br>
            <a:br>
              <a:rPr lang="en-US"/>
            </a:br>
            <a:r>
              <a:rPr lang="en-US"/>
              <a:t>Das ermöglicht temporale Abfragen: 'Woran hat Kai im Januar gearbeitet?' → Orion (weil valid_from ≤ 2026-01 ≤ valid_to).</a:t>
            </a:r>
            <a:br>
              <a:rPr lang="en-US"/>
            </a:br>
            <a:br>
              <a:rPr lang="en-US"/>
            </a:br>
            <a:r>
              <a:rPr lang="en-US"/>
              <a:t>Vergleich mit Zep/Graphiti:</a:t>
            </a:r>
            <a:br>
              <a:rPr lang="en-US"/>
            </a:br>
            <a:r>
              <a:rPr lang="en-US"/>
              <a:t>- Zep nutzt Neo4j Cloud mit nativer Graph-Traversierung, Subgraphen (episodisch, semantisch, community)</a:t>
            </a:r>
            <a:br>
              <a:rPr lang="en-US"/>
            </a:br>
            <a:r>
              <a:rPr lang="en-US"/>
              <a:t>- MemPalace nutzt SQLite: komplett lokal und kostenlos, aber ohne native Graph-Queries</a:t>
            </a:r>
            <a:br>
              <a:rPr lang="en-US"/>
            </a:br>
            <a:r>
              <a:rPr lang="en-US"/>
              <a:t>- fact_checker.py soll Widersprüche erkennen (z.B. 'Team nutzt Postgres' und gleichzeitig 'Team migriert zu ScyllaDB'), ist aber noch nicht in die Knowledge-Graph-Operationen eingebunden</a:t>
            </a:r>
            <a:br>
              <a:rPr lang="en-US"/>
            </a:br>
            <a:br>
              <a:rPr lang="en-US"/>
            </a:br>
            <a:r>
              <a:rPr lang="en-US"/>
              <a:t>Das ist einer der Punkte, die in der Kontroverse kritisiert wurden: Die README suggerierte funktionierende Contradiction Detection, obwohl das Feature noch nicht integriert war.</a:t>
            </a:r>
            <a:endParaRPr/>
          </a:p>
        </p:txBody>
      </p:sp>
      <p:sp>
        <p:nvSpPr>
          <p:cNvPr id="577" name="Google Shape;57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Diese Vergleichstabelle zeigt die drei dominanten Ansätze für AI-Memory:</a:t>
            </a:r>
            <a:br>
              <a:rPr lang="en-US"/>
            </a:br>
            <a:br>
              <a:rPr lang="en-US"/>
            </a:br>
            <a:r>
              <a:rPr lang="en-US"/>
              <a:t>Mem0 (Chhikara et al., 2025, ECAI): LLM-basierte Extraktion. Ein LLM filtert Konversationen und extrahiert kompakte Fakten. Mem0g nutzt einen gerichteten Graphen. Vorteil: Kompakt, skalierbar, bewährte Infrastruktur. Nachteil: Informationsverlust durch Extraktion, Cloud-Abhängigkeit, $19-249/Monat.</a:t>
            </a:r>
            <a:br>
              <a:rPr lang="en-US"/>
            </a:br>
            <a:br>
              <a:rPr lang="en-US"/>
            </a:br>
            <a:r>
              <a:rPr lang="en-US"/>
              <a:t>Zep/Graphiti (Rasmussen et al., 2025): Temporaler Knowledge Graph auf Neo4j. Drei Subgraphen: episodisch, semantisch, community. Vorteil: Ausgereifter temporaler Graph, Enterprise-tauglich. Nachteil: Cloud-basiert, kostenpflichtig, keine Local-First-Option.</a:t>
            </a:r>
            <a:br>
              <a:rPr lang="en-US"/>
            </a:br>
            <a:br>
              <a:rPr lang="en-US"/>
            </a:br>
            <a:r>
              <a:rPr lang="en-US"/>
              <a:t>MemPalace: Verbatim Storage + hierarchische Metadaten-Struktur. Vorteil: Kein Informationsverlust, 100% lokal, kostenlos, 96.6% R@5. Nachteil: ChromaDB-Skalierbarkeit begrenzt, Palace-Struktur verbessert den Benchmark bisher nicht nachweislich.</a:t>
            </a:r>
            <a:br>
              <a:rPr lang="en-US"/>
            </a:br>
            <a:br>
              <a:rPr lang="en-US"/>
            </a:br>
            <a:r>
              <a:rPr lang="en-US"/>
              <a:t>Kernfrage für die Studis: 'Welches System würdet ihr für euer Startup wählen?' — Es gibt keine universell richtige Antwort; es hängt vom Use-Case ab.</a:t>
            </a:r>
            <a:endParaRPr/>
          </a:p>
        </p:txBody>
      </p:sp>
      <p:sp>
        <p:nvSpPr>
          <p:cNvPr id="624" name="Google Shape;62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Zweiteilige Gruppenübung. Teil 1: Palace bauen (wie vorher). Teil 2 ist NEU: Retrieval simulieren.</a:t>
            </a:r>
            <a:br>
              <a:rPr lang="en-US"/>
            </a:br>
            <a:br>
              <a:rPr lang="en-US"/>
            </a:br>
            <a:r>
              <a:rPr lang="en-US"/>
              <a:t>Teil 2 — Retrieval-Strategie für 'Warum nutzen wir noch Postgres?':</a:t>
            </a:r>
            <a:br>
              <a:rPr lang="en-US"/>
            </a:br>
            <a:r>
              <a:rPr lang="en-US"/>
              <a:t>- Optimaler Pfad: wing_orion / hall_facts / database-choice → Findet: 'Team entschied: Postgres behalten'</a:t>
            </a:r>
            <a:br>
              <a:rPr lang="en-US"/>
            </a:br>
            <a:r>
              <a:rPr lang="en-US"/>
              <a:t>- Alternativ: wing_marc / hall_preferences / database-choice → Findet: 'Marc bevorzugt NoSQL'</a:t>
            </a:r>
            <a:br>
              <a:rPr lang="en-US"/>
            </a:br>
            <a:r>
              <a:rPr lang="en-US"/>
              <a:t>- Ohne Filter: Suche über alle Closets → niedrigerer Recall, mehr irrelevante Ergebnisse</a:t>
            </a:r>
            <a:br>
              <a:rPr lang="en-US"/>
            </a:br>
            <a:br>
              <a:rPr lang="en-US"/>
            </a:br>
            <a:r>
              <a:rPr lang="en-US"/>
              <a:t>Pointe: Die Studis sehen den Unterschied zwischen gefilterter und ungefilterter Suche am eigenen Beispiel. Das macht den +34% Boost greifbar.</a:t>
            </a:r>
            <a:endParaRPr/>
          </a:p>
        </p:txBody>
      </p:sp>
      <p:sp>
        <p:nvSpPr>
          <p:cNvPr id="673" name="Google Shape;67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LongMemEval (Wu et al., 2024, ICLR 2025): 500 sorgfältig kuratierte Fragen, eingebettet in Konversationshistorien von 115.000 bis 1.5M Tokens. 5 Kernfähigkeiten: Informationsextraktion, Multi-Session-Reasoning, temporales Reasoning, Wissensaktualisierung, Abstention.</a:t>
            </a:r>
            <a:br>
              <a:rPr lang="en-US"/>
            </a:br>
            <a:br>
              <a:rPr lang="en-US"/>
            </a:br>
            <a:r>
              <a:rPr lang="en-US"/>
              <a:t>MemPalace-Ergebnisse:</a:t>
            </a:r>
            <a:br>
              <a:rPr lang="en-US"/>
            </a:br>
            <a:r>
              <a:rPr lang="en-US"/>
              <a:t>- 96.6% R@5 im Raw-Mode (verbatim ChromaDB, null API-Calls) — unabhängig reproduziert</a:t>
            </a:r>
            <a:br>
              <a:rPr lang="en-US"/>
            </a:br>
            <a:r>
              <a:rPr lang="en-US"/>
              <a:t>- 100% R@5 im Hybrid-Mode mit Haiku-Reranking — kontrovers (siehe nächste Folie)</a:t>
            </a:r>
            <a:br>
              <a:rPr lang="en-US"/>
            </a:br>
            <a:r>
              <a:rPr lang="en-US"/>
              <a:t>- 84.2% R@5 im AAAK-Mode — Regression von 12.4 Prozentpunkten</a:t>
            </a:r>
            <a:br>
              <a:rPr lang="en-US"/>
            </a:br>
            <a:br>
              <a:rPr lang="en-US"/>
            </a:br>
            <a:r>
              <a:rPr lang="en-US"/>
              <a:t>Struktur-Boost: Auf 22.000+ echten Konversationen zeigt sich, dass Wing+Room-Filtering von 60.9% auf 94.8% R@10 verbessert. Aber: Das ist Standard-ChromaDB-Metadata-Filtering, kein neuer Mechanismus.</a:t>
            </a:r>
            <a:endParaRPr/>
          </a:p>
        </p:txBody>
      </p:sp>
      <p:sp>
        <p:nvSpPr>
          <p:cNvPr id="691" name="Google Shape;69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a29e86eaf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ea29e86eaf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g3ea29e86eaf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 Kontroverse im Detail — für jede Behauptung das Problem und die Korrektur erklären.</a:t>
            </a:r>
            <a:br>
              <a:rPr lang="en-US"/>
            </a:br>
            <a:br>
              <a:rPr lang="en-US"/>
            </a:br>
            <a:r>
              <a:rPr lang="en-US"/>
              <a:t>1. '30x lossless compression': AAAK ist lossy, nicht lossless. Regrediert auf 84.2%. Die Entwickler korrigierten den Claim innerhalb von 48h.</a:t>
            </a:r>
            <a:br>
              <a:rPr lang="en-US"/>
            </a:br>
            <a:br>
              <a:rPr lang="en-US"/>
            </a:br>
            <a:r>
              <a:rPr lang="en-US"/>
              <a:t>2. Token-Zählung: len(text)//3 ist keine valide Heuristik. Mit tiktoken war AAAK sogar LÄNGER.</a:t>
            </a:r>
            <a:br>
              <a:rPr lang="en-US"/>
            </a:br>
            <a:br>
              <a:rPr lang="en-US"/>
            </a:br>
            <a:r>
              <a:rPr lang="en-US"/>
              <a:t>3. '+34% Palace Boost': Real, aber es ist Standard-ChromaDB-Metadata-Filtering. Kein neuartiger Retrieval-Mechanismus.</a:t>
            </a:r>
            <a:br>
              <a:rPr lang="en-US"/>
            </a:br>
            <a:br>
              <a:rPr lang="en-US"/>
            </a:br>
            <a:r>
              <a:rPr lang="en-US"/>
              <a:t>4. Contradiction Detection: fact_checker.py existiert im Code, ist aber nicht in die Knowledge-Graph-Operationen eingebunden.</a:t>
            </a:r>
            <a:br>
              <a:rPr lang="en-US"/>
            </a:br>
            <a:br>
              <a:rPr lang="en-US"/>
            </a:br>
            <a:r>
              <a:rPr lang="en-US"/>
              <a:t>5. 100% Rerank: Die drei Fragen, bei denen das System versagte, wurden identifiziert und gezielt gefixt. Dann erneut auf demselben Testset evaluiert = Overfitting. Held-out-Score: 98.4%.</a:t>
            </a:r>
            <a:br>
              <a:rPr lang="en-US"/>
            </a:br>
            <a:br>
              <a:rPr lang="en-US"/>
            </a:br>
            <a:r>
              <a:rPr lang="en-US"/>
              <a:t>Was trotzdem stimmt: Der 96.6%-Raw-Score wurde unabhängig reproduziert. Das System ist komplett lokal und kostenlos. Die Architektur funktioniert. Und die Selbstkorrektur war schnell und transparent.</a:t>
            </a:r>
            <a:endParaRPr/>
          </a:p>
        </p:txBody>
      </p:sp>
      <p:sp>
        <p:nvSpPr>
          <p:cNvPr id="725" name="Google Shape;7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Raum in zwei Hälften teilen. Seite A argumentiert, dass die überzogenen Claims die wissenschaftliche Glaubwürdigkeit zerstören. Seite B argumentiert, dass die Community-Korrektur vorbildlich ist.</a:t>
            </a:r>
            <a:br>
              <a:rPr lang="en-US"/>
            </a:br>
            <a:br>
              <a:rPr lang="en-US"/>
            </a:br>
            <a:r>
              <a:rPr lang="en-US"/>
              <a:t>Provokation wenn nötig: 'Würdet ihr einem Paper vertrauen, das eine Schauspielerin als Co-Author hat?'</a:t>
            </a:r>
            <a:br>
              <a:rPr lang="en-US"/>
            </a:br>
            <a:br>
              <a:rPr lang="en-US"/>
            </a:br>
            <a:r>
              <a:rPr lang="en-US"/>
              <a:t>Moderationspunkte am Ende:</a:t>
            </a:r>
            <a:br>
              <a:rPr lang="en-US"/>
            </a:br>
            <a:r>
              <a:rPr lang="en-US"/>
              <a:t>1. Der Kern-Score (96.6% raw) ist reproduzierbar und hält</a:t>
            </a:r>
            <a:br>
              <a:rPr lang="en-US"/>
            </a:br>
            <a:r>
              <a:rPr lang="en-US"/>
              <a:t>2. Die Nebenclaims (AAAK, Contradiction Detection) wurden explizit zurückgezogen</a:t>
            </a:r>
            <a:br>
              <a:rPr lang="en-US"/>
            </a:br>
            <a:r>
              <a:rPr lang="en-US"/>
              <a:t>3. GitHub Issues als Review-Mechanismus: schneller als traditionelle Peer Review?</a:t>
            </a:r>
            <a:br>
              <a:rPr lang="en-US"/>
            </a:br>
            <a:r>
              <a:rPr lang="en-US"/>
              <a:t>4. Frage zum Mitnehmen: Würde ein Conference-Paper-Review diese Fehler schneller oder langsamer gefunden haben?</a:t>
            </a:r>
            <a:br>
              <a:rPr lang="en-US"/>
            </a:br>
            <a:r>
              <a:rPr lang="en-US"/>
              <a:t>5. Epistemische Frage: Ist die Identität der Autoren relevant, wenn die Ergebnisse reproduzierbar sind?</a:t>
            </a:r>
            <a:endParaRPr/>
          </a:p>
        </p:txBody>
      </p:sp>
      <p:sp>
        <p:nvSpPr>
          <p:cNvPr id="750" name="Google Shape;7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Fragen à 60 Sekunden. Antworten:</a:t>
            </a:r>
            <a:br>
              <a:rPr lang="en-US"/>
            </a:br>
            <a:r>
              <a:rPr lang="en-US"/>
              <a:t>1. ChromaDB</a:t>
            </a:r>
            <a:br>
              <a:rPr lang="en-US"/>
            </a:br>
            <a:r>
              <a:rPr lang="en-US"/>
              <a:t>2. Halls = Verbindungen innerhalb eines Wings, Tunnels = Verbindungen über Wings hinweg</a:t>
            </a:r>
            <a:br>
              <a:rPr lang="en-US"/>
            </a:br>
            <a:r>
              <a:rPr lang="en-US"/>
              <a:t>3. ~170 Tokens (L0: 50 + L1: 120)</a:t>
            </a:r>
            <a:br>
              <a:rPr lang="en-US"/>
            </a:br>
            <a:r>
              <a:rPr lang="en-US"/>
              <a:t>4. 96,6%</a:t>
            </a:r>
            <a:br>
              <a:rPr lang="en-US"/>
            </a:br>
            <a:r>
              <a:rPr lang="en-US"/>
              <a:t>5. '30x lossless compression' — AAAK ist lossy</a:t>
            </a:r>
            <a:br>
              <a:rPr lang="en-US"/>
            </a:br>
            <a:r>
              <a:rPr lang="en-US"/>
              <a:t>6. Ben Sigman (Engineer) + Milla Jovovich (Architektin)</a:t>
            </a:r>
            <a:br>
              <a:rPr lang="en-US"/>
            </a:br>
            <a:r>
              <a:rPr lang="en-US"/>
              <a:t>7. 19 MCP Tools</a:t>
            </a:r>
            <a:br>
              <a:rPr lang="en-US"/>
            </a:br>
            <a:r>
              <a:rPr lang="en-US"/>
              <a:t>8. Cosine Similarity misst den Winkel zwischen zwei Vektoren = semantische Bedeutungsähnlichkeit</a:t>
            </a:r>
            <a:br>
              <a:rPr lang="en-US"/>
            </a:br>
            <a:r>
              <a:rPr lang="en-US"/>
              <a:t>9. facts, events, discoveries, preferences, advice</a:t>
            </a:r>
            <a:br>
              <a:rPr lang="en-US"/>
            </a:br>
            <a:r>
              <a:rPr lang="en-US"/>
              <a:t>10. +34% R@10 durch Wing+Room-Metadata-Filtering</a:t>
            </a:r>
            <a:endParaRPr/>
          </a:p>
        </p:txBody>
      </p:sp>
      <p:sp>
        <p:nvSpPr>
          <p:cNvPr id="769" name="Google Shape;76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Sechs zentrale Take-Aways — erweitert um die mathematischen Grundlagen, die wir heute behandelt haben:</a:t>
            </a:r>
            <a:br>
              <a:rPr lang="en-US"/>
            </a:br>
            <a:br>
              <a:rPr lang="en-US"/>
            </a:br>
            <a:r>
              <a:rPr lang="en-US"/>
              <a:t>1. AI-Memory = RAG + hierarchische Metadaten + Vektordatenbank. Das ist die Formel.</a:t>
            </a:r>
            <a:br>
              <a:rPr lang="en-US"/>
            </a:br>
            <a:r>
              <a:rPr lang="en-US"/>
              <a:t>2. Embeddings sind der Kern: Texte werden zu Vektoren, Cosine Similarity misst die semantische Ähnlichkeit. Ohne dieses Verständnis bleibt alles eine Blackbox.</a:t>
            </a:r>
            <a:br>
              <a:rPr lang="en-US"/>
            </a:br>
            <a:r>
              <a:rPr lang="en-US"/>
              <a:t>3. Verbatim Storage (96.6% R@5) schlägt LLM-Extraction (~85%) auf dem Standard-Benchmark.</a:t>
            </a:r>
            <a:br>
              <a:rPr lang="en-US"/>
            </a:br>
            <a:r>
              <a:rPr lang="en-US"/>
              <a:t>4. +34% durch Metadata-Filtering — auch wenn es Standard-ChromaDB ist, zeigt es den Wert von Struktur.</a:t>
            </a:r>
            <a:br>
              <a:rPr lang="en-US"/>
            </a:br>
            <a:r>
              <a:rPr lang="en-US"/>
              <a:t>5. Open Source + GitHub Issues = Peer Review in Echtzeit. Die Community fand Fehler in Stunden, die Autoren korrigierten in 48h.</a:t>
            </a:r>
            <a:br>
              <a:rPr lang="en-US"/>
            </a:br>
            <a:r>
              <a:rPr lang="en-US"/>
              <a:t>6. Reproduzierbarkeit &gt; Autorität. Es ist egal, ob eine Schauspielerin oder ein Professor den Code schreibt — was zählt, ist: Kann man die Ergebnisse nachstellen?</a:t>
            </a:r>
            <a:br>
              <a:rPr lang="en-US"/>
            </a:br>
            <a:br>
              <a:rPr lang="en-US"/>
            </a:br>
            <a:r>
              <a:rPr lang="en-US"/>
              <a:t>Q&amp;A offen halten. Weiterführende Links auf der Folie.</a:t>
            </a:r>
            <a:endParaRPr/>
          </a:p>
        </p:txBody>
      </p:sp>
      <p:sp>
        <p:nvSpPr>
          <p:cNvPr id="807" name="Google Shape;80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ea29e86eaf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ea29e86eaf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g3ea29e86eaf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29.png"/><Relationship Id="rId7"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29.png"/><Relationship Id="rId7"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1.png"/><Relationship Id="rId8"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github.com/milla-jovovich/mempalace" TargetMode="External"/><Relationship Id="rId4" Type="http://schemas.openxmlformats.org/officeDocument/2006/relationships/hyperlink" Target="https://arxiv.org/abs/2410.10813" TargetMode="External"/><Relationship Id="rId11" Type="http://schemas.openxmlformats.org/officeDocument/2006/relationships/hyperlink" Target="https://mempalaceofficial.com/concepts/aaak-dialect.html" TargetMode="External"/><Relationship Id="rId10" Type="http://schemas.openxmlformats.org/officeDocument/2006/relationships/hyperlink" Target="https://huggingface.co/sentence-transformers/all-MiniLM-L6-v2" TargetMode="External"/><Relationship Id="rId9" Type="http://schemas.openxmlformats.org/officeDocument/2006/relationships/hyperlink" Target="https://github.com/chroma-core/chroma" TargetMode="External"/><Relationship Id="rId5" Type="http://schemas.openxmlformats.org/officeDocument/2006/relationships/hyperlink" Target="https://arxiv.org/abs/2005.11401" TargetMode="External"/><Relationship Id="rId6" Type="http://schemas.openxmlformats.org/officeDocument/2006/relationships/hyperlink" Target="https://arxiv.org/abs/2504.19413" TargetMode="External"/><Relationship Id="rId7" Type="http://schemas.openxmlformats.org/officeDocument/2006/relationships/hyperlink" Target="https://arxiv.org/abs/2501.13956" TargetMode="External"/><Relationship Id="rId8" Type="http://schemas.openxmlformats.org/officeDocument/2006/relationships/hyperlink" Target="https://mastra.ai/research/observational-memor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73152"/>
          </a:xfrm>
          <a:prstGeom prst="rect">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5070348"/>
            <a:ext cx="9144000" cy="73152"/>
          </a:xfrm>
          <a:prstGeom prst="rect">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40080" y="914400"/>
            <a:ext cx="8229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5400"/>
              <a:buFont typeface="Georgia"/>
              <a:buNone/>
            </a:pPr>
            <a:r>
              <a:rPr b="1" i="0" lang="en-US" sz="5400" u="none" cap="none" strike="noStrike">
                <a:solidFill>
                  <a:srgbClr val="1A5276"/>
                </a:solidFill>
                <a:latin typeface="Georgia"/>
                <a:ea typeface="Georgia"/>
                <a:cs typeface="Georgia"/>
                <a:sym typeface="Georgia"/>
              </a:rPr>
              <a:t>MemPalace</a:t>
            </a:r>
            <a:endParaRPr b="0" i="0" sz="5400" u="none" cap="none" strike="noStrike">
              <a:solidFill>
                <a:schemeClr val="dk1"/>
              </a:solidFill>
              <a:latin typeface="Calibri"/>
              <a:ea typeface="Calibri"/>
              <a:cs typeface="Calibri"/>
              <a:sym typeface="Calibri"/>
            </a:endParaRPr>
          </a:p>
        </p:txBody>
      </p:sp>
      <p:sp>
        <p:nvSpPr>
          <p:cNvPr id="19" name="Google Shape;19;p3"/>
          <p:cNvSpPr/>
          <p:nvPr/>
        </p:nvSpPr>
        <p:spPr>
          <a:xfrm>
            <a:off x="640080" y="2103120"/>
            <a:ext cx="6400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800"/>
              <a:buFont typeface="Calibri"/>
              <a:buNone/>
            </a:pPr>
            <a:r>
              <a:rPr b="0" i="0" lang="en-US" sz="1800" u="none" cap="none" strike="noStrike">
                <a:solidFill>
                  <a:srgbClr val="566573"/>
                </a:solidFill>
                <a:latin typeface="Calibri"/>
                <a:ea typeface="Calibri"/>
                <a:cs typeface="Calibri"/>
                <a:sym typeface="Calibri"/>
              </a:rPr>
              <a:t>Wie eine Hollywood-Schauspielerin den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800"/>
              <a:buFont typeface="Calibri"/>
              <a:buNone/>
            </a:pPr>
            <a:r>
              <a:rPr b="0" i="0" lang="en-US" sz="1800" u="none" cap="none" strike="noStrike">
                <a:solidFill>
                  <a:srgbClr val="566573"/>
                </a:solidFill>
                <a:latin typeface="Calibri"/>
                <a:ea typeface="Calibri"/>
                <a:cs typeface="Calibri"/>
                <a:sym typeface="Calibri"/>
              </a:rPr>
              <a:t>SOTA-Benchmark für AI-Memory gesetzt hat</a:t>
            </a:r>
            <a:endParaRPr b="0" i="0" sz="1800" u="none" cap="none" strike="noStrike">
              <a:solidFill>
                <a:schemeClr val="dk1"/>
              </a:solidFill>
              <a:latin typeface="Calibri"/>
              <a:ea typeface="Calibri"/>
              <a:cs typeface="Calibri"/>
              <a:sym typeface="Calibri"/>
            </a:endParaRPr>
          </a:p>
        </p:txBody>
      </p:sp>
      <p:sp>
        <p:nvSpPr>
          <p:cNvPr id="20" name="Google Shape;20;p3"/>
          <p:cNvSpPr/>
          <p:nvPr/>
        </p:nvSpPr>
        <p:spPr>
          <a:xfrm>
            <a:off x="640080" y="35661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100"/>
              <a:buFont typeface="Consolas"/>
              <a:buNone/>
            </a:pPr>
            <a:r>
              <a:rPr b="0" i="0" lang="en-US" sz="1100" u="none" cap="none" strike="noStrike">
                <a:solidFill>
                  <a:srgbClr val="0E8C6B"/>
                </a:solidFill>
                <a:latin typeface="Consolas"/>
                <a:ea typeface="Consolas"/>
                <a:cs typeface="Consolas"/>
                <a:sym typeface="Consolas"/>
              </a:rPr>
              <a:t>github.com/milla-jovovich/mempalace</a:t>
            </a:r>
            <a:endParaRPr b="0" i="0" sz="1100" u="none" cap="none" strike="noStrike">
              <a:solidFill>
                <a:schemeClr val="dk1"/>
              </a:solidFill>
              <a:latin typeface="Calibri"/>
              <a:ea typeface="Calibri"/>
              <a:cs typeface="Calibri"/>
              <a:sym typeface="Calibri"/>
            </a:endParaRPr>
          </a:p>
        </p:txBody>
      </p:sp>
      <p:pic>
        <p:nvPicPr>
          <p:cNvPr descr="preencoded.png" id="21" name="Google Shape;21;p3"/>
          <p:cNvPicPr preferRelativeResize="0"/>
          <p:nvPr/>
        </p:nvPicPr>
        <p:blipFill rotWithShape="1">
          <a:blip r:embed="rId3">
            <a:alphaModFix/>
          </a:blip>
          <a:srcRect b="0" l="0" r="0" t="0"/>
          <a:stretch/>
        </p:blipFill>
        <p:spPr>
          <a:xfrm>
            <a:off x="640080" y="4023360"/>
            <a:ext cx="274320" cy="274320"/>
          </a:xfrm>
          <a:prstGeom prst="rect">
            <a:avLst/>
          </a:prstGeom>
          <a:noFill/>
          <a:ln>
            <a:noFill/>
          </a:ln>
        </p:spPr>
      </p:pic>
      <p:sp>
        <p:nvSpPr>
          <p:cNvPr id="22" name="Google Shape;22;p3"/>
          <p:cNvSpPr/>
          <p:nvPr/>
        </p:nvSpPr>
        <p:spPr>
          <a:xfrm>
            <a:off x="1005840" y="40233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alibri"/>
              <a:buNone/>
            </a:pPr>
            <a:r>
              <a:rPr b="0" i="0" lang="en-US" sz="1000" u="none" cap="none" strike="noStrike">
                <a:solidFill>
                  <a:srgbClr val="85929E"/>
                </a:solidFill>
                <a:latin typeface="Calibri"/>
                <a:ea typeface="Calibri"/>
                <a:cs typeface="Calibri"/>
                <a:sym typeface="Calibri"/>
              </a:rPr>
              <a:t>16k+ Stars  ·  MIT License  ·  v3.0.0  ·  April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457200" y="1101858"/>
            <a:ext cx="8229600" cy="292500"/>
          </a:xfrm>
          <a:prstGeom prst="rect">
            <a:avLst/>
          </a:prstGeom>
          <a:solidFill>
            <a:srgbClr val="0E8C6B">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466007" y="1779616"/>
            <a:ext cx="8229600" cy="292500"/>
          </a:xfrm>
          <a:prstGeom prst="rect">
            <a:avLst/>
          </a:prstGeom>
          <a:solidFill>
            <a:srgbClr val="0E8C6B">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457207" y="2441491"/>
            <a:ext cx="8229600" cy="292500"/>
          </a:xfrm>
          <a:prstGeom prst="rect">
            <a:avLst/>
          </a:prstGeom>
          <a:solidFill>
            <a:srgbClr val="0E8C6B">
              <a:alpha val="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66007" y="3099853"/>
            <a:ext cx="8229600" cy="292500"/>
          </a:xfrm>
          <a:prstGeom prst="rect">
            <a:avLst/>
          </a:prstGeom>
          <a:solidFill>
            <a:srgbClr val="0E8C6B">
              <a:alpha val="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Agenda — 180 Minuten</a:t>
            </a:r>
            <a:endParaRPr b="0" i="0" sz="2800" u="none" cap="none" strike="noStrike">
              <a:solidFill>
                <a:schemeClr val="dk1"/>
              </a:solidFill>
              <a:latin typeface="Calibri"/>
              <a:ea typeface="Calibri"/>
              <a:cs typeface="Calibri"/>
              <a:sym typeface="Calibri"/>
            </a:endParaRPr>
          </a:p>
        </p:txBody>
      </p:sp>
      <p:sp>
        <p:nvSpPr>
          <p:cNvPr id="33" name="Google Shape;33;p4"/>
          <p:cNvSpPr/>
          <p:nvPr/>
        </p:nvSpPr>
        <p:spPr>
          <a:xfrm>
            <a:off x="501239" y="777233"/>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Hook: Wer hat das gebaut?</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501239" y="1079379"/>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Das Problem + Kostenvergleich</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501239" y="1435601"/>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Think-Pair-Share: Verbatim vs. Summaries</a:t>
            </a:r>
            <a:endParaRPr b="0" i="0" sz="1200" u="none" cap="none" strike="noStrike">
              <a:solidFill>
                <a:schemeClr val="dk1"/>
              </a:solidFill>
              <a:latin typeface="Calibri"/>
              <a:ea typeface="Calibri"/>
              <a:cs typeface="Calibri"/>
              <a:sym typeface="Calibri"/>
            </a:endParaRPr>
          </a:p>
        </p:txBody>
      </p:sp>
      <p:sp>
        <p:nvSpPr>
          <p:cNvPr id="36" name="Google Shape;36;p4"/>
          <p:cNvSpPr/>
          <p:nvPr/>
        </p:nvSpPr>
        <p:spPr>
          <a:xfrm>
            <a:off x="501239" y="1757120"/>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Grundlagen: RAG, Embeddings, Vektorraum</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501239" y="2093969"/>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Cosine Similarity berechnen</a:t>
            </a:r>
            <a:endParaRPr b="0" i="0" sz="1200" u="none" cap="none" strike="noStrike">
              <a:solidFill>
                <a:schemeClr val="dk1"/>
              </a:solidFill>
              <a:latin typeface="Calibri"/>
              <a:ea typeface="Calibri"/>
              <a:cs typeface="Calibri"/>
              <a:sym typeface="Calibri"/>
            </a:endParaRPr>
          </a:p>
        </p:txBody>
      </p:sp>
      <p:sp>
        <p:nvSpPr>
          <p:cNvPr id="38" name="Google Shape;38;p4"/>
          <p:cNvSpPr/>
          <p:nvPr/>
        </p:nvSpPr>
        <p:spPr>
          <a:xfrm>
            <a:off x="501239" y="4672487"/>
            <a:ext cx="5303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27AE60"/>
                </a:solidFill>
                <a:latin typeface="Calibri"/>
                <a:ea typeface="Calibri"/>
                <a:cs typeface="Calibri"/>
                <a:sym typeface="Calibri"/>
              </a:rPr>
              <a:t>Pause</a:t>
            </a:r>
            <a:endParaRPr b="0" i="0" sz="1200" u="none" cap="none" strike="noStrike">
              <a:solidFill>
                <a:srgbClr val="27AE60"/>
              </a:solidFill>
              <a:latin typeface="Calibri"/>
              <a:ea typeface="Calibri"/>
              <a:cs typeface="Calibri"/>
              <a:sym typeface="Calibri"/>
            </a:endParaRPr>
          </a:p>
        </p:txBody>
      </p:sp>
      <p:sp>
        <p:nvSpPr>
          <p:cNvPr id="39" name="Google Shape;39;p4"/>
          <p:cNvSpPr/>
          <p:nvPr/>
        </p:nvSpPr>
        <p:spPr>
          <a:xfrm>
            <a:off x="7315200" y="2423160"/>
            <a:ext cx="1371600" cy="329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9E"/>
              </a:buClr>
              <a:buSzPts val="1000"/>
              <a:buFont typeface="Calibri"/>
              <a:buNone/>
            </a:pPr>
            <a:r>
              <a:rPr b="0" i="0" lang="en-US" sz="1000" u="none" cap="none" strike="noStrike">
                <a:solidFill>
                  <a:srgbClr val="85929E"/>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0" name="Google Shape;40;p4"/>
          <p:cNvSpPr/>
          <p:nvPr/>
        </p:nvSpPr>
        <p:spPr>
          <a:xfrm>
            <a:off x="501246" y="2430034"/>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Palace-Architektur + Method of Loci</a:t>
            </a:r>
            <a:endParaRPr b="0" i="0" sz="1200" u="none" cap="none" strike="noStrike">
              <a:solidFill>
                <a:schemeClr val="dk1"/>
              </a:solidFill>
              <a:latin typeface="Calibri"/>
              <a:ea typeface="Calibri"/>
              <a:cs typeface="Calibri"/>
              <a:sym typeface="Calibri"/>
            </a:endParaRPr>
          </a:p>
        </p:txBody>
      </p:sp>
      <p:sp>
        <p:nvSpPr>
          <p:cNvPr id="41" name="Google Shape;41;p4"/>
          <p:cNvSpPr/>
          <p:nvPr/>
        </p:nvSpPr>
        <p:spPr>
          <a:xfrm>
            <a:off x="501246" y="2732180"/>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Ingestion, Retrieval, AAAK, Knowledge Graph</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466000" y="3749049"/>
            <a:ext cx="8229600" cy="292500"/>
          </a:xfrm>
          <a:prstGeom prst="rect">
            <a:avLst/>
          </a:prstGeom>
          <a:solidFill>
            <a:srgbClr val="0E8C6B">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01246" y="3102930"/>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Übung: Ingestion + Retrieval simulieren</a:t>
            </a:r>
            <a:endParaRPr b="0" i="0" sz="1200" u="none" cap="none" strike="noStrike">
              <a:solidFill>
                <a:schemeClr val="dk1"/>
              </a:solidFill>
              <a:latin typeface="Calibri"/>
              <a:ea typeface="Calibri"/>
              <a:cs typeface="Calibri"/>
              <a:sym typeface="Calibri"/>
            </a:endParaRPr>
          </a:p>
        </p:txBody>
      </p:sp>
      <p:sp>
        <p:nvSpPr>
          <p:cNvPr id="44" name="Google Shape;44;p4"/>
          <p:cNvSpPr/>
          <p:nvPr/>
        </p:nvSpPr>
        <p:spPr>
          <a:xfrm>
            <a:off x="501246" y="3432114"/>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Benchmarks, Kontroverse, Vergleich</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501246" y="3732238"/>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Debatte</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457200" y="4379976"/>
            <a:ext cx="8229600" cy="292500"/>
          </a:xfrm>
          <a:prstGeom prst="rect">
            <a:avLst/>
          </a:prstGeom>
          <a:solidFill>
            <a:srgbClr val="0E8C6B">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01246" y="4071108"/>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Quiz / Kahoot</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501246" y="4371795"/>
            <a:ext cx="31029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Take-Aways + Q&amp;A</a:t>
            </a:r>
            <a:endParaRPr b="0" i="0" sz="1200" u="none" cap="none" strike="noStrike">
              <a:solidFill>
                <a:schemeClr val="dk1"/>
              </a:solidFill>
              <a:latin typeface="Calibri"/>
              <a:ea typeface="Calibri"/>
              <a:cs typeface="Calibri"/>
              <a:sym typeface="Calibri"/>
            </a:endParaRPr>
          </a:p>
        </p:txBody>
      </p:sp>
      <p:sp>
        <p:nvSpPr>
          <p:cNvPr id="49" name="Google Shape;49;p4"/>
          <p:cNvSpPr txBox="1"/>
          <p:nvPr/>
        </p:nvSpPr>
        <p:spPr>
          <a:xfrm>
            <a:off x="6653300" y="1055475"/>
            <a:ext cx="12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Ursache</a:t>
            </a:r>
            <a:endParaRPr>
              <a:solidFill>
                <a:schemeClr val="dk1"/>
              </a:solidFill>
            </a:endParaRPr>
          </a:p>
        </p:txBody>
      </p:sp>
      <p:sp>
        <p:nvSpPr>
          <p:cNvPr id="50" name="Google Shape;50;p4"/>
          <p:cNvSpPr txBox="1"/>
          <p:nvPr/>
        </p:nvSpPr>
        <p:spPr>
          <a:xfrm>
            <a:off x="6653300" y="1739313"/>
            <a:ext cx="12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Aufbau</a:t>
            </a:r>
            <a:endParaRPr>
              <a:solidFill>
                <a:schemeClr val="dk1"/>
              </a:solidFill>
            </a:endParaRPr>
          </a:p>
        </p:txBody>
      </p:sp>
      <p:sp>
        <p:nvSpPr>
          <p:cNvPr id="51" name="Google Shape;51;p4"/>
          <p:cNvSpPr txBox="1"/>
          <p:nvPr/>
        </p:nvSpPr>
        <p:spPr>
          <a:xfrm>
            <a:off x="6550425" y="3511375"/>
            <a:ext cx="261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2" name="Google Shape;52;p4"/>
          <p:cNvSpPr txBox="1"/>
          <p:nvPr/>
        </p:nvSpPr>
        <p:spPr>
          <a:xfrm>
            <a:off x="6653300" y="3366013"/>
            <a:ext cx="12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Leistung</a:t>
            </a:r>
            <a:endParaRPr>
              <a:solidFill>
                <a:schemeClr val="dk1"/>
              </a:solidFill>
            </a:endParaRPr>
          </a:p>
        </p:txBody>
      </p:sp>
      <p:sp>
        <p:nvSpPr>
          <p:cNvPr id="53" name="Google Shape;53;p4"/>
          <p:cNvSpPr txBox="1"/>
          <p:nvPr/>
        </p:nvSpPr>
        <p:spPr>
          <a:xfrm>
            <a:off x="6653300" y="4035550"/>
            <a:ext cx="137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Fazit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5"/>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61" name="Google Shape;61;p5"/>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Wer hat das gebaut?</a:t>
            </a:r>
            <a:endParaRPr b="0" i="0" sz="2800" u="none" cap="none" strike="noStrike">
              <a:solidFill>
                <a:schemeClr val="dk1"/>
              </a:solidFill>
              <a:latin typeface="Calibri"/>
              <a:ea typeface="Calibri"/>
              <a:cs typeface="Calibri"/>
              <a:sym typeface="Calibri"/>
            </a:endParaRPr>
          </a:p>
        </p:txBody>
      </p:sp>
      <p:sp>
        <p:nvSpPr>
          <p:cNvPr id="62" name="Google Shape;62;p5"/>
          <p:cNvSpPr/>
          <p:nvPr/>
        </p:nvSpPr>
        <p:spPr>
          <a:xfrm>
            <a:off x="457200" y="1188720"/>
            <a:ext cx="3840480" cy="32004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 name="Google Shape;63;p5"/>
          <p:cNvPicPr preferRelativeResize="0"/>
          <p:nvPr/>
        </p:nvPicPr>
        <p:blipFill rotWithShape="1">
          <a:blip r:embed="rId3">
            <a:alphaModFix/>
          </a:blip>
          <a:srcRect b="0" l="0" r="0" t="0"/>
          <a:stretch/>
        </p:blipFill>
        <p:spPr>
          <a:xfrm>
            <a:off x="731520" y="1463040"/>
            <a:ext cx="457200" cy="457200"/>
          </a:xfrm>
          <a:prstGeom prst="rect">
            <a:avLst/>
          </a:prstGeom>
          <a:noFill/>
          <a:ln>
            <a:noFill/>
          </a:ln>
        </p:spPr>
      </p:pic>
      <p:sp>
        <p:nvSpPr>
          <p:cNvPr id="64" name="Google Shape;64;p5"/>
          <p:cNvSpPr/>
          <p:nvPr/>
        </p:nvSpPr>
        <p:spPr>
          <a:xfrm>
            <a:off x="731520" y="2103120"/>
            <a:ext cx="32918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500"/>
              <a:buFont typeface="Georgia"/>
              <a:buNone/>
            </a:pPr>
            <a:r>
              <a:t/>
            </a:r>
            <a:endParaRPr b="0" i="0" sz="1500" u="none" cap="none" strike="noStrike">
              <a:solidFill>
                <a:schemeClr val="dk1"/>
              </a:solidFill>
              <a:latin typeface="Calibri"/>
              <a:ea typeface="Calibri"/>
              <a:cs typeface="Calibri"/>
              <a:sym typeface="Calibri"/>
            </a:endParaRPr>
          </a:p>
        </p:txBody>
      </p:sp>
      <p:sp>
        <p:nvSpPr>
          <p:cNvPr id="65" name="Google Shape;65;p5"/>
          <p:cNvSpPr/>
          <p:nvPr/>
        </p:nvSpPr>
        <p:spPr>
          <a:xfrm>
            <a:off x="1580464" y="2377438"/>
            <a:ext cx="166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200"/>
              <a:buFont typeface="Georgia"/>
              <a:buNone/>
            </a:pPr>
            <a:r>
              <a:rPr b="1" i="0" lang="en-US" sz="2200" u="none" cap="none" strike="noStrike">
                <a:solidFill>
                  <a:srgbClr val="1A5276"/>
                </a:solidFill>
                <a:latin typeface="Georgia"/>
                <a:ea typeface="Georgia"/>
                <a:cs typeface="Georgia"/>
                <a:sym typeface="Georgia"/>
              </a:rPr>
              <a:t>Wer ist es?</a:t>
            </a:r>
            <a:endParaRPr b="0" i="0" sz="2200" u="none" cap="none" strike="noStrike">
              <a:solidFill>
                <a:schemeClr val="dk1"/>
              </a:solidFill>
              <a:latin typeface="Calibri"/>
              <a:ea typeface="Calibri"/>
              <a:cs typeface="Calibri"/>
              <a:sym typeface="Calibri"/>
            </a:endParaRPr>
          </a:p>
        </p:txBody>
      </p:sp>
      <p:sp>
        <p:nvSpPr>
          <p:cNvPr id="66" name="Google Shape;66;p5"/>
          <p:cNvSpPr/>
          <p:nvPr/>
        </p:nvSpPr>
        <p:spPr>
          <a:xfrm>
            <a:off x="4754880" y="1188720"/>
            <a:ext cx="3931920" cy="32004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029200" y="1371600"/>
            <a:ext cx="914400" cy="274320"/>
          </a:xfrm>
          <a:prstGeom prst="rect">
            <a:avLst/>
          </a:prstGeom>
          <a:solidFill>
            <a:srgbClr val="0E8C6B"/>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onsolas"/>
              <a:buNone/>
            </a:pPr>
            <a:r>
              <a:rPr b="1" i="0" lang="en-US" sz="900" u="none" cap="none" strike="noStrike">
                <a:solidFill>
                  <a:srgbClr val="FFFFFF"/>
                </a:solidFill>
                <a:latin typeface="Consolas"/>
                <a:ea typeface="Consolas"/>
                <a:cs typeface="Consolas"/>
                <a:sym typeface="Consolas"/>
              </a:rPr>
              <a:t>REVEAL</a:t>
            </a:r>
            <a:endParaRPr b="0" i="0" sz="900" u="none" cap="none" strike="noStrike">
              <a:solidFill>
                <a:schemeClr val="dk1"/>
              </a:solidFill>
              <a:latin typeface="Calibri"/>
              <a:ea typeface="Calibri"/>
              <a:cs typeface="Calibri"/>
              <a:sym typeface="Calibri"/>
            </a:endParaRPr>
          </a:p>
        </p:txBody>
      </p:sp>
      <p:sp>
        <p:nvSpPr>
          <p:cNvPr id="68" name="Google Shape;68;p5"/>
          <p:cNvSpPr/>
          <p:nvPr/>
        </p:nvSpPr>
        <p:spPr>
          <a:xfrm>
            <a:off x="5029200" y="192024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2200"/>
              <a:buFont typeface="Georgia"/>
              <a:buNone/>
            </a:pPr>
            <a:r>
              <a:rPr b="1" i="0" lang="en-US" sz="2200" u="none" cap="none" strike="noStrike">
                <a:solidFill>
                  <a:srgbClr val="1C2833"/>
                </a:solidFill>
                <a:latin typeface="Georgia"/>
                <a:ea typeface="Georgia"/>
                <a:cs typeface="Georgia"/>
                <a:sym typeface="Georgia"/>
              </a:rPr>
              <a:t>Milla Jovovich</a:t>
            </a:r>
            <a:endParaRPr b="1" sz="2200">
              <a:solidFill>
                <a:srgbClr val="1C2833"/>
              </a:solidFill>
              <a:latin typeface="Georgia"/>
              <a:ea typeface="Georgia"/>
              <a:cs typeface="Georgia"/>
              <a:sym typeface="Georgia"/>
            </a:endParaRPr>
          </a:p>
        </p:txBody>
      </p:sp>
      <p:sp>
        <p:nvSpPr>
          <p:cNvPr id="69" name="Google Shape;69;p5"/>
          <p:cNvSpPr/>
          <p:nvPr/>
        </p:nvSpPr>
        <p:spPr>
          <a:xfrm>
            <a:off x="5029200" y="2377440"/>
            <a:ext cx="34747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Schauspielerin (Resident Evil, Das 5. Element)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github.com/milla-jovovich/mempalace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16k Stars  ·  MIT  ·  April 2026</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lang="en-US" sz="1100">
                <a:solidFill>
                  <a:srgbClr val="566573"/>
                </a:solidFill>
                <a:latin typeface="Calibri"/>
                <a:ea typeface="Calibri"/>
                <a:cs typeface="Calibri"/>
                <a:sym typeface="Calibri"/>
              </a:rPr>
              <a:t>Implementierung</a:t>
            </a:r>
            <a:r>
              <a:rPr b="0" i="0" lang="en-US" sz="1100" u="none" cap="none" strike="noStrike">
                <a:solidFill>
                  <a:srgbClr val="566573"/>
                </a:solidFill>
                <a:latin typeface="Calibri"/>
                <a:ea typeface="Calibri"/>
                <a:cs typeface="Calibri"/>
                <a:sym typeface="Calibri"/>
              </a:rPr>
              <a:t>: Ben Sigman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(CEO Libre Labs)</a:t>
            </a:r>
            <a:endParaRPr b="0" i="0" sz="11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6"/>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77" name="Google Shape;77;p6"/>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Das Problem: AI-Amnesie</a:t>
            </a:r>
            <a:endParaRPr b="0" i="0" sz="2800" u="none" cap="none" strike="noStrike">
              <a:solidFill>
                <a:schemeClr val="dk1"/>
              </a:solidFill>
              <a:latin typeface="Calibri"/>
              <a:ea typeface="Calibri"/>
              <a:cs typeface="Calibri"/>
              <a:sym typeface="Calibri"/>
            </a:endParaRPr>
          </a:p>
        </p:txBody>
      </p:sp>
      <p:sp>
        <p:nvSpPr>
          <p:cNvPr id="78" name="Google Shape;78;p6"/>
          <p:cNvSpPr/>
          <p:nvPr/>
        </p:nvSpPr>
        <p:spPr>
          <a:xfrm>
            <a:off x="457200" y="1188720"/>
            <a:ext cx="3657600" cy="146304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731520" y="1280160"/>
            <a:ext cx="32004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4200"/>
              <a:buFont typeface="Georgia"/>
              <a:buNone/>
            </a:pPr>
            <a:r>
              <a:rPr b="1" i="0" lang="en-US" sz="4200" u="none" cap="none" strike="noStrike">
                <a:solidFill>
                  <a:srgbClr val="1A5276"/>
                </a:solidFill>
                <a:latin typeface="Georgia"/>
                <a:ea typeface="Georgia"/>
                <a:cs typeface="Georgia"/>
                <a:sym typeface="Georgia"/>
              </a:rPr>
              <a:t>19,5 Mio</a:t>
            </a:r>
            <a:endParaRPr b="0" i="0" sz="4200" u="none" cap="none" strike="noStrike">
              <a:solidFill>
                <a:schemeClr val="dk1"/>
              </a:solidFill>
              <a:latin typeface="Calibri"/>
              <a:ea typeface="Calibri"/>
              <a:cs typeface="Calibri"/>
              <a:sym typeface="Calibri"/>
            </a:endParaRPr>
          </a:p>
        </p:txBody>
      </p:sp>
      <p:sp>
        <p:nvSpPr>
          <p:cNvPr id="80" name="Google Shape;80;p6"/>
          <p:cNvSpPr/>
          <p:nvPr/>
        </p:nvSpPr>
        <p:spPr>
          <a:xfrm>
            <a:off x="640075" y="2011675"/>
            <a:ext cx="3474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200" u="none" cap="none" strike="noStrike">
                <a:solidFill>
                  <a:srgbClr val="566573"/>
                </a:solidFill>
                <a:latin typeface="Calibri"/>
                <a:ea typeface="Calibri"/>
                <a:cs typeface="Calibri"/>
                <a:sym typeface="Calibri"/>
              </a:rPr>
              <a:t>Tokens in 6 Monaten täglicher AI-Nutzung.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200" u="none" cap="none" strike="noStrike">
                <a:solidFill>
                  <a:srgbClr val="566573"/>
                </a:solidFill>
                <a:latin typeface="Calibri"/>
                <a:ea typeface="Calibri"/>
                <a:cs typeface="Calibri"/>
                <a:sym typeface="Calibri"/>
              </a:rPr>
              <a:t>Entscheidungen, Debugging, Architektur — alles weg.</a:t>
            </a:r>
            <a:endParaRPr b="0" i="0" sz="1200" u="none" cap="none" strike="noStrike">
              <a:solidFill>
                <a:schemeClr val="dk1"/>
              </a:solidFill>
              <a:latin typeface="Calibri"/>
              <a:ea typeface="Calibri"/>
              <a:cs typeface="Calibri"/>
              <a:sym typeface="Calibri"/>
            </a:endParaRPr>
          </a:p>
        </p:txBody>
      </p:sp>
      <p:sp>
        <p:nvSpPr>
          <p:cNvPr id="81" name="Google Shape;81;p6"/>
          <p:cNvSpPr/>
          <p:nvPr/>
        </p:nvSpPr>
        <p:spPr>
          <a:xfrm>
            <a:off x="457200" y="3017520"/>
            <a:ext cx="2560320" cy="1737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640080" y="3200400"/>
            <a:ext cx="320040" cy="32004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 name="Google Shape;83;p6"/>
          <p:cNvPicPr preferRelativeResize="0"/>
          <p:nvPr/>
        </p:nvPicPr>
        <p:blipFill rotWithShape="1">
          <a:blip r:embed="rId3">
            <a:alphaModFix/>
          </a:blip>
          <a:srcRect b="0" l="0" r="0" t="0"/>
          <a:stretch/>
        </p:blipFill>
        <p:spPr>
          <a:xfrm>
            <a:off x="704088" y="3264408"/>
            <a:ext cx="192024" cy="192024"/>
          </a:xfrm>
          <a:prstGeom prst="rect">
            <a:avLst/>
          </a:prstGeom>
          <a:noFill/>
          <a:ln>
            <a:noFill/>
          </a:ln>
        </p:spPr>
      </p:pic>
      <p:sp>
        <p:nvSpPr>
          <p:cNvPr id="84" name="Google Shape;84;p6"/>
          <p:cNvSpPr/>
          <p:nvPr/>
        </p:nvSpPr>
        <p:spPr>
          <a:xfrm>
            <a:off x="1097280" y="320040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Georgia"/>
              <a:buNone/>
            </a:pPr>
            <a:r>
              <a:rPr b="1" i="0" lang="en-US" sz="1400" u="none" cap="none" strike="noStrike">
                <a:solidFill>
                  <a:srgbClr val="E74C3C"/>
                </a:solidFill>
                <a:latin typeface="Georgia"/>
                <a:ea typeface="Georgia"/>
                <a:cs typeface="Georgia"/>
                <a:sym typeface="Georgia"/>
              </a:rPr>
              <a:t>Long Context</a:t>
            </a:r>
            <a:endParaRPr b="0" i="0" sz="1400" u="none" cap="none" strike="noStrike">
              <a:solidFill>
                <a:schemeClr val="dk1"/>
              </a:solidFill>
              <a:latin typeface="Calibri"/>
              <a:ea typeface="Calibri"/>
              <a:cs typeface="Calibri"/>
              <a:sym typeface="Calibri"/>
            </a:endParaRPr>
          </a:p>
        </p:txBody>
      </p:sp>
      <p:sp>
        <p:nvSpPr>
          <p:cNvPr id="85" name="Google Shape;85;p6"/>
          <p:cNvSpPr/>
          <p:nvPr/>
        </p:nvSpPr>
        <p:spPr>
          <a:xfrm>
            <a:off x="640080" y="36576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lang="en-US" sz="1100">
                <a:solidFill>
                  <a:srgbClr val="1C2833"/>
                </a:solidFill>
                <a:latin typeface="Calibri"/>
                <a:ea typeface="Calibri"/>
                <a:cs typeface="Calibri"/>
                <a:sym typeface="Calibri"/>
              </a:rPr>
              <a:t>Informationen finden + alles kopieren und einfügen</a:t>
            </a:r>
            <a:endParaRPr b="0" i="0" sz="1100" u="none" cap="none" strike="noStrike">
              <a:solidFill>
                <a:schemeClr val="dk1"/>
              </a:solidFill>
              <a:latin typeface="Calibri"/>
              <a:ea typeface="Calibri"/>
              <a:cs typeface="Calibri"/>
              <a:sym typeface="Calibri"/>
            </a:endParaRPr>
          </a:p>
        </p:txBody>
      </p:sp>
      <p:sp>
        <p:nvSpPr>
          <p:cNvPr id="86" name="Google Shape;86;p6"/>
          <p:cNvSpPr/>
          <p:nvPr/>
        </p:nvSpPr>
        <p:spPr>
          <a:xfrm>
            <a:off x="640080" y="4114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alibri"/>
              <a:buNone/>
            </a:pPr>
            <a:r>
              <a:rPr b="0" i="1" lang="en-US" sz="1000" u="none" cap="none" strike="noStrike">
                <a:solidFill>
                  <a:srgbClr val="85929E"/>
                </a:solidFill>
                <a:latin typeface="Calibri"/>
                <a:ea typeface="Calibri"/>
                <a:cs typeface="Calibri"/>
                <a:sym typeface="Calibri"/>
              </a:rPr>
              <a:t>Passt nicht, zu teuer</a:t>
            </a:r>
            <a:endParaRPr b="0" i="0" sz="1000" u="none" cap="none" strike="noStrike">
              <a:solidFill>
                <a:schemeClr val="dk1"/>
              </a:solidFill>
              <a:latin typeface="Calibri"/>
              <a:ea typeface="Calibri"/>
              <a:cs typeface="Calibri"/>
              <a:sym typeface="Calibri"/>
            </a:endParaRPr>
          </a:p>
        </p:txBody>
      </p:sp>
      <p:sp>
        <p:nvSpPr>
          <p:cNvPr id="87" name="Google Shape;87;p6"/>
          <p:cNvSpPr/>
          <p:nvPr/>
        </p:nvSpPr>
        <p:spPr>
          <a:xfrm>
            <a:off x="3291840" y="3017520"/>
            <a:ext cx="2560320" cy="1737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474720" y="3200400"/>
            <a:ext cx="320040" cy="32004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6"/>
          <p:cNvPicPr preferRelativeResize="0"/>
          <p:nvPr/>
        </p:nvPicPr>
        <p:blipFill rotWithShape="1">
          <a:blip r:embed="rId4">
            <a:alphaModFix/>
          </a:blip>
          <a:srcRect b="0" l="0" r="0" t="0"/>
          <a:stretch/>
        </p:blipFill>
        <p:spPr>
          <a:xfrm>
            <a:off x="3538728" y="3264408"/>
            <a:ext cx="192024" cy="192024"/>
          </a:xfrm>
          <a:prstGeom prst="rect">
            <a:avLst/>
          </a:prstGeom>
          <a:noFill/>
          <a:ln>
            <a:noFill/>
          </a:ln>
        </p:spPr>
      </p:pic>
      <p:sp>
        <p:nvSpPr>
          <p:cNvPr id="90" name="Google Shape;90;p6"/>
          <p:cNvSpPr/>
          <p:nvPr/>
        </p:nvSpPr>
        <p:spPr>
          <a:xfrm>
            <a:off x="3931920" y="320040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400"/>
              <a:buFont typeface="Georgia"/>
              <a:buNone/>
            </a:pPr>
            <a:r>
              <a:rPr b="1" i="0" lang="en-US" sz="1400" u="none" cap="none" strike="noStrike">
                <a:solidFill>
                  <a:srgbClr val="E67E22"/>
                </a:solidFill>
                <a:latin typeface="Georgia"/>
                <a:ea typeface="Georgia"/>
                <a:cs typeface="Georgia"/>
                <a:sym typeface="Georgia"/>
              </a:rPr>
              <a:t>LLM Summaries</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3474720" y="36576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AI entscheidet, was wichtig ist</a:t>
            </a:r>
            <a:endParaRPr b="0" i="0" sz="1100" u="none" cap="none" strike="noStrike">
              <a:solidFill>
                <a:schemeClr val="dk1"/>
              </a:solidFill>
              <a:latin typeface="Calibri"/>
              <a:ea typeface="Calibri"/>
              <a:cs typeface="Calibri"/>
              <a:sym typeface="Calibri"/>
            </a:endParaRPr>
          </a:p>
        </p:txBody>
      </p:sp>
      <p:sp>
        <p:nvSpPr>
          <p:cNvPr id="92" name="Google Shape;92;p6"/>
          <p:cNvSpPr/>
          <p:nvPr/>
        </p:nvSpPr>
        <p:spPr>
          <a:xfrm>
            <a:off x="3474720" y="4114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alibri"/>
              <a:buNone/>
            </a:pPr>
            <a:r>
              <a:rPr b="0" i="1" lang="en-US" sz="1000" u="none" cap="none" strike="noStrike">
                <a:solidFill>
                  <a:srgbClr val="85929E"/>
                </a:solidFill>
                <a:latin typeface="Calibri"/>
                <a:ea typeface="Calibri"/>
                <a:cs typeface="Calibri"/>
                <a:sym typeface="Calibri"/>
              </a:rPr>
              <a:t>Begründungen gehen verloren</a:t>
            </a:r>
            <a:endParaRPr b="0" i="0" sz="1000" u="none" cap="none" strike="noStrike">
              <a:solidFill>
                <a:schemeClr val="dk1"/>
              </a:solidFill>
              <a:latin typeface="Calibri"/>
              <a:ea typeface="Calibri"/>
              <a:cs typeface="Calibri"/>
              <a:sym typeface="Calibri"/>
            </a:endParaRPr>
          </a:p>
        </p:txBody>
      </p:sp>
      <p:sp>
        <p:nvSpPr>
          <p:cNvPr id="93" name="Google Shape;93;p6"/>
          <p:cNvSpPr/>
          <p:nvPr/>
        </p:nvSpPr>
        <p:spPr>
          <a:xfrm>
            <a:off x="6126480" y="3017520"/>
            <a:ext cx="2560320" cy="1737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309360" y="3200400"/>
            <a:ext cx="320040" cy="32004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6"/>
          <p:cNvPicPr preferRelativeResize="0"/>
          <p:nvPr/>
        </p:nvPicPr>
        <p:blipFill rotWithShape="1">
          <a:blip r:embed="rId5">
            <a:alphaModFix/>
          </a:blip>
          <a:srcRect b="0" l="0" r="0" t="0"/>
          <a:stretch/>
        </p:blipFill>
        <p:spPr>
          <a:xfrm>
            <a:off x="6373368" y="3264408"/>
            <a:ext cx="192024" cy="192024"/>
          </a:xfrm>
          <a:prstGeom prst="rect">
            <a:avLst/>
          </a:prstGeom>
          <a:noFill/>
          <a:ln>
            <a:noFill/>
          </a:ln>
        </p:spPr>
      </p:pic>
      <p:sp>
        <p:nvSpPr>
          <p:cNvPr id="96" name="Google Shape;96;p6"/>
          <p:cNvSpPr/>
          <p:nvPr/>
        </p:nvSpPr>
        <p:spPr>
          <a:xfrm>
            <a:off x="6766560" y="3200400"/>
            <a:ext cx="1737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Georgia"/>
              <a:buNone/>
            </a:pPr>
            <a:r>
              <a:rPr b="1" i="0" lang="en-US" sz="1400" u="none" cap="none" strike="noStrike">
                <a:solidFill>
                  <a:srgbClr val="27AE60"/>
                </a:solidFill>
                <a:latin typeface="Georgia"/>
                <a:ea typeface="Georgia"/>
                <a:cs typeface="Georgia"/>
                <a:sym typeface="Georgia"/>
              </a:rPr>
              <a:t>MemPalace</a:t>
            </a:r>
            <a:endParaRPr b="0" i="0" sz="1400" u="none" cap="none" strike="noStrike">
              <a:solidFill>
                <a:schemeClr val="dk1"/>
              </a:solidFill>
              <a:latin typeface="Calibri"/>
              <a:ea typeface="Calibri"/>
              <a:cs typeface="Calibri"/>
              <a:sym typeface="Calibri"/>
            </a:endParaRPr>
          </a:p>
        </p:txBody>
      </p:sp>
      <p:sp>
        <p:nvSpPr>
          <p:cNvPr id="97" name="Google Shape;97;p6"/>
          <p:cNvSpPr/>
          <p:nvPr/>
        </p:nvSpPr>
        <p:spPr>
          <a:xfrm>
            <a:off x="6309360" y="36576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Alles speichern, findbar machen</a:t>
            </a:r>
            <a:endParaRPr b="0" i="0" sz="1100" u="none" cap="none" strike="noStrike">
              <a:solidFill>
                <a:schemeClr val="dk1"/>
              </a:solidFill>
              <a:latin typeface="Calibri"/>
              <a:ea typeface="Calibri"/>
              <a:cs typeface="Calibri"/>
              <a:sym typeface="Calibri"/>
            </a:endParaRPr>
          </a:p>
        </p:txBody>
      </p:sp>
      <p:sp>
        <p:nvSpPr>
          <p:cNvPr id="98" name="Google Shape;98;p6"/>
          <p:cNvSpPr/>
          <p:nvPr/>
        </p:nvSpPr>
        <p:spPr>
          <a:xfrm>
            <a:off x="6309360" y="411480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alibri"/>
              <a:buNone/>
            </a:pPr>
            <a:r>
              <a:rPr b="0" i="1" lang="en-US" sz="1000" u="none" cap="none" strike="noStrike">
                <a:solidFill>
                  <a:srgbClr val="85929E"/>
                </a:solidFill>
                <a:latin typeface="Calibri"/>
                <a:ea typeface="Calibri"/>
                <a:cs typeface="Calibri"/>
                <a:sym typeface="Calibri"/>
              </a:rPr>
              <a:t>Store everything, search smart</a:t>
            </a:r>
            <a:endParaRPr b="0" i="0" sz="1000" u="none" cap="none" strike="noStrike">
              <a:solidFill>
                <a:schemeClr val="dk1"/>
              </a:solidFill>
              <a:latin typeface="Calibri"/>
              <a:ea typeface="Calibri"/>
              <a:cs typeface="Calibri"/>
              <a:sym typeface="Calibri"/>
            </a:endParaRPr>
          </a:p>
        </p:txBody>
      </p:sp>
      <p:sp>
        <p:nvSpPr>
          <p:cNvPr id="99" name="Google Shape;99;p6"/>
          <p:cNvSpPr txBox="1"/>
          <p:nvPr/>
        </p:nvSpPr>
        <p:spPr>
          <a:xfrm>
            <a:off x="548614" y="4350325"/>
            <a:ext cx="237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rgbClr val="FF0000"/>
                </a:solidFill>
              </a:rPr>
              <a:t>97x über Context-Limit (19,5M / 200K); ~$58 pro Anfrage bei Sonnet </a:t>
            </a:r>
            <a:endParaRPr sz="9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7"/>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107" name="Google Shape;107;p7"/>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Kostenvergleich: Memory-Ansätze</a:t>
            </a:r>
            <a:endParaRPr b="0" i="0" sz="2800" u="none" cap="none" strike="noStrike">
              <a:solidFill>
                <a:schemeClr val="dk1"/>
              </a:solidFill>
              <a:latin typeface="Calibri"/>
              <a:ea typeface="Calibri"/>
              <a:cs typeface="Calibri"/>
              <a:sym typeface="Calibri"/>
            </a:endParaRPr>
          </a:p>
        </p:txBody>
      </p:sp>
      <p:sp>
        <p:nvSpPr>
          <p:cNvPr id="108" name="Google Shape;108;p7"/>
          <p:cNvSpPr/>
          <p:nvPr/>
        </p:nvSpPr>
        <p:spPr>
          <a:xfrm>
            <a:off x="914400" y="1188720"/>
            <a:ext cx="7040880" cy="502920"/>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914400" y="1188720"/>
            <a:ext cx="292608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85929E"/>
              </a:buClr>
              <a:buSzPts val="1100"/>
              <a:buFont typeface="Calibri"/>
              <a:buNone/>
            </a:pPr>
            <a:r>
              <a:rPr b="1" i="0" lang="en-US" sz="1100" u="none" cap="none" strike="noStrike">
                <a:solidFill>
                  <a:srgbClr val="85929E"/>
                </a:solidFill>
                <a:latin typeface="Calibri"/>
                <a:ea typeface="Calibri"/>
                <a:cs typeface="Calibri"/>
                <a:sym typeface="Calibri"/>
              </a:rPr>
              <a:t>Ansatz</a:t>
            </a:r>
            <a:endParaRPr b="0" i="0" sz="1100" u="none" cap="none" strike="noStrike">
              <a:solidFill>
                <a:schemeClr val="dk1"/>
              </a:solidFill>
              <a:latin typeface="Calibri"/>
              <a:ea typeface="Calibri"/>
              <a:cs typeface="Calibri"/>
              <a:sym typeface="Calibri"/>
            </a:endParaRPr>
          </a:p>
        </p:txBody>
      </p:sp>
      <p:sp>
        <p:nvSpPr>
          <p:cNvPr id="110" name="Google Shape;110;p7"/>
          <p:cNvSpPr/>
          <p:nvPr/>
        </p:nvSpPr>
        <p:spPr>
          <a:xfrm>
            <a:off x="3840480" y="1188720"/>
            <a:ext cx="18288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85929E"/>
              </a:buClr>
              <a:buSzPts val="1100"/>
              <a:buFont typeface="Calibri"/>
              <a:buNone/>
            </a:pPr>
            <a:r>
              <a:rPr b="1" i="0" lang="en-US" sz="1100" u="none" cap="none" strike="noStrike">
                <a:solidFill>
                  <a:srgbClr val="85929E"/>
                </a:solidFill>
                <a:latin typeface="Calibri"/>
                <a:ea typeface="Calibri"/>
                <a:cs typeface="Calibri"/>
                <a:sym typeface="Calibri"/>
              </a:rPr>
              <a:t>Tokens</a:t>
            </a:r>
            <a:endParaRPr b="0" i="0" sz="1100" u="none" cap="none" strike="noStrike">
              <a:solidFill>
                <a:schemeClr val="dk1"/>
              </a:solidFill>
              <a:latin typeface="Calibri"/>
              <a:ea typeface="Calibri"/>
              <a:cs typeface="Calibri"/>
              <a:sym typeface="Calibri"/>
            </a:endParaRPr>
          </a:p>
        </p:txBody>
      </p:sp>
      <p:sp>
        <p:nvSpPr>
          <p:cNvPr id="111" name="Google Shape;111;p7"/>
          <p:cNvSpPr/>
          <p:nvPr/>
        </p:nvSpPr>
        <p:spPr>
          <a:xfrm>
            <a:off x="5669280" y="1188720"/>
            <a:ext cx="22860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85929E"/>
              </a:buClr>
              <a:buSzPts val="1100"/>
              <a:buFont typeface="Calibri"/>
              <a:buNone/>
            </a:pPr>
            <a:r>
              <a:rPr b="1" i="0" lang="en-US" sz="1100" u="none" cap="none" strike="noStrike">
                <a:solidFill>
                  <a:srgbClr val="85929E"/>
                </a:solidFill>
                <a:latin typeface="Calibri"/>
                <a:ea typeface="Calibri"/>
                <a:cs typeface="Calibri"/>
                <a:sym typeface="Calibri"/>
              </a:rPr>
              <a:t>Kosten/Jahr</a:t>
            </a:r>
            <a:endParaRPr b="0" i="0" sz="1100" u="none" cap="none" strike="noStrike">
              <a:solidFill>
                <a:schemeClr val="dk1"/>
              </a:solidFill>
              <a:latin typeface="Calibri"/>
              <a:ea typeface="Calibri"/>
              <a:cs typeface="Calibri"/>
              <a:sym typeface="Calibri"/>
            </a:endParaRPr>
          </a:p>
        </p:txBody>
      </p:sp>
      <p:cxnSp>
        <p:nvCxnSpPr>
          <p:cNvPr id="112" name="Google Shape;112;p7"/>
          <p:cNvCxnSpPr/>
          <p:nvPr/>
        </p:nvCxnSpPr>
        <p:spPr>
          <a:xfrm>
            <a:off x="914400" y="1691640"/>
            <a:ext cx="7040880" cy="0"/>
          </a:xfrm>
          <a:prstGeom prst="straightConnector1">
            <a:avLst/>
          </a:prstGeom>
          <a:noFill/>
          <a:ln cap="flat" cmpd="sng" w="9525">
            <a:solidFill>
              <a:srgbClr val="D5D8DC"/>
            </a:solidFill>
            <a:prstDash val="solid"/>
            <a:round/>
            <a:headEnd len="sm" w="sm" type="none"/>
            <a:tailEnd len="sm" w="sm" type="none"/>
          </a:ln>
        </p:spPr>
      </p:cxnSp>
      <p:sp>
        <p:nvSpPr>
          <p:cNvPr id="113" name="Google Shape;113;p7"/>
          <p:cNvSpPr/>
          <p:nvPr/>
        </p:nvSpPr>
        <p:spPr>
          <a:xfrm>
            <a:off x="914400" y="1691640"/>
            <a:ext cx="292608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Alles pasten</a:t>
            </a:r>
            <a:endParaRPr b="0" i="0" sz="1400" u="none" cap="none" strike="noStrike">
              <a:solidFill>
                <a:schemeClr val="dk1"/>
              </a:solidFill>
              <a:latin typeface="Calibri"/>
              <a:ea typeface="Calibri"/>
              <a:cs typeface="Calibri"/>
              <a:sym typeface="Calibri"/>
            </a:endParaRPr>
          </a:p>
        </p:txBody>
      </p:sp>
      <p:sp>
        <p:nvSpPr>
          <p:cNvPr id="114" name="Google Shape;114;p7"/>
          <p:cNvSpPr/>
          <p:nvPr/>
        </p:nvSpPr>
        <p:spPr>
          <a:xfrm>
            <a:off x="3840480" y="1691640"/>
            <a:ext cx="18288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19,5M</a:t>
            </a:r>
            <a:endParaRPr b="0" i="0" sz="1400" u="none" cap="none" strike="noStrike">
              <a:solidFill>
                <a:schemeClr val="dk1"/>
              </a:solidFill>
              <a:latin typeface="Calibri"/>
              <a:ea typeface="Calibri"/>
              <a:cs typeface="Calibri"/>
              <a:sym typeface="Calibri"/>
            </a:endParaRPr>
          </a:p>
        </p:txBody>
      </p:sp>
      <p:sp>
        <p:nvSpPr>
          <p:cNvPr id="115" name="Google Shape;115;p7"/>
          <p:cNvSpPr/>
          <p:nvPr/>
        </p:nvSpPr>
        <p:spPr>
          <a:xfrm>
            <a:off x="5669275" y="1725950"/>
            <a:ext cx="2664300" cy="36570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E74C3C"/>
              </a:buClr>
              <a:buSzPts val="1400"/>
              <a:buFont typeface="Calibri"/>
              <a:buNone/>
            </a:pPr>
            <a:r>
              <a:rPr lang="en-US">
                <a:solidFill>
                  <a:srgbClr val="E74C3C"/>
                </a:solidFill>
                <a:latin typeface="Calibri"/>
                <a:ea typeface="Calibri"/>
                <a:cs typeface="Calibri"/>
                <a:sym typeface="Calibri"/>
              </a:rPr>
              <a:t>~$58*97 pro Anfrage bei Sonnet </a:t>
            </a:r>
            <a:endParaRPr b="0" i="0" sz="1400" u="none" cap="none" strike="noStrike">
              <a:solidFill>
                <a:schemeClr val="dk1"/>
              </a:solidFill>
              <a:latin typeface="Calibri"/>
              <a:ea typeface="Calibri"/>
              <a:cs typeface="Calibri"/>
              <a:sym typeface="Calibri"/>
            </a:endParaRPr>
          </a:p>
        </p:txBody>
      </p:sp>
      <p:cxnSp>
        <p:nvCxnSpPr>
          <p:cNvPr id="116" name="Google Shape;116;p7"/>
          <p:cNvCxnSpPr/>
          <p:nvPr/>
        </p:nvCxnSpPr>
        <p:spPr>
          <a:xfrm>
            <a:off x="914400" y="2194560"/>
            <a:ext cx="7040880" cy="0"/>
          </a:xfrm>
          <a:prstGeom prst="straightConnector1">
            <a:avLst/>
          </a:prstGeom>
          <a:noFill/>
          <a:ln cap="flat" cmpd="sng" w="9525">
            <a:solidFill>
              <a:srgbClr val="D5D8DC"/>
            </a:solidFill>
            <a:prstDash val="solid"/>
            <a:round/>
            <a:headEnd len="sm" w="sm" type="none"/>
            <a:tailEnd len="sm" w="sm" type="none"/>
          </a:ln>
        </p:spPr>
      </p:cxnSp>
      <p:sp>
        <p:nvSpPr>
          <p:cNvPr id="117" name="Google Shape;117;p7"/>
          <p:cNvSpPr/>
          <p:nvPr/>
        </p:nvSpPr>
        <p:spPr>
          <a:xfrm>
            <a:off x="914400" y="2194560"/>
            <a:ext cx="292608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LLM Summaries</a:t>
            </a:r>
            <a:endParaRPr b="0" i="0" sz="1400" u="none" cap="none" strike="noStrike">
              <a:solidFill>
                <a:schemeClr val="dk1"/>
              </a:solidFill>
              <a:latin typeface="Calibri"/>
              <a:ea typeface="Calibri"/>
              <a:cs typeface="Calibri"/>
              <a:sym typeface="Calibri"/>
            </a:endParaRPr>
          </a:p>
        </p:txBody>
      </p:sp>
      <p:sp>
        <p:nvSpPr>
          <p:cNvPr id="118" name="Google Shape;118;p7"/>
          <p:cNvSpPr/>
          <p:nvPr/>
        </p:nvSpPr>
        <p:spPr>
          <a:xfrm>
            <a:off x="3840480" y="2194560"/>
            <a:ext cx="18288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~650K</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5669280" y="2194560"/>
            <a:ext cx="22860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E67E22"/>
              </a:buClr>
              <a:buSzPts val="1400"/>
              <a:buFont typeface="Calibri"/>
              <a:buNone/>
            </a:pPr>
            <a:r>
              <a:rPr b="0" i="0" lang="en-US" sz="1400" u="none" cap="none" strike="noStrike">
                <a:solidFill>
                  <a:srgbClr val="E67E22"/>
                </a:solidFill>
                <a:latin typeface="Calibri"/>
                <a:ea typeface="Calibri"/>
                <a:cs typeface="Calibri"/>
                <a:sym typeface="Calibri"/>
              </a:rPr>
              <a:t>~$507</a:t>
            </a:r>
            <a:endParaRPr b="0" i="0" sz="1400" u="none" cap="none" strike="noStrike">
              <a:solidFill>
                <a:schemeClr val="dk1"/>
              </a:solidFill>
              <a:latin typeface="Calibri"/>
              <a:ea typeface="Calibri"/>
              <a:cs typeface="Calibri"/>
              <a:sym typeface="Calibri"/>
            </a:endParaRPr>
          </a:p>
        </p:txBody>
      </p:sp>
      <p:cxnSp>
        <p:nvCxnSpPr>
          <p:cNvPr id="120" name="Google Shape;120;p7"/>
          <p:cNvCxnSpPr/>
          <p:nvPr/>
        </p:nvCxnSpPr>
        <p:spPr>
          <a:xfrm>
            <a:off x="914400" y="2697480"/>
            <a:ext cx="7040880" cy="0"/>
          </a:xfrm>
          <a:prstGeom prst="straightConnector1">
            <a:avLst/>
          </a:prstGeom>
          <a:noFill/>
          <a:ln cap="flat" cmpd="sng" w="9525">
            <a:solidFill>
              <a:srgbClr val="D5D8DC"/>
            </a:solidFill>
            <a:prstDash val="solid"/>
            <a:round/>
            <a:headEnd len="sm" w="sm" type="none"/>
            <a:tailEnd len="sm" w="sm" type="none"/>
          </a:ln>
        </p:spPr>
      </p:cxnSp>
      <p:sp>
        <p:nvSpPr>
          <p:cNvPr id="121" name="Google Shape;121;p7"/>
          <p:cNvSpPr/>
          <p:nvPr/>
        </p:nvSpPr>
        <p:spPr>
          <a:xfrm>
            <a:off x="914400" y="2697480"/>
            <a:ext cx="292608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MemPalace wake-up</a:t>
            </a:r>
            <a:endParaRPr b="0" i="0" sz="1400" u="none" cap="none" strike="noStrike">
              <a:solidFill>
                <a:schemeClr val="dk1"/>
              </a:solidFill>
              <a:latin typeface="Calibri"/>
              <a:ea typeface="Calibri"/>
              <a:cs typeface="Calibri"/>
              <a:sym typeface="Calibri"/>
            </a:endParaRPr>
          </a:p>
        </p:txBody>
      </p:sp>
      <p:sp>
        <p:nvSpPr>
          <p:cNvPr id="122" name="Google Shape;122;p7"/>
          <p:cNvSpPr/>
          <p:nvPr/>
        </p:nvSpPr>
        <p:spPr>
          <a:xfrm>
            <a:off x="3840480" y="2697480"/>
            <a:ext cx="18288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~170</a:t>
            </a:r>
            <a:endParaRPr b="0" i="0" sz="1400" u="none" cap="none" strike="noStrike">
              <a:solidFill>
                <a:schemeClr val="dk1"/>
              </a:solidFill>
              <a:latin typeface="Calibri"/>
              <a:ea typeface="Calibri"/>
              <a:cs typeface="Calibri"/>
              <a:sym typeface="Calibri"/>
            </a:endParaRPr>
          </a:p>
        </p:txBody>
      </p:sp>
      <p:sp>
        <p:nvSpPr>
          <p:cNvPr id="123" name="Google Shape;123;p7"/>
          <p:cNvSpPr/>
          <p:nvPr/>
        </p:nvSpPr>
        <p:spPr>
          <a:xfrm>
            <a:off x="5669280" y="2697480"/>
            <a:ext cx="22860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27AE60"/>
              </a:buClr>
              <a:buSzPts val="1400"/>
              <a:buFont typeface="Calibri"/>
              <a:buNone/>
            </a:pPr>
            <a:r>
              <a:rPr b="0" i="0" lang="en-US" sz="1400" u="none" cap="none" strike="noStrike">
                <a:solidFill>
                  <a:srgbClr val="27AE60"/>
                </a:solidFill>
                <a:latin typeface="Calibri"/>
                <a:ea typeface="Calibri"/>
                <a:cs typeface="Calibri"/>
                <a:sym typeface="Calibri"/>
              </a:rPr>
              <a:t>~$0,70</a:t>
            </a:r>
            <a:endParaRPr b="0" i="0" sz="1400" u="none" cap="none" strike="noStrike">
              <a:solidFill>
                <a:schemeClr val="dk1"/>
              </a:solidFill>
              <a:latin typeface="Calibri"/>
              <a:ea typeface="Calibri"/>
              <a:cs typeface="Calibri"/>
              <a:sym typeface="Calibri"/>
            </a:endParaRPr>
          </a:p>
        </p:txBody>
      </p:sp>
      <p:cxnSp>
        <p:nvCxnSpPr>
          <p:cNvPr id="124" name="Google Shape;124;p7"/>
          <p:cNvCxnSpPr/>
          <p:nvPr/>
        </p:nvCxnSpPr>
        <p:spPr>
          <a:xfrm>
            <a:off x="914400" y="3200400"/>
            <a:ext cx="7040880" cy="0"/>
          </a:xfrm>
          <a:prstGeom prst="straightConnector1">
            <a:avLst/>
          </a:prstGeom>
          <a:noFill/>
          <a:ln cap="flat" cmpd="sng" w="9525">
            <a:solidFill>
              <a:srgbClr val="D5D8DC"/>
            </a:solidFill>
            <a:prstDash val="solid"/>
            <a:round/>
            <a:headEnd len="sm" w="sm" type="none"/>
            <a:tailEnd len="sm" w="sm" type="none"/>
          </a:ln>
        </p:spPr>
      </p:cxnSp>
      <p:sp>
        <p:nvSpPr>
          <p:cNvPr id="125" name="Google Shape;125;p7"/>
          <p:cNvSpPr/>
          <p:nvPr/>
        </p:nvSpPr>
        <p:spPr>
          <a:xfrm>
            <a:off x="914400" y="3200400"/>
            <a:ext cx="292608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MemPalace + 5 Searches/Tag</a:t>
            </a:r>
            <a:endParaRPr b="0" i="0" sz="1400" u="none" cap="none" strike="noStrike">
              <a:solidFill>
                <a:schemeClr val="dk1"/>
              </a:solidFill>
              <a:latin typeface="Calibri"/>
              <a:ea typeface="Calibri"/>
              <a:cs typeface="Calibri"/>
              <a:sym typeface="Calibri"/>
            </a:endParaRPr>
          </a:p>
        </p:txBody>
      </p:sp>
      <p:sp>
        <p:nvSpPr>
          <p:cNvPr id="126" name="Google Shape;126;p7"/>
          <p:cNvSpPr/>
          <p:nvPr/>
        </p:nvSpPr>
        <p:spPr>
          <a:xfrm>
            <a:off x="3840480" y="3200400"/>
            <a:ext cx="18288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1C2833"/>
              </a:buClr>
              <a:buSzPts val="1400"/>
              <a:buFont typeface="Calibri"/>
              <a:buNone/>
            </a:pPr>
            <a:r>
              <a:rPr b="0" i="0" lang="en-US" sz="1400" u="none" cap="none" strike="noStrike">
                <a:solidFill>
                  <a:srgbClr val="1C2833"/>
                </a:solidFill>
                <a:latin typeface="Calibri"/>
                <a:ea typeface="Calibri"/>
                <a:cs typeface="Calibri"/>
                <a:sym typeface="Calibri"/>
              </a:rPr>
              <a:t>~13.500</a:t>
            </a:r>
            <a:endParaRPr b="0" i="0" sz="1400" u="none" cap="none" strike="noStrike">
              <a:solidFill>
                <a:schemeClr val="dk1"/>
              </a:solidFill>
              <a:latin typeface="Calibri"/>
              <a:ea typeface="Calibri"/>
              <a:cs typeface="Calibri"/>
              <a:sym typeface="Calibri"/>
            </a:endParaRPr>
          </a:p>
        </p:txBody>
      </p:sp>
      <p:sp>
        <p:nvSpPr>
          <p:cNvPr id="127" name="Google Shape;127;p7"/>
          <p:cNvSpPr/>
          <p:nvPr/>
        </p:nvSpPr>
        <p:spPr>
          <a:xfrm>
            <a:off x="5669280" y="3200400"/>
            <a:ext cx="2286000" cy="502920"/>
          </a:xfrm>
          <a:prstGeom prst="rect">
            <a:avLst/>
          </a:prstGeom>
          <a:noFill/>
          <a:ln>
            <a:noFill/>
          </a:ln>
        </p:spPr>
        <p:txBody>
          <a:bodyPr anchorCtr="0" anchor="ctr" bIns="0" lIns="0" spcFirstLastPara="1" rIns="0" wrap="square" tIns="127000">
            <a:noAutofit/>
          </a:bodyPr>
          <a:lstStyle/>
          <a:p>
            <a:pPr indent="0" lvl="0" marL="0" marR="0" rtl="0" algn="l">
              <a:spcBef>
                <a:spcPts val="0"/>
              </a:spcBef>
              <a:spcAft>
                <a:spcPts val="0"/>
              </a:spcAft>
              <a:buClr>
                <a:srgbClr val="27AE60"/>
              </a:buClr>
              <a:buSzPts val="1400"/>
              <a:buFont typeface="Calibri"/>
              <a:buNone/>
            </a:pPr>
            <a:r>
              <a:rPr b="0" i="0" lang="en-US" sz="1400" u="none" cap="none" strike="noStrike">
                <a:solidFill>
                  <a:srgbClr val="27AE60"/>
                </a:solidFill>
                <a:latin typeface="Calibri"/>
                <a:ea typeface="Calibri"/>
                <a:cs typeface="Calibri"/>
                <a:sym typeface="Calibri"/>
              </a:rPr>
              <a:t>~$10</a:t>
            </a:r>
            <a:endParaRPr b="0" i="0" sz="1400" u="none" cap="none" strike="noStrike">
              <a:solidFill>
                <a:schemeClr val="dk1"/>
              </a:solidFill>
              <a:latin typeface="Calibri"/>
              <a:ea typeface="Calibri"/>
              <a:cs typeface="Calibri"/>
              <a:sym typeface="Calibri"/>
            </a:endParaRPr>
          </a:p>
        </p:txBody>
      </p:sp>
      <p:sp>
        <p:nvSpPr>
          <p:cNvPr id="128" name="Google Shape;128;p7"/>
          <p:cNvSpPr/>
          <p:nvPr/>
        </p:nvSpPr>
        <p:spPr>
          <a:xfrm>
            <a:off x="914400" y="3840480"/>
            <a:ext cx="7040880" cy="8229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7"/>
          <p:cNvPicPr preferRelativeResize="0"/>
          <p:nvPr/>
        </p:nvPicPr>
        <p:blipFill rotWithShape="1">
          <a:blip r:embed="rId3">
            <a:alphaModFix/>
          </a:blip>
          <a:srcRect b="0" l="0" r="0" t="0"/>
          <a:stretch/>
        </p:blipFill>
        <p:spPr>
          <a:xfrm>
            <a:off x="1188720" y="3977640"/>
            <a:ext cx="365760" cy="365760"/>
          </a:xfrm>
          <a:prstGeom prst="rect">
            <a:avLst/>
          </a:prstGeom>
          <a:noFill/>
          <a:ln>
            <a:noFill/>
          </a:ln>
        </p:spPr>
      </p:pic>
      <p:sp>
        <p:nvSpPr>
          <p:cNvPr id="130" name="Google Shape;130;p7"/>
          <p:cNvSpPr/>
          <p:nvPr/>
        </p:nvSpPr>
        <p:spPr>
          <a:xfrm>
            <a:off x="1737360" y="3931920"/>
            <a:ext cx="5943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170 Tokens beim Wake-up = Team, Projekte, Preferences.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Deep Search nur on-demand. Das ist der Effizienz-Kern.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8"/>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138" name="Google Shape;138;p8"/>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Think-Pair-Share #1</a:t>
            </a:r>
            <a:endParaRPr b="0" i="0" sz="2800" u="none" cap="none" strike="noStrike">
              <a:solidFill>
                <a:schemeClr val="dk1"/>
              </a:solidFill>
              <a:latin typeface="Calibri"/>
              <a:ea typeface="Calibri"/>
              <a:cs typeface="Calibri"/>
              <a:sym typeface="Calibri"/>
            </a:endParaRPr>
          </a:p>
        </p:txBody>
      </p:sp>
      <p:sp>
        <p:nvSpPr>
          <p:cNvPr id="139" name="Google Shape;139;p8"/>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7 Minuten interaktiv</a:t>
            </a:r>
            <a:endParaRPr b="0" i="0" sz="1200" u="none" cap="none" strike="noStrike">
              <a:solidFill>
                <a:schemeClr val="dk1"/>
              </a:solidFill>
              <a:latin typeface="Calibri"/>
              <a:ea typeface="Calibri"/>
              <a:cs typeface="Calibri"/>
              <a:sym typeface="Calibri"/>
            </a:endParaRPr>
          </a:p>
        </p:txBody>
      </p:sp>
      <p:sp>
        <p:nvSpPr>
          <p:cNvPr id="140" name="Google Shape;140;p8"/>
          <p:cNvSpPr/>
          <p:nvPr/>
        </p:nvSpPr>
        <p:spPr>
          <a:xfrm>
            <a:off x="457200" y="1188720"/>
            <a:ext cx="8229600" cy="1737360"/>
          </a:xfrm>
          <a:prstGeom prst="rect">
            <a:avLst/>
          </a:prstGeom>
          <a:solidFill>
            <a:srgbClr val="EEF2F7"/>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 name="Google Shape;141;p8"/>
          <p:cNvPicPr preferRelativeResize="0"/>
          <p:nvPr/>
        </p:nvPicPr>
        <p:blipFill rotWithShape="1">
          <a:blip r:embed="rId3">
            <a:alphaModFix/>
          </a:blip>
          <a:srcRect b="0" l="0" r="0" t="0"/>
          <a:stretch/>
        </p:blipFill>
        <p:spPr>
          <a:xfrm>
            <a:off x="731520" y="1371600"/>
            <a:ext cx="411480" cy="411480"/>
          </a:xfrm>
          <a:prstGeom prst="rect">
            <a:avLst/>
          </a:prstGeom>
          <a:noFill/>
          <a:ln>
            <a:noFill/>
          </a:ln>
        </p:spPr>
      </p:pic>
      <p:sp>
        <p:nvSpPr>
          <p:cNvPr id="142" name="Google Shape;142;p8"/>
          <p:cNvSpPr/>
          <p:nvPr/>
        </p:nvSpPr>
        <p:spPr>
          <a:xfrm>
            <a:off x="1371600" y="1280160"/>
            <a:ext cx="71323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400"/>
              <a:buFont typeface="Georgia"/>
              <a:buNone/>
            </a:pPr>
            <a:r>
              <a:rPr b="0" i="0" lang="en-US" sz="1400" u="none" cap="none" strike="noStrike">
                <a:solidFill>
                  <a:srgbClr val="1C2833"/>
                </a:solidFill>
                <a:latin typeface="Georgia"/>
                <a:ea typeface="Georgia"/>
                <a:cs typeface="Georgia"/>
                <a:sym typeface="Georgia"/>
              </a:rPr>
              <a:t>Mem</a:t>
            </a:r>
            <a:r>
              <a:rPr i="0" lang="en-US" sz="1400" u="none" cap="none" strike="noStrike">
                <a:solidFill>
                  <a:srgbClr val="1C2833"/>
                </a:solidFill>
                <a:latin typeface="Calibri"/>
                <a:ea typeface="Calibri"/>
                <a:cs typeface="Calibri"/>
                <a:sym typeface="Calibri"/>
              </a:rPr>
              <a:t>0</a:t>
            </a:r>
            <a:r>
              <a:rPr b="0" i="0" lang="en-US" sz="1400" u="none" cap="none" strike="noStrike">
                <a:solidFill>
                  <a:srgbClr val="1C2833"/>
                </a:solidFill>
                <a:latin typeface="Georgia"/>
                <a:ea typeface="Georgia"/>
                <a:cs typeface="Georgia"/>
                <a:sym typeface="Georgia"/>
              </a:rPr>
              <a:t>/Zep nutzen LLMs zum Filtern und Extrahieren.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400"/>
              <a:buFont typeface="Georgia"/>
              <a:buNone/>
            </a:pPr>
            <a:r>
              <a:rPr b="0" i="0" lang="en-US" sz="1400" u="none" cap="none" strike="noStrike">
                <a:solidFill>
                  <a:srgbClr val="1C2833"/>
                </a:solidFill>
                <a:latin typeface="Georgia"/>
                <a:ea typeface="Georgia"/>
                <a:cs typeface="Georgia"/>
                <a:sym typeface="Georgia"/>
              </a:rPr>
              <a:t>MemPalace speichert alles verbatim.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400"/>
              <a:buFont typeface="Georgia"/>
              <a:buNone/>
            </a:pPr>
            <a:r>
              <a:rPr b="0" i="0" lang="en-US" sz="1400" u="none" cap="none" strike="noStrike">
                <a:solidFill>
                  <a:srgbClr val="1C2833"/>
                </a:solidFill>
                <a:latin typeface="Georgia"/>
                <a:ea typeface="Georgia"/>
                <a:cs typeface="Georgia"/>
                <a:sym typeface="Georgia"/>
              </a:rPr>
              <a:t>Nennt je 2 Vor- und Nachteile beider Ansätze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400"/>
              <a:buFont typeface="Georgia"/>
              <a:buNone/>
            </a:pPr>
            <a:r>
              <a:rPr b="0" i="0" lang="en-US" sz="1400" u="none" cap="none" strike="noStrike">
                <a:solidFill>
                  <a:srgbClr val="1C2833"/>
                </a:solidFill>
                <a:latin typeface="Georgia"/>
                <a:ea typeface="Georgia"/>
                <a:cs typeface="Georgia"/>
                <a:sym typeface="Georgia"/>
              </a:rPr>
              <a:t>technisch UND praktisch (Datenschutz, Kosten, Halluzinationen).</a:t>
            </a:r>
            <a:endParaRPr b="0" i="0" sz="1400" u="none" cap="none" strike="noStrike">
              <a:solidFill>
                <a:schemeClr val="dk1"/>
              </a:solidFill>
              <a:latin typeface="Calibri"/>
              <a:ea typeface="Calibri"/>
              <a:cs typeface="Calibri"/>
              <a:sym typeface="Calibri"/>
            </a:endParaRPr>
          </a:p>
        </p:txBody>
      </p:sp>
      <p:sp>
        <p:nvSpPr>
          <p:cNvPr id="143" name="Google Shape;143;p8"/>
          <p:cNvSpPr/>
          <p:nvPr/>
        </p:nvSpPr>
        <p:spPr>
          <a:xfrm>
            <a:off x="457200" y="3291840"/>
            <a:ext cx="2560320" cy="109728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640080" y="3383280"/>
            <a:ext cx="1005840" cy="274320"/>
          </a:xfrm>
          <a:prstGeom prst="rect">
            <a:avLst/>
          </a:prstGeom>
          <a:solidFill>
            <a:srgbClr val="1A5276"/>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THINK</a:t>
            </a:r>
            <a:endParaRPr b="0" i="0" sz="1000" u="none" cap="none" strike="noStrike">
              <a:solidFill>
                <a:schemeClr val="dk1"/>
              </a:solidFill>
              <a:latin typeface="Calibri"/>
              <a:ea typeface="Calibri"/>
              <a:cs typeface="Calibri"/>
              <a:sym typeface="Calibri"/>
            </a:endParaRPr>
          </a:p>
        </p:txBody>
      </p:sp>
      <p:sp>
        <p:nvSpPr>
          <p:cNvPr id="145" name="Google Shape;145;p8"/>
          <p:cNvSpPr/>
          <p:nvPr/>
        </p:nvSpPr>
        <p:spPr>
          <a:xfrm>
            <a:off x="1828800" y="342900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0" i="0" lang="en-US" sz="1100" u="none" cap="none" strike="noStrike">
                <a:solidFill>
                  <a:srgbClr val="1A5276"/>
                </a:solidFill>
                <a:latin typeface="Consolas"/>
                <a:ea typeface="Consolas"/>
                <a:cs typeface="Consolas"/>
                <a:sym typeface="Consolas"/>
              </a:rPr>
              <a:t>2 min</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640080" y="379476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Einzelarbeit, Notizen</a:t>
            </a:r>
            <a:endParaRPr b="0" i="0" sz="1100" u="none" cap="none" strike="noStrike">
              <a:solidFill>
                <a:schemeClr val="dk1"/>
              </a:solidFill>
              <a:latin typeface="Calibri"/>
              <a:ea typeface="Calibri"/>
              <a:cs typeface="Calibri"/>
              <a:sym typeface="Calibri"/>
            </a:endParaRPr>
          </a:p>
        </p:txBody>
      </p:sp>
      <p:sp>
        <p:nvSpPr>
          <p:cNvPr id="147" name="Google Shape;147;p8"/>
          <p:cNvSpPr/>
          <p:nvPr/>
        </p:nvSpPr>
        <p:spPr>
          <a:xfrm>
            <a:off x="3291840" y="3291840"/>
            <a:ext cx="2560320" cy="109728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3474720" y="3383280"/>
            <a:ext cx="1005840" cy="274320"/>
          </a:xfrm>
          <a:prstGeom prst="rect">
            <a:avLst/>
          </a:prstGeom>
          <a:solidFill>
            <a:srgbClr val="7D3C98"/>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PAIR</a:t>
            </a:r>
            <a:endParaRPr b="0" i="0" sz="1000" u="none" cap="none" strike="noStrike">
              <a:solidFill>
                <a:schemeClr val="dk1"/>
              </a:solidFill>
              <a:latin typeface="Calibri"/>
              <a:ea typeface="Calibri"/>
              <a:cs typeface="Calibri"/>
              <a:sym typeface="Calibri"/>
            </a:endParaRPr>
          </a:p>
        </p:txBody>
      </p:sp>
      <p:sp>
        <p:nvSpPr>
          <p:cNvPr id="149" name="Google Shape;149;p8"/>
          <p:cNvSpPr/>
          <p:nvPr/>
        </p:nvSpPr>
        <p:spPr>
          <a:xfrm>
            <a:off x="4663440" y="342900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100"/>
              <a:buFont typeface="Consolas"/>
              <a:buNone/>
            </a:pPr>
            <a:r>
              <a:rPr b="0" i="0" lang="en-US" sz="1100" u="none" cap="none" strike="noStrike">
                <a:solidFill>
                  <a:srgbClr val="7D3C98"/>
                </a:solidFill>
                <a:latin typeface="Consolas"/>
                <a:ea typeface="Consolas"/>
                <a:cs typeface="Consolas"/>
                <a:sym typeface="Consolas"/>
              </a:rPr>
              <a:t>3 min</a:t>
            </a:r>
            <a:endParaRPr b="0" i="0" sz="1100" u="none" cap="none" strike="noStrike">
              <a:solidFill>
                <a:schemeClr val="dk1"/>
              </a:solidFill>
              <a:latin typeface="Calibri"/>
              <a:ea typeface="Calibri"/>
              <a:cs typeface="Calibri"/>
              <a:sym typeface="Calibri"/>
            </a:endParaRPr>
          </a:p>
        </p:txBody>
      </p:sp>
      <p:sp>
        <p:nvSpPr>
          <p:cNvPr id="150" name="Google Shape;150;p8"/>
          <p:cNvSpPr/>
          <p:nvPr/>
        </p:nvSpPr>
        <p:spPr>
          <a:xfrm>
            <a:off x="3474720" y="379476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Austausch mit Sitznachbar</a:t>
            </a:r>
            <a:endParaRPr b="0" i="0" sz="1100" u="none" cap="none" strike="noStrike">
              <a:solidFill>
                <a:schemeClr val="dk1"/>
              </a:solidFill>
              <a:latin typeface="Calibri"/>
              <a:ea typeface="Calibri"/>
              <a:cs typeface="Calibri"/>
              <a:sym typeface="Calibri"/>
            </a:endParaRPr>
          </a:p>
        </p:txBody>
      </p:sp>
      <p:sp>
        <p:nvSpPr>
          <p:cNvPr id="151" name="Google Shape;151;p8"/>
          <p:cNvSpPr/>
          <p:nvPr/>
        </p:nvSpPr>
        <p:spPr>
          <a:xfrm>
            <a:off x="6126480" y="3291840"/>
            <a:ext cx="2560320" cy="109728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6309360" y="3383280"/>
            <a:ext cx="1005840" cy="274320"/>
          </a:xfrm>
          <a:prstGeom prst="rect">
            <a:avLst/>
          </a:prstGeom>
          <a:solidFill>
            <a:srgbClr val="E67E22"/>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SHARE</a:t>
            </a:r>
            <a:endParaRPr b="0" i="0" sz="1000" u="none" cap="none" strike="noStrike">
              <a:solidFill>
                <a:schemeClr val="dk1"/>
              </a:solidFill>
              <a:latin typeface="Calibri"/>
              <a:ea typeface="Calibri"/>
              <a:cs typeface="Calibri"/>
              <a:sym typeface="Calibri"/>
            </a:endParaRPr>
          </a:p>
        </p:txBody>
      </p:sp>
      <p:sp>
        <p:nvSpPr>
          <p:cNvPr id="153" name="Google Shape;153;p8"/>
          <p:cNvSpPr/>
          <p:nvPr/>
        </p:nvSpPr>
        <p:spPr>
          <a:xfrm>
            <a:off x="7498080" y="342900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100"/>
              <a:buFont typeface="Consolas"/>
              <a:buNone/>
            </a:pPr>
            <a:r>
              <a:rPr b="0" i="0" lang="en-US" sz="1100" u="none" cap="none" strike="noStrike">
                <a:solidFill>
                  <a:srgbClr val="E67E22"/>
                </a:solidFill>
                <a:latin typeface="Consolas"/>
                <a:ea typeface="Consolas"/>
                <a:cs typeface="Consolas"/>
                <a:sym typeface="Consolas"/>
              </a:rPr>
              <a:t>2 min</a:t>
            </a:r>
            <a:endParaRPr b="0" i="0" sz="1100" u="none" cap="none" strike="noStrike">
              <a:solidFill>
                <a:schemeClr val="dk1"/>
              </a:solidFill>
              <a:latin typeface="Calibri"/>
              <a:ea typeface="Calibri"/>
              <a:cs typeface="Calibri"/>
              <a:sym typeface="Calibri"/>
            </a:endParaRPr>
          </a:p>
        </p:txBody>
      </p:sp>
      <p:sp>
        <p:nvSpPr>
          <p:cNvPr id="154" name="Google Shape;154;p8"/>
          <p:cNvSpPr/>
          <p:nvPr/>
        </p:nvSpPr>
        <p:spPr>
          <a:xfrm>
            <a:off x="6309360" y="379476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2–3 Paare stellen vor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9"/>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162" name="Google Shape;162;p9"/>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RAG: Retrieval-Augmented Generation</a:t>
            </a:r>
            <a:endParaRPr b="0" i="0" sz="2800" u="none" cap="none" strike="noStrike">
              <a:solidFill>
                <a:schemeClr val="dk1"/>
              </a:solidFill>
              <a:latin typeface="Calibri"/>
              <a:ea typeface="Calibri"/>
              <a:cs typeface="Calibri"/>
              <a:sym typeface="Calibri"/>
            </a:endParaRPr>
          </a:p>
        </p:txBody>
      </p:sp>
      <p:sp>
        <p:nvSpPr>
          <p:cNvPr id="163" name="Google Shape;163;p9"/>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Das Fundament aller Memory-Systeme</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457200" y="1097280"/>
            <a:ext cx="8229600" cy="640080"/>
          </a:xfrm>
          <a:prstGeom prst="rect">
            <a:avLst/>
          </a:prstGeom>
          <a:solidFill>
            <a:srgbClr val="EEF2F7"/>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640080" y="118872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0" i="1" lang="en-US" sz="1200" u="none" cap="none" strike="noStrike">
                <a:solidFill>
                  <a:srgbClr val="1A5276"/>
                </a:solidFill>
                <a:latin typeface="Georgia"/>
                <a:ea typeface="Georgia"/>
                <a:cs typeface="Georgia"/>
                <a:sym typeface="Georgia"/>
              </a:rPr>
              <a:t>Lewis et al. (2020), NeurIPS  ·  Das Paper, das RAG formalisiert hat</a:t>
            </a:r>
            <a:endParaRPr b="0" i="0" sz="1200" u="none" cap="none" strike="noStrike">
              <a:solidFill>
                <a:schemeClr val="dk1"/>
              </a:solidFill>
              <a:latin typeface="Calibri"/>
              <a:ea typeface="Calibri"/>
              <a:cs typeface="Calibri"/>
              <a:sym typeface="Calibri"/>
            </a:endParaRPr>
          </a:p>
        </p:txBody>
      </p:sp>
      <p:sp>
        <p:nvSpPr>
          <p:cNvPr id="166" name="Google Shape;166;p9"/>
          <p:cNvSpPr/>
          <p:nvPr/>
        </p:nvSpPr>
        <p:spPr>
          <a:xfrm>
            <a:off x="502720" y="2103120"/>
            <a:ext cx="1188600" cy="822900"/>
          </a:xfrm>
          <a:prstGeom prst="rect">
            <a:avLst/>
          </a:prstGeom>
          <a:solidFill>
            <a:srgbClr val="2980B9">
              <a:alpha val="14901"/>
            </a:srgbClr>
          </a:solidFill>
          <a:ln cap="flat" cmpd="sng" w="1905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502720" y="2103120"/>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80B9"/>
              </a:buClr>
              <a:buSzPts val="1000"/>
              <a:buFont typeface="Calibri"/>
              <a:buNone/>
            </a:pPr>
            <a:r>
              <a:rPr b="1" i="0" lang="en-US" sz="1000" u="none" cap="none" strike="noStrike">
                <a:solidFill>
                  <a:srgbClr val="2980B9"/>
                </a:solidFill>
                <a:latin typeface="Calibri"/>
                <a:ea typeface="Calibri"/>
                <a:cs typeface="Calibri"/>
                <a:sym typeface="Calibri"/>
              </a:rPr>
              <a:t>Query</a:t>
            </a:r>
            <a:endParaRPr b="0" i="0" sz="1000" u="none" cap="none" strike="noStrike">
              <a:solidFill>
                <a:schemeClr val="dk1"/>
              </a:solidFill>
              <a:latin typeface="Calibri"/>
              <a:ea typeface="Calibri"/>
              <a:cs typeface="Calibri"/>
              <a:sym typeface="Calibri"/>
            </a:endParaRPr>
          </a:p>
        </p:txBody>
      </p:sp>
      <p:sp>
        <p:nvSpPr>
          <p:cNvPr id="168" name="Google Shape;168;p9"/>
          <p:cNvSpPr/>
          <p:nvPr/>
        </p:nvSpPr>
        <p:spPr>
          <a:xfrm>
            <a:off x="1874320" y="2103120"/>
            <a:ext cx="1188600" cy="822900"/>
          </a:xfrm>
          <a:prstGeom prst="rect">
            <a:avLst/>
          </a:prstGeom>
          <a:solidFill>
            <a:srgbClr val="7D3C98">
              <a:alpha val="14901"/>
            </a:srgbClr>
          </a:solidFill>
          <a:ln cap="flat" cmpd="sng" w="19050">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1874320" y="2103120"/>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D3C98"/>
              </a:buClr>
              <a:buSzPts val="1000"/>
              <a:buFont typeface="Calibri"/>
              <a:buNone/>
            </a:pPr>
            <a:r>
              <a:rPr b="1" i="0" lang="en-US" sz="1000" u="none" cap="none" strike="noStrike">
                <a:solidFill>
                  <a:srgbClr val="7D3C98"/>
                </a:solidFill>
                <a:latin typeface="Calibri"/>
                <a:ea typeface="Calibri"/>
                <a:cs typeface="Calibri"/>
                <a:sym typeface="Calibri"/>
              </a:rPr>
              <a:t>Embedding</a:t>
            </a:r>
            <a:endParaRPr b="0" i="0" sz="1000" u="none" cap="none" strike="noStrike">
              <a:solidFill>
                <a:schemeClr val="dk1"/>
              </a:solidFill>
              <a:latin typeface="Calibri"/>
              <a:ea typeface="Calibri"/>
              <a:cs typeface="Calibri"/>
              <a:sym typeface="Calibri"/>
            </a:endParaRPr>
          </a:p>
        </p:txBody>
      </p:sp>
      <p:sp>
        <p:nvSpPr>
          <p:cNvPr id="170" name="Google Shape;170;p9"/>
          <p:cNvSpPr/>
          <p:nvPr/>
        </p:nvSpPr>
        <p:spPr>
          <a:xfrm>
            <a:off x="3245920" y="2103120"/>
            <a:ext cx="1188600" cy="822900"/>
          </a:xfrm>
          <a:prstGeom prst="rect">
            <a:avLst/>
          </a:prstGeom>
          <a:solidFill>
            <a:srgbClr val="0E8C6B">
              <a:alpha val="14901"/>
            </a:srgbClr>
          </a:solidFill>
          <a:ln cap="flat" cmpd="sng" w="19050">
            <a:solidFill>
              <a:srgbClr val="0E8C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3245920" y="2103120"/>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C6B"/>
              </a:buClr>
              <a:buSzPts val="1000"/>
              <a:buFont typeface="Calibri"/>
              <a:buNone/>
            </a:pPr>
            <a:r>
              <a:rPr b="1" i="0" lang="en-US" sz="1000" u="none" cap="none" strike="noStrike">
                <a:solidFill>
                  <a:srgbClr val="0E8C6B"/>
                </a:solidFill>
                <a:latin typeface="Calibri"/>
                <a:ea typeface="Calibri"/>
                <a:cs typeface="Calibri"/>
                <a:sym typeface="Calibri"/>
              </a:rPr>
              <a:t>Vector DB</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8C6B"/>
              </a:buClr>
              <a:buSzPts val="1000"/>
              <a:buFont typeface="Calibri"/>
              <a:buNone/>
            </a:pPr>
            <a:r>
              <a:rPr b="1" i="0" lang="en-US" sz="1000" u="none" cap="none" strike="noStrike">
                <a:solidFill>
                  <a:srgbClr val="0E8C6B"/>
                </a:solidFill>
                <a:latin typeface="Calibri"/>
                <a:ea typeface="Calibri"/>
                <a:cs typeface="Calibri"/>
                <a:sym typeface="Calibri"/>
              </a:rPr>
              <a:t>(ChromaDB)</a:t>
            </a:r>
            <a:endParaRPr b="0" i="0" sz="1000" u="none" cap="none" strike="noStrike">
              <a:solidFill>
                <a:schemeClr val="dk1"/>
              </a:solidFill>
              <a:latin typeface="Calibri"/>
              <a:ea typeface="Calibri"/>
              <a:cs typeface="Calibri"/>
              <a:sym typeface="Calibri"/>
            </a:endParaRPr>
          </a:p>
        </p:txBody>
      </p:sp>
      <p:sp>
        <p:nvSpPr>
          <p:cNvPr id="172" name="Google Shape;172;p9"/>
          <p:cNvSpPr/>
          <p:nvPr/>
        </p:nvSpPr>
        <p:spPr>
          <a:xfrm>
            <a:off x="4617535" y="2103120"/>
            <a:ext cx="1188600" cy="822900"/>
          </a:xfrm>
          <a:prstGeom prst="rect">
            <a:avLst/>
          </a:prstGeom>
          <a:solidFill>
            <a:srgbClr val="E67E22">
              <a:alpha val="14901"/>
            </a:srgbClr>
          </a:solidFill>
          <a:ln cap="flat" cmpd="sng" w="1905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4617535" y="2103120"/>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7E22"/>
              </a:buClr>
              <a:buSzPts val="1000"/>
              <a:buFont typeface="Calibri"/>
              <a:buNone/>
            </a:pPr>
            <a:r>
              <a:rPr b="1" i="0" lang="en-US" sz="1000" u="none" cap="none" strike="noStrike">
                <a:solidFill>
                  <a:srgbClr val="E67E22"/>
                </a:solidFill>
                <a:latin typeface="Calibri"/>
                <a:ea typeface="Calibri"/>
                <a:cs typeface="Calibri"/>
                <a:sym typeface="Calibri"/>
              </a:rPr>
              <a:t>Top-K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7E22"/>
              </a:buClr>
              <a:buSzPts val="1000"/>
              <a:buFont typeface="Calibri"/>
              <a:buNone/>
            </a:pPr>
            <a:r>
              <a:rPr b="1" i="0" lang="en-US" sz="1000" u="none" cap="none" strike="noStrike">
                <a:solidFill>
                  <a:srgbClr val="E67E22"/>
                </a:solidFill>
                <a:latin typeface="Calibri"/>
                <a:ea typeface="Calibri"/>
                <a:cs typeface="Calibri"/>
                <a:sym typeface="Calibri"/>
              </a:rPr>
              <a:t>Ergebnisse</a:t>
            </a:r>
            <a:endParaRPr b="0" i="0" sz="1000" u="none" cap="none" strike="noStrike">
              <a:solidFill>
                <a:schemeClr val="dk1"/>
              </a:solidFill>
              <a:latin typeface="Calibri"/>
              <a:ea typeface="Calibri"/>
              <a:cs typeface="Calibri"/>
              <a:sym typeface="Calibri"/>
            </a:endParaRPr>
          </a:p>
        </p:txBody>
      </p:sp>
      <p:sp>
        <p:nvSpPr>
          <p:cNvPr id="174" name="Google Shape;174;p9"/>
          <p:cNvSpPr/>
          <p:nvPr/>
        </p:nvSpPr>
        <p:spPr>
          <a:xfrm>
            <a:off x="5989375" y="2103145"/>
            <a:ext cx="1188600" cy="822900"/>
          </a:xfrm>
          <a:prstGeom prst="rect">
            <a:avLst/>
          </a:prstGeom>
          <a:solidFill>
            <a:srgbClr val="1A5276">
              <a:alpha val="14901"/>
            </a:srgbClr>
          </a:solidFill>
          <a:ln cap="flat" cmpd="sng" w="1905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5989375" y="2103145"/>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LLM</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 Context</a:t>
            </a:r>
            <a:endParaRPr b="0" i="0" sz="1000" u="none" cap="none" strike="noStrike">
              <a:solidFill>
                <a:schemeClr val="dk1"/>
              </a:solidFill>
              <a:latin typeface="Calibri"/>
              <a:ea typeface="Calibri"/>
              <a:cs typeface="Calibri"/>
              <a:sym typeface="Calibri"/>
            </a:endParaRPr>
          </a:p>
        </p:txBody>
      </p:sp>
      <p:sp>
        <p:nvSpPr>
          <p:cNvPr id="176" name="Google Shape;176;p9"/>
          <p:cNvSpPr/>
          <p:nvPr/>
        </p:nvSpPr>
        <p:spPr>
          <a:xfrm>
            <a:off x="7361215" y="2103145"/>
            <a:ext cx="1188600" cy="822900"/>
          </a:xfrm>
          <a:prstGeom prst="rect">
            <a:avLst/>
          </a:prstGeom>
          <a:solidFill>
            <a:srgbClr val="27AE60">
              <a:alpha val="14901"/>
            </a:srgbClr>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7361215" y="2103145"/>
            <a:ext cx="1188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1000"/>
              <a:buFont typeface="Calibri"/>
              <a:buNone/>
            </a:pPr>
            <a:r>
              <a:rPr b="1" i="0" lang="en-US" sz="1000" u="none" cap="none" strike="noStrike">
                <a:solidFill>
                  <a:srgbClr val="27AE60"/>
                </a:solidFill>
                <a:latin typeface="Calibri"/>
                <a:ea typeface="Calibri"/>
                <a:cs typeface="Calibri"/>
                <a:sym typeface="Calibri"/>
              </a:rPr>
              <a:t>Antwort</a:t>
            </a:r>
            <a:endParaRPr b="0" i="0" sz="1000" u="none" cap="none" strike="noStrike">
              <a:solidFill>
                <a:schemeClr val="dk1"/>
              </a:solidFill>
              <a:latin typeface="Calibri"/>
              <a:ea typeface="Calibri"/>
              <a:cs typeface="Calibri"/>
              <a:sym typeface="Calibri"/>
            </a:endParaRPr>
          </a:p>
        </p:txBody>
      </p:sp>
      <p:cxnSp>
        <p:nvCxnSpPr>
          <p:cNvPr id="178" name="Google Shape;178;p9"/>
          <p:cNvCxnSpPr/>
          <p:nvPr/>
        </p:nvCxnSpPr>
        <p:spPr>
          <a:xfrm>
            <a:off x="1691440" y="2514600"/>
            <a:ext cx="183000" cy="0"/>
          </a:xfrm>
          <a:prstGeom prst="straightConnector1">
            <a:avLst/>
          </a:prstGeom>
          <a:noFill/>
          <a:ln cap="flat" cmpd="sng" w="19050">
            <a:solidFill>
              <a:srgbClr val="D5D8DC"/>
            </a:solidFill>
            <a:prstDash val="solid"/>
            <a:round/>
            <a:headEnd len="sm" w="sm" type="none"/>
            <a:tailEnd len="sm" w="sm" type="none"/>
          </a:ln>
        </p:spPr>
      </p:cxnSp>
      <p:sp>
        <p:nvSpPr>
          <p:cNvPr id="179" name="Google Shape;179;p9"/>
          <p:cNvSpPr/>
          <p:nvPr/>
        </p:nvSpPr>
        <p:spPr>
          <a:xfrm>
            <a:off x="1645720" y="2331720"/>
            <a:ext cx="274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cxnSp>
        <p:nvCxnSpPr>
          <p:cNvPr id="180" name="Google Shape;180;p9"/>
          <p:cNvCxnSpPr/>
          <p:nvPr/>
        </p:nvCxnSpPr>
        <p:spPr>
          <a:xfrm>
            <a:off x="3063040" y="2514600"/>
            <a:ext cx="183000" cy="0"/>
          </a:xfrm>
          <a:prstGeom prst="straightConnector1">
            <a:avLst/>
          </a:prstGeom>
          <a:noFill/>
          <a:ln cap="flat" cmpd="sng" w="19050">
            <a:solidFill>
              <a:srgbClr val="D5D8DC"/>
            </a:solidFill>
            <a:prstDash val="solid"/>
            <a:round/>
            <a:headEnd len="sm" w="sm" type="none"/>
            <a:tailEnd len="sm" w="sm" type="none"/>
          </a:ln>
        </p:spPr>
      </p:cxnSp>
      <p:sp>
        <p:nvSpPr>
          <p:cNvPr id="181" name="Google Shape;181;p9"/>
          <p:cNvSpPr/>
          <p:nvPr/>
        </p:nvSpPr>
        <p:spPr>
          <a:xfrm>
            <a:off x="3017320" y="2331720"/>
            <a:ext cx="274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cxnSp>
        <p:nvCxnSpPr>
          <p:cNvPr id="182" name="Google Shape;182;p9"/>
          <p:cNvCxnSpPr/>
          <p:nvPr/>
        </p:nvCxnSpPr>
        <p:spPr>
          <a:xfrm>
            <a:off x="4434640" y="2514600"/>
            <a:ext cx="183000" cy="0"/>
          </a:xfrm>
          <a:prstGeom prst="straightConnector1">
            <a:avLst/>
          </a:prstGeom>
          <a:noFill/>
          <a:ln cap="flat" cmpd="sng" w="19050">
            <a:solidFill>
              <a:srgbClr val="D5D8DC"/>
            </a:solidFill>
            <a:prstDash val="solid"/>
            <a:round/>
            <a:headEnd len="sm" w="sm" type="none"/>
            <a:tailEnd len="sm" w="sm" type="none"/>
          </a:ln>
        </p:spPr>
      </p:cxnSp>
      <p:sp>
        <p:nvSpPr>
          <p:cNvPr id="183" name="Google Shape;183;p9"/>
          <p:cNvSpPr/>
          <p:nvPr/>
        </p:nvSpPr>
        <p:spPr>
          <a:xfrm>
            <a:off x="4388920" y="2331720"/>
            <a:ext cx="274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cxnSp>
        <p:nvCxnSpPr>
          <p:cNvPr id="184" name="Google Shape;184;p9"/>
          <p:cNvCxnSpPr/>
          <p:nvPr/>
        </p:nvCxnSpPr>
        <p:spPr>
          <a:xfrm>
            <a:off x="5806255" y="2514600"/>
            <a:ext cx="183000" cy="0"/>
          </a:xfrm>
          <a:prstGeom prst="straightConnector1">
            <a:avLst/>
          </a:prstGeom>
          <a:noFill/>
          <a:ln cap="flat" cmpd="sng" w="19050">
            <a:solidFill>
              <a:srgbClr val="D5D8DC"/>
            </a:solidFill>
            <a:prstDash val="solid"/>
            <a:round/>
            <a:headEnd len="sm" w="sm" type="none"/>
            <a:tailEnd len="sm" w="sm" type="none"/>
          </a:ln>
        </p:spPr>
      </p:cxnSp>
      <p:sp>
        <p:nvSpPr>
          <p:cNvPr id="185" name="Google Shape;185;p9"/>
          <p:cNvSpPr/>
          <p:nvPr/>
        </p:nvSpPr>
        <p:spPr>
          <a:xfrm>
            <a:off x="5760535" y="2331720"/>
            <a:ext cx="274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cxnSp>
        <p:nvCxnSpPr>
          <p:cNvPr id="186" name="Google Shape;186;p9"/>
          <p:cNvCxnSpPr/>
          <p:nvPr/>
        </p:nvCxnSpPr>
        <p:spPr>
          <a:xfrm>
            <a:off x="7178095" y="2514625"/>
            <a:ext cx="183000" cy="0"/>
          </a:xfrm>
          <a:prstGeom prst="straightConnector1">
            <a:avLst/>
          </a:prstGeom>
          <a:noFill/>
          <a:ln cap="flat" cmpd="sng" w="19050">
            <a:solidFill>
              <a:srgbClr val="D5D8DC"/>
            </a:solidFill>
            <a:prstDash val="solid"/>
            <a:round/>
            <a:headEnd len="sm" w="sm" type="none"/>
            <a:tailEnd len="sm" w="sm" type="none"/>
          </a:ln>
        </p:spPr>
      </p:cxnSp>
      <p:sp>
        <p:nvSpPr>
          <p:cNvPr id="187" name="Google Shape;187;p9"/>
          <p:cNvSpPr/>
          <p:nvPr/>
        </p:nvSpPr>
        <p:spPr>
          <a:xfrm>
            <a:off x="7132375" y="2331745"/>
            <a:ext cx="274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8" name="Google Shape;188;p9"/>
          <p:cNvSpPr/>
          <p:nvPr/>
        </p:nvSpPr>
        <p:spPr>
          <a:xfrm>
            <a:off x="457200" y="3200400"/>
            <a:ext cx="3840600" cy="13260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640080" y="32918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Georgia"/>
              <a:buNone/>
            </a:pPr>
            <a:r>
              <a:rPr b="1" i="0" lang="en-US" sz="1300" u="none" cap="none" strike="noStrike">
                <a:solidFill>
                  <a:srgbClr val="1A5276"/>
                </a:solidFill>
                <a:latin typeface="Georgia"/>
                <a:ea typeface="Georgia"/>
                <a:cs typeface="Georgia"/>
                <a:sym typeface="Georgia"/>
              </a:rPr>
              <a:t>Parametrisches Wissen</a:t>
            </a:r>
            <a:endParaRPr b="0" i="0" sz="1300" u="none" cap="none" strike="noStrike">
              <a:solidFill>
                <a:schemeClr val="dk1"/>
              </a:solidFill>
              <a:latin typeface="Calibri"/>
              <a:ea typeface="Calibri"/>
              <a:cs typeface="Calibri"/>
              <a:sym typeface="Calibri"/>
            </a:endParaRPr>
          </a:p>
        </p:txBody>
      </p:sp>
      <p:sp>
        <p:nvSpPr>
          <p:cNvPr id="190" name="Google Shape;190;p9"/>
          <p:cNvSpPr/>
          <p:nvPr/>
        </p:nvSpPr>
        <p:spPr>
          <a:xfrm>
            <a:off x="640080" y="36118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Im LLM trainiert. Statisch, veraltet schnell.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Enthält allgemeines Weltwissen, aber nicht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deine gestrigen Debugging-Entscheidungen.</a:t>
            </a:r>
            <a:endParaRPr b="0" i="0" sz="1100" u="none" cap="none" strike="noStrike">
              <a:solidFill>
                <a:schemeClr val="dk1"/>
              </a:solidFill>
              <a:latin typeface="Calibri"/>
              <a:ea typeface="Calibri"/>
              <a:cs typeface="Calibri"/>
              <a:sym typeface="Calibri"/>
            </a:endParaRPr>
          </a:p>
        </p:txBody>
      </p:sp>
      <p:sp>
        <p:nvSpPr>
          <p:cNvPr id="191" name="Google Shape;191;p9"/>
          <p:cNvSpPr/>
          <p:nvPr/>
        </p:nvSpPr>
        <p:spPr>
          <a:xfrm>
            <a:off x="4754875" y="3200400"/>
            <a:ext cx="3931800" cy="13260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4937760" y="32918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300"/>
              <a:buFont typeface="Georgia"/>
              <a:buNone/>
            </a:pPr>
            <a:r>
              <a:rPr b="1" i="0" lang="en-US" sz="1300" u="none" cap="none" strike="noStrike">
                <a:solidFill>
                  <a:srgbClr val="0E8C6B"/>
                </a:solidFill>
                <a:latin typeface="Georgia"/>
                <a:ea typeface="Georgia"/>
                <a:cs typeface="Georgia"/>
                <a:sym typeface="Georgia"/>
              </a:rPr>
              <a:t>Nicht-parametrisches Wissen</a:t>
            </a:r>
            <a:endParaRPr b="0" i="0" sz="1300" u="none" cap="none" strike="noStrike">
              <a:solidFill>
                <a:schemeClr val="dk1"/>
              </a:solidFill>
              <a:latin typeface="Calibri"/>
              <a:ea typeface="Calibri"/>
              <a:cs typeface="Calibri"/>
              <a:sym typeface="Calibri"/>
            </a:endParaRPr>
          </a:p>
        </p:txBody>
      </p:sp>
      <p:sp>
        <p:nvSpPr>
          <p:cNvPr id="193" name="Google Shape;193;p9"/>
          <p:cNvSpPr/>
          <p:nvPr/>
        </p:nvSpPr>
        <p:spPr>
          <a:xfrm>
            <a:off x="4937760" y="3611880"/>
            <a:ext cx="34747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Externe Datenbank (ChromaDB). Dynamisch,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aktualisierbar. Enthält deine Konversationen,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Entscheidungen, Code-Änderungen.</a:t>
            </a:r>
            <a:endParaRPr b="0" i="0" sz="1100" u="none" cap="none" strike="noStrike">
              <a:solidFill>
                <a:schemeClr val="dk1"/>
              </a:solidFill>
              <a:latin typeface="Calibri"/>
              <a:ea typeface="Calibri"/>
              <a:cs typeface="Calibri"/>
              <a:sym typeface="Calibri"/>
            </a:endParaRPr>
          </a:p>
        </p:txBody>
      </p:sp>
      <p:sp>
        <p:nvSpPr>
          <p:cNvPr id="194" name="Google Shape;194;p9"/>
          <p:cNvSpPr/>
          <p:nvPr/>
        </p:nvSpPr>
        <p:spPr>
          <a:xfrm>
            <a:off x="457200" y="466344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100"/>
              <a:buFont typeface="Calibri"/>
              <a:buNone/>
            </a:pPr>
            <a:r>
              <a:rPr b="0" i="1" lang="en-US" sz="1100" u="none" cap="none" strike="noStrike">
                <a:solidFill>
                  <a:srgbClr val="1A5276"/>
                </a:solidFill>
                <a:latin typeface="Calibri"/>
                <a:ea typeface="Calibri"/>
                <a:cs typeface="Calibri"/>
                <a:sym typeface="Calibri"/>
              </a:rPr>
              <a:t>MemPalace = spezialisiertes RAG-System. ChromaDB = nicht-parametrischer Speicher. Palace-Hierarchie = organisatorische Schicht über dem Retrieval.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0"/>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202" name="Google Shape;202;p10"/>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Embeddings: Text wird zu Vektoren</a:t>
            </a:r>
            <a:endParaRPr b="0" i="0" sz="2800" u="none" cap="none" strike="noStrike">
              <a:solidFill>
                <a:schemeClr val="dk1"/>
              </a:solidFill>
              <a:latin typeface="Calibri"/>
              <a:ea typeface="Calibri"/>
              <a:cs typeface="Calibri"/>
              <a:sym typeface="Calibri"/>
            </a:endParaRPr>
          </a:p>
        </p:txBody>
      </p:sp>
      <p:sp>
        <p:nvSpPr>
          <p:cNvPr id="203" name="Google Shape;203;p10"/>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Wie versteht ChromaDB Bedeutung?</a:t>
            </a:r>
            <a:endParaRPr b="0" i="0" sz="1200" u="none" cap="none" strike="noStrike">
              <a:solidFill>
                <a:schemeClr val="dk1"/>
              </a:solidFill>
              <a:latin typeface="Calibri"/>
              <a:ea typeface="Calibri"/>
              <a:cs typeface="Calibri"/>
              <a:sym typeface="Calibri"/>
            </a:endParaRPr>
          </a:p>
        </p:txBody>
      </p:sp>
      <p:sp>
        <p:nvSpPr>
          <p:cNvPr id="204" name="Google Shape;204;p10"/>
          <p:cNvSpPr/>
          <p:nvPr/>
        </p:nvSpPr>
        <p:spPr>
          <a:xfrm>
            <a:off x="457200" y="1097280"/>
            <a:ext cx="8229600" cy="1371600"/>
          </a:xfrm>
          <a:prstGeom prst="rect">
            <a:avLst/>
          </a:prstGeom>
          <a:solidFill>
            <a:srgbClr val="EEF2F7"/>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640080" y="118872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Sentence Transformers (all-MiniLM-L6-v2)  ·  384-dimensionaler Vektorraum</a:t>
            </a:r>
            <a:endParaRPr b="0" i="0" sz="1200" u="none" cap="none" strike="noStrike">
              <a:solidFill>
                <a:schemeClr val="dk1"/>
              </a:solidFill>
              <a:latin typeface="Calibri"/>
              <a:ea typeface="Calibri"/>
              <a:cs typeface="Calibri"/>
              <a:sym typeface="Calibri"/>
            </a:endParaRPr>
          </a:p>
        </p:txBody>
      </p:sp>
      <p:sp>
        <p:nvSpPr>
          <p:cNvPr id="206" name="Google Shape;206;p10"/>
          <p:cNvSpPr/>
          <p:nvPr/>
        </p:nvSpPr>
        <p:spPr>
          <a:xfrm>
            <a:off x="640080" y="1554480"/>
            <a:ext cx="7772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Jeder Text wird in einen Punkt im 384-dimensionalen Raum umgewandelt.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Semantisch ähnliche Texte liegen nahe beieinander — unabhängig von den exakten Wörtern.</a:t>
            </a:r>
            <a:endParaRPr b="0" i="0" sz="1200" u="none" cap="none" strike="noStrike">
              <a:solidFill>
                <a:schemeClr val="dk1"/>
              </a:solidFill>
              <a:latin typeface="Calibri"/>
              <a:ea typeface="Calibri"/>
              <a:cs typeface="Calibri"/>
              <a:sym typeface="Calibri"/>
            </a:endParaRPr>
          </a:p>
        </p:txBody>
      </p:sp>
      <p:sp>
        <p:nvSpPr>
          <p:cNvPr id="207" name="Google Shape;207;p10"/>
          <p:cNvSpPr/>
          <p:nvPr/>
        </p:nvSpPr>
        <p:spPr>
          <a:xfrm>
            <a:off x="457200" y="2743200"/>
            <a:ext cx="4114800" cy="2011680"/>
          </a:xfrm>
          <a:prstGeom prst="rect">
            <a:avLst/>
          </a:prstGeom>
          <a:solidFill>
            <a:srgbClr val="F4F6F8"/>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640080" y="28346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Cosine Similarity</a:t>
            </a:r>
            <a:endParaRPr b="0" i="0" sz="1400" u="none" cap="none" strike="noStrike">
              <a:solidFill>
                <a:schemeClr val="dk1"/>
              </a:solidFill>
              <a:latin typeface="Calibri"/>
              <a:ea typeface="Calibri"/>
              <a:cs typeface="Calibri"/>
              <a:sym typeface="Calibri"/>
            </a:endParaRPr>
          </a:p>
        </p:txBody>
      </p:sp>
      <p:sp>
        <p:nvSpPr>
          <p:cNvPr id="209" name="Google Shape;209;p10"/>
          <p:cNvSpPr/>
          <p:nvPr/>
        </p:nvSpPr>
        <p:spPr>
          <a:xfrm>
            <a:off x="640080" y="32004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600"/>
              <a:buFont typeface="Consolas"/>
              <a:buNone/>
            </a:pPr>
            <a:r>
              <a:rPr b="0" i="0" lang="en-US" sz="1600" u="none" cap="none" strike="noStrike">
                <a:solidFill>
                  <a:srgbClr val="1C2833"/>
                </a:solidFill>
                <a:latin typeface="Consolas"/>
                <a:ea typeface="Consolas"/>
                <a:cs typeface="Consolas"/>
                <a:sym typeface="Consolas"/>
              </a:rPr>
              <a:t>cos(θ) = (A · B) / (||A|| × ||B||)</a:t>
            </a:r>
            <a:endParaRPr b="0" i="0" sz="1600" u="none" cap="none" strike="noStrike">
              <a:solidFill>
                <a:schemeClr val="dk1"/>
              </a:solidFill>
              <a:latin typeface="Calibri"/>
              <a:ea typeface="Calibri"/>
              <a:cs typeface="Calibri"/>
              <a:sym typeface="Calibri"/>
            </a:endParaRPr>
          </a:p>
        </p:txBody>
      </p:sp>
      <p:sp>
        <p:nvSpPr>
          <p:cNvPr id="210" name="Google Shape;210;p10"/>
          <p:cNvSpPr/>
          <p:nvPr/>
        </p:nvSpPr>
        <p:spPr>
          <a:xfrm>
            <a:off x="640080" y="3657600"/>
            <a:ext cx="3657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A · B  =  Skalarprodukt der Vektoren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||A||   =  Euklidische Norm (Länge)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Ergebnis: -1 bis +1</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+1 = identische Bedeutung</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0 = keine Beziehung</a:t>
            </a:r>
            <a:endParaRPr b="0" i="0" sz="1000" u="none" cap="none" strike="noStrike">
              <a:solidFill>
                <a:schemeClr val="dk1"/>
              </a:solidFill>
              <a:latin typeface="Calibri"/>
              <a:ea typeface="Calibri"/>
              <a:cs typeface="Calibri"/>
              <a:sym typeface="Calibri"/>
            </a:endParaRPr>
          </a:p>
        </p:txBody>
      </p:sp>
      <p:sp>
        <p:nvSpPr>
          <p:cNvPr id="211" name="Google Shape;211;p10"/>
          <p:cNvSpPr/>
          <p:nvPr/>
        </p:nvSpPr>
        <p:spPr>
          <a:xfrm>
            <a:off x="4846320" y="2743200"/>
            <a:ext cx="3840480" cy="2011680"/>
          </a:xfrm>
          <a:prstGeom prst="rect">
            <a:avLst/>
          </a:prstGeom>
          <a:solidFill>
            <a:srgbClr val="F4F6F8"/>
          </a:solidFill>
          <a:ln cap="flat" cmpd="sng" w="9525">
            <a:solidFill>
              <a:srgbClr val="0E8C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5029200" y="28346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400"/>
              <a:buFont typeface="Georgia"/>
              <a:buNone/>
            </a:pPr>
            <a:r>
              <a:rPr b="1" i="0" lang="en-US" sz="1400" u="none" cap="none" strike="noStrike">
                <a:solidFill>
                  <a:srgbClr val="0E8C6B"/>
                </a:solidFill>
                <a:latin typeface="Georgia"/>
                <a:ea typeface="Georgia"/>
                <a:cs typeface="Georgia"/>
                <a:sym typeface="Georgia"/>
              </a:rPr>
              <a:t>Konkretes Beispiel</a:t>
            </a:r>
            <a:endParaRPr b="0" i="0" sz="1400" u="none" cap="none" strike="noStrike">
              <a:solidFill>
                <a:schemeClr val="dk1"/>
              </a:solidFill>
              <a:latin typeface="Calibri"/>
              <a:ea typeface="Calibri"/>
              <a:cs typeface="Calibri"/>
              <a:sym typeface="Calibri"/>
            </a:endParaRPr>
          </a:p>
        </p:txBody>
      </p:sp>
      <p:sp>
        <p:nvSpPr>
          <p:cNvPr id="213" name="Google Shape;213;p10"/>
          <p:cNvSpPr/>
          <p:nvPr/>
        </p:nvSpPr>
        <p:spPr>
          <a:xfrm>
            <a:off x="5029200" y="32461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 debugged OAuth"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"Auth problem fixed"</a:t>
            </a:r>
            <a:endParaRPr b="0" i="0" sz="900" u="none" cap="none" strike="noStrike">
              <a:solidFill>
                <a:schemeClr val="dk1"/>
              </a:solidFill>
              <a:latin typeface="Calibri"/>
              <a:ea typeface="Calibri"/>
              <a:cs typeface="Calibri"/>
              <a:sym typeface="Calibri"/>
            </a:endParaRPr>
          </a:p>
        </p:txBody>
      </p:sp>
      <p:sp>
        <p:nvSpPr>
          <p:cNvPr id="214" name="Google Shape;214;p10"/>
          <p:cNvSpPr/>
          <p:nvPr/>
        </p:nvSpPr>
        <p:spPr>
          <a:xfrm>
            <a:off x="7680960" y="324612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Consolas"/>
              <a:buNone/>
            </a:pPr>
            <a:r>
              <a:rPr b="1" i="0" lang="en-US" sz="1400" u="none" cap="none" strike="noStrike">
                <a:solidFill>
                  <a:srgbClr val="27AE60"/>
                </a:solidFill>
                <a:latin typeface="Consolas"/>
                <a:ea typeface="Consolas"/>
                <a:cs typeface="Consolas"/>
                <a:sym typeface="Consolas"/>
              </a:rPr>
              <a:t>0.82</a:t>
            </a:r>
            <a:endParaRPr b="0" i="0" sz="1400" u="none" cap="none" strike="noStrike">
              <a:solidFill>
                <a:schemeClr val="dk1"/>
              </a:solidFill>
              <a:latin typeface="Calibri"/>
              <a:ea typeface="Calibri"/>
              <a:cs typeface="Calibri"/>
              <a:sym typeface="Calibri"/>
            </a:endParaRPr>
          </a:p>
        </p:txBody>
      </p:sp>
      <p:sp>
        <p:nvSpPr>
          <p:cNvPr id="215" name="Google Shape;215;p10"/>
          <p:cNvSpPr/>
          <p:nvPr/>
        </p:nvSpPr>
        <p:spPr>
          <a:xfrm>
            <a:off x="5029200" y="37033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 debugged OAuth"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"Team chose Clerk"</a:t>
            </a:r>
            <a:endParaRPr b="0" i="0" sz="900" u="none" cap="none" strike="noStrike">
              <a:solidFill>
                <a:schemeClr val="dk1"/>
              </a:solidFill>
              <a:latin typeface="Calibri"/>
              <a:ea typeface="Calibri"/>
              <a:cs typeface="Calibri"/>
              <a:sym typeface="Calibri"/>
            </a:endParaRPr>
          </a:p>
        </p:txBody>
      </p:sp>
      <p:sp>
        <p:nvSpPr>
          <p:cNvPr id="216" name="Google Shape;216;p10"/>
          <p:cNvSpPr/>
          <p:nvPr/>
        </p:nvSpPr>
        <p:spPr>
          <a:xfrm>
            <a:off x="7680960" y="370332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400"/>
              <a:buFont typeface="Consolas"/>
              <a:buNone/>
            </a:pPr>
            <a:r>
              <a:rPr b="1" i="0" lang="en-US" sz="1400" u="none" cap="none" strike="noStrike">
                <a:solidFill>
                  <a:srgbClr val="E67E22"/>
                </a:solidFill>
                <a:latin typeface="Consolas"/>
                <a:ea typeface="Consolas"/>
                <a:cs typeface="Consolas"/>
                <a:sym typeface="Consolas"/>
              </a:rPr>
              <a:t>0.41</a:t>
            </a:r>
            <a:endParaRPr b="0" i="0" sz="1400" u="none" cap="none" strike="noStrike">
              <a:solidFill>
                <a:schemeClr val="dk1"/>
              </a:solidFill>
              <a:latin typeface="Calibri"/>
              <a:ea typeface="Calibri"/>
              <a:cs typeface="Calibri"/>
              <a:sym typeface="Calibri"/>
            </a:endParaRPr>
          </a:p>
        </p:txBody>
      </p:sp>
      <p:sp>
        <p:nvSpPr>
          <p:cNvPr id="217" name="Google Shape;217;p10"/>
          <p:cNvSpPr/>
          <p:nvPr/>
        </p:nvSpPr>
        <p:spPr>
          <a:xfrm>
            <a:off x="5029200" y="4160520"/>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 debugged OAuth"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 mag Pizza"</a:t>
            </a:r>
            <a:endParaRPr b="0" i="0" sz="900" u="none" cap="none" strike="noStrike">
              <a:solidFill>
                <a:schemeClr val="dk1"/>
              </a:solidFill>
              <a:latin typeface="Calibri"/>
              <a:ea typeface="Calibri"/>
              <a:cs typeface="Calibri"/>
              <a:sym typeface="Calibri"/>
            </a:endParaRPr>
          </a:p>
        </p:txBody>
      </p:sp>
      <p:sp>
        <p:nvSpPr>
          <p:cNvPr id="218" name="Google Shape;218;p10"/>
          <p:cNvSpPr/>
          <p:nvPr/>
        </p:nvSpPr>
        <p:spPr>
          <a:xfrm>
            <a:off x="7680960" y="416052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Consolas"/>
              <a:buNone/>
            </a:pPr>
            <a:r>
              <a:rPr b="1" i="0" lang="en-US" sz="1400" u="none" cap="none" strike="noStrike">
                <a:solidFill>
                  <a:srgbClr val="E74C3C"/>
                </a:solidFill>
                <a:latin typeface="Consolas"/>
                <a:ea typeface="Consolas"/>
                <a:cs typeface="Consolas"/>
                <a:sym typeface="Consolas"/>
              </a:rPr>
              <a:t>0.15</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11"/>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226" name="Google Shape;226;p11"/>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Cosine Similarity berechnen</a:t>
            </a:r>
            <a:endParaRPr b="0" i="0" sz="2800" u="none" cap="none" strike="noStrike">
              <a:solidFill>
                <a:schemeClr val="dk1"/>
              </a:solidFill>
              <a:latin typeface="Calibri"/>
              <a:ea typeface="Calibri"/>
              <a:cs typeface="Calibri"/>
              <a:sym typeface="Calibri"/>
            </a:endParaRPr>
          </a:p>
        </p:txBody>
      </p:sp>
      <p:sp>
        <p:nvSpPr>
          <p:cNvPr id="227" name="Google Shape;227;p11"/>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15 Minuten Hands-on</a:t>
            </a:r>
            <a:endParaRPr b="0" i="0" sz="1200" u="none" cap="none" strike="noStrike">
              <a:solidFill>
                <a:schemeClr val="dk1"/>
              </a:solidFill>
              <a:latin typeface="Calibri"/>
              <a:ea typeface="Calibri"/>
              <a:cs typeface="Calibri"/>
              <a:sym typeface="Calibri"/>
            </a:endParaRPr>
          </a:p>
        </p:txBody>
      </p:sp>
      <p:sp>
        <p:nvSpPr>
          <p:cNvPr id="228" name="Google Shape;228;p11"/>
          <p:cNvSpPr/>
          <p:nvPr/>
        </p:nvSpPr>
        <p:spPr>
          <a:xfrm>
            <a:off x="457200" y="1097280"/>
            <a:ext cx="8229600" cy="1463040"/>
          </a:xfrm>
          <a:prstGeom prst="rect">
            <a:avLst/>
          </a:prstGeom>
          <a:solidFill>
            <a:srgbClr val="EEF2F7"/>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640080" y="1188720"/>
            <a:ext cx="1097280" cy="256032"/>
          </a:xfrm>
          <a:prstGeom prst="rect">
            <a:avLst/>
          </a:prstGeom>
          <a:solidFill>
            <a:srgbClr val="1A5276"/>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AUFGABE</a:t>
            </a:r>
            <a:endParaRPr b="0" i="0" sz="1000" u="none" cap="none" strike="noStrike">
              <a:solidFill>
                <a:schemeClr val="dk1"/>
              </a:solidFill>
              <a:latin typeface="Calibri"/>
              <a:ea typeface="Calibri"/>
              <a:cs typeface="Calibri"/>
              <a:sym typeface="Calibri"/>
            </a:endParaRPr>
          </a:p>
        </p:txBody>
      </p:sp>
      <p:sp>
        <p:nvSpPr>
          <p:cNvPr id="230" name="Google Shape;230;p11"/>
          <p:cNvSpPr/>
          <p:nvPr/>
        </p:nvSpPr>
        <p:spPr>
          <a:xfrm>
            <a:off x="640080" y="1554480"/>
            <a:ext cx="7772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Gegeben: Vereinfachte 4D-Vektoren (statt 384D) für vier Sätze.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Berechnet die Cosine Similarity zwischen allen Paaren und ordnet sie nach Ähnlichkeit.</a:t>
            </a:r>
            <a:endParaRPr b="0" i="0" sz="1200" u="none" cap="none" strike="noStrike">
              <a:solidFill>
                <a:schemeClr val="dk1"/>
              </a:solidFill>
              <a:latin typeface="Calibri"/>
              <a:ea typeface="Calibri"/>
              <a:cs typeface="Calibri"/>
              <a:sym typeface="Calibri"/>
            </a:endParaRPr>
          </a:p>
        </p:txBody>
      </p:sp>
      <p:sp>
        <p:nvSpPr>
          <p:cNvPr id="231" name="Google Shape;231;p11"/>
          <p:cNvSpPr/>
          <p:nvPr/>
        </p:nvSpPr>
        <p:spPr>
          <a:xfrm>
            <a:off x="457200" y="2743200"/>
            <a:ext cx="4572000" cy="2011680"/>
          </a:xfrm>
          <a:prstGeom prst="rect">
            <a:avLst/>
          </a:prstGeom>
          <a:solidFill>
            <a:srgbClr val="F4F6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640080" y="28346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Georgia"/>
              <a:buNone/>
            </a:pPr>
            <a:r>
              <a:rPr b="1" i="0" lang="en-US" sz="1300" u="none" cap="none" strike="noStrike">
                <a:solidFill>
                  <a:srgbClr val="1A5276"/>
                </a:solidFill>
                <a:latin typeface="Georgia"/>
                <a:ea typeface="Georgia"/>
                <a:cs typeface="Georgia"/>
                <a:sym typeface="Georgia"/>
              </a:rPr>
              <a:t>Vektoren</a:t>
            </a:r>
            <a:endParaRPr b="0" i="0" sz="1300" u="none" cap="none" strike="noStrike">
              <a:solidFill>
                <a:schemeClr val="dk1"/>
              </a:solidFill>
              <a:latin typeface="Calibri"/>
              <a:ea typeface="Calibri"/>
              <a:cs typeface="Calibri"/>
              <a:sym typeface="Calibri"/>
            </a:endParaRPr>
          </a:p>
        </p:txBody>
      </p:sp>
      <p:sp>
        <p:nvSpPr>
          <p:cNvPr id="233" name="Google Shape;233;p11"/>
          <p:cNvSpPr/>
          <p:nvPr/>
        </p:nvSpPr>
        <p:spPr>
          <a:xfrm>
            <a:off x="640080" y="320040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A</a:t>
            </a:r>
            <a:endParaRPr b="0" i="0" sz="1200" u="none" cap="none" strike="noStrike">
              <a:solidFill>
                <a:schemeClr val="dk1"/>
              </a:solidFill>
              <a:latin typeface="Calibri"/>
              <a:ea typeface="Calibri"/>
              <a:cs typeface="Calibri"/>
              <a:sym typeface="Calibri"/>
            </a:endParaRPr>
          </a:p>
        </p:txBody>
      </p:sp>
      <p:sp>
        <p:nvSpPr>
          <p:cNvPr id="234" name="Google Shape;234;p11"/>
          <p:cNvSpPr/>
          <p:nvPr/>
        </p:nvSpPr>
        <p:spPr>
          <a:xfrm>
            <a:off x="914400" y="3200400"/>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"Kai fixed the OAuth bug"</a:t>
            </a:r>
            <a:endParaRPr b="0" i="0" sz="1000" u="none" cap="none" strike="noStrike">
              <a:solidFill>
                <a:schemeClr val="dk1"/>
              </a:solidFill>
              <a:latin typeface="Calibri"/>
              <a:ea typeface="Calibri"/>
              <a:cs typeface="Calibri"/>
              <a:sym typeface="Calibri"/>
            </a:endParaRPr>
          </a:p>
        </p:txBody>
      </p:sp>
      <p:sp>
        <p:nvSpPr>
          <p:cNvPr id="235" name="Google Shape;235;p11"/>
          <p:cNvSpPr/>
          <p:nvPr/>
        </p:nvSpPr>
        <p:spPr>
          <a:xfrm>
            <a:off x="3383280" y="3200400"/>
            <a:ext cx="1463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[0.8, 0.6, </a:t>
            </a:r>
            <a:endParaRPr b="0" i="0" sz="1000" u="none" cap="none" strike="noStrike">
              <a:solidFill>
                <a:srgbClr val="0E8C6B"/>
              </a:solidFill>
              <a:latin typeface="Consolas"/>
              <a:ea typeface="Consolas"/>
              <a:cs typeface="Consolas"/>
              <a:sym typeface="Consolas"/>
            </a:endParaRPr>
          </a:p>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0.1, 0.0]</a:t>
            </a:r>
            <a:endParaRPr b="0" i="0" sz="1000" u="none" cap="none" strike="noStrike">
              <a:solidFill>
                <a:schemeClr val="dk1"/>
              </a:solidFill>
              <a:latin typeface="Calibri"/>
              <a:ea typeface="Calibri"/>
              <a:cs typeface="Calibri"/>
              <a:sym typeface="Calibri"/>
            </a:endParaRPr>
          </a:p>
        </p:txBody>
      </p:sp>
      <p:sp>
        <p:nvSpPr>
          <p:cNvPr id="236" name="Google Shape;236;p11"/>
          <p:cNvSpPr/>
          <p:nvPr/>
        </p:nvSpPr>
        <p:spPr>
          <a:xfrm>
            <a:off x="640080" y="356616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B</a:t>
            </a:r>
            <a:endParaRPr b="0" i="0" sz="1200" u="none" cap="none" strike="noStrike">
              <a:solidFill>
                <a:schemeClr val="dk1"/>
              </a:solidFill>
              <a:latin typeface="Calibri"/>
              <a:ea typeface="Calibri"/>
              <a:cs typeface="Calibri"/>
              <a:sym typeface="Calibri"/>
            </a:endParaRPr>
          </a:p>
        </p:txBody>
      </p:sp>
      <p:sp>
        <p:nvSpPr>
          <p:cNvPr id="237" name="Google Shape;237;p11"/>
          <p:cNvSpPr/>
          <p:nvPr/>
        </p:nvSpPr>
        <p:spPr>
          <a:xfrm>
            <a:off x="914400" y="3566160"/>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"Authentication error resolved"</a:t>
            </a:r>
            <a:endParaRPr b="0" i="0" sz="1000" u="none" cap="none" strike="noStrike">
              <a:solidFill>
                <a:schemeClr val="dk1"/>
              </a:solidFill>
              <a:latin typeface="Calibri"/>
              <a:ea typeface="Calibri"/>
              <a:cs typeface="Calibri"/>
              <a:sym typeface="Calibri"/>
            </a:endParaRPr>
          </a:p>
        </p:txBody>
      </p:sp>
      <p:sp>
        <p:nvSpPr>
          <p:cNvPr id="238" name="Google Shape;238;p11"/>
          <p:cNvSpPr/>
          <p:nvPr/>
        </p:nvSpPr>
        <p:spPr>
          <a:xfrm>
            <a:off x="3383280" y="3566160"/>
            <a:ext cx="1463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[0.7, 0.5, </a:t>
            </a:r>
            <a:endParaRPr b="0" i="0" sz="1000" u="none" cap="none" strike="noStrike">
              <a:solidFill>
                <a:srgbClr val="0E8C6B"/>
              </a:solidFill>
              <a:latin typeface="Consolas"/>
              <a:ea typeface="Consolas"/>
              <a:cs typeface="Consolas"/>
              <a:sym typeface="Consolas"/>
            </a:endParaRPr>
          </a:p>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0.2, 0.1]</a:t>
            </a:r>
            <a:endParaRPr b="0" i="0" sz="1000" u="none" cap="none" strike="noStrike">
              <a:solidFill>
                <a:schemeClr val="dk1"/>
              </a:solidFill>
              <a:latin typeface="Calibri"/>
              <a:ea typeface="Calibri"/>
              <a:cs typeface="Calibri"/>
              <a:sym typeface="Calibri"/>
            </a:endParaRPr>
          </a:p>
        </p:txBody>
      </p:sp>
      <p:sp>
        <p:nvSpPr>
          <p:cNvPr id="239" name="Google Shape;239;p11"/>
          <p:cNvSpPr/>
          <p:nvPr/>
        </p:nvSpPr>
        <p:spPr>
          <a:xfrm>
            <a:off x="640080" y="393192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C</a:t>
            </a:r>
            <a:endParaRPr b="0" i="0" sz="12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931920"/>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"Team decided on Postgres"</a:t>
            </a:r>
            <a:endParaRPr b="0" i="0" sz="1000" u="none" cap="none" strike="noStrike">
              <a:solidFill>
                <a:schemeClr val="dk1"/>
              </a:solidFill>
              <a:latin typeface="Calibri"/>
              <a:ea typeface="Calibri"/>
              <a:cs typeface="Calibri"/>
              <a:sym typeface="Calibri"/>
            </a:endParaRPr>
          </a:p>
        </p:txBody>
      </p:sp>
      <p:sp>
        <p:nvSpPr>
          <p:cNvPr id="241" name="Google Shape;241;p11"/>
          <p:cNvSpPr/>
          <p:nvPr/>
        </p:nvSpPr>
        <p:spPr>
          <a:xfrm>
            <a:off x="3383280" y="3931920"/>
            <a:ext cx="1463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[0.1, 0.2, </a:t>
            </a:r>
            <a:endParaRPr b="0" i="0" sz="1000" u="none" cap="none" strike="noStrike">
              <a:solidFill>
                <a:srgbClr val="0E8C6B"/>
              </a:solidFill>
              <a:latin typeface="Consolas"/>
              <a:ea typeface="Consolas"/>
              <a:cs typeface="Consolas"/>
              <a:sym typeface="Consolas"/>
            </a:endParaRPr>
          </a:p>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0.9, 0.7]</a:t>
            </a:r>
            <a:endParaRPr b="0" i="0" sz="1000" u="none" cap="none" strike="noStrike">
              <a:solidFill>
                <a:schemeClr val="dk1"/>
              </a:solidFill>
              <a:latin typeface="Calibri"/>
              <a:ea typeface="Calibri"/>
              <a:cs typeface="Calibri"/>
              <a:sym typeface="Calibri"/>
            </a:endParaRPr>
          </a:p>
        </p:txBody>
      </p:sp>
      <p:sp>
        <p:nvSpPr>
          <p:cNvPr id="242" name="Google Shape;242;p11"/>
          <p:cNvSpPr/>
          <p:nvPr/>
        </p:nvSpPr>
        <p:spPr>
          <a:xfrm>
            <a:off x="640080" y="4297680"/>
            <a:ext cx="274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D</a:t>
            </a:r>
            <a:endParaRPr b="0" i="0" sz="1200" u="none" cap="none" strike="noStrike">
              <a:solidFill>
                <a:schemeClr val="dk1"/>
              </a:solidFill>
              <a:latin typeface="Calibri"/>
              <a:ea typeface="Calibri"/>
              <a:cs typeface="Calibri"/>
              <a:sym typeface="Calibri"/>
            </a:endParaRPr>
          </a:p>
        </p:txBody>
      </p:sp>
      <p:sp>
        <p:nvSpPr>
          <p:cNvPr id="243" name="Google Shape;243;p11"/>
          <p:cNvSpPr/>
          <p:nvPr/>
        </p:nvSpPr>
        <p:spPr>
          <a:xfrm>
            <a:off x="914400" y="4297680"/>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"Kai likes pizza"</a:t>
            </a:r>
            <a:endParaRPr b="0" i="0" sz="1000" u="none" cap="none" strike="noStrike">
              <a:solidFill>
                <a:schemeClr val="dk1"/>
              </a:solidFill>
              <a:latin typeface="Calibri"/>
              <a:ea typeface="Calibri"/>
              <a:cs typeface="Calibri"/>
              <a:sym typeface="Calibri"/>
            </a:endParaRPr>
          </a:p>
        </p:txBody>
      </p:sp>
      <p:sp>
        <p:nvSpPr>
          <p:cNvPr id="244" name="Google Shape;244;p11"/>
          <p:cNvSpPr/>
          <p:nvPr/>
        </p:nvSpPr>
        <p:spPr>
          <a:xfrm>
            <a:off x="3383280" y="4297680"/>
            <a:ext cx="1463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[0.3, 0.1, </a:t>
            </a:r>
            <a:endParaRPr b="0" i="0" sz="1000" u="none" cap="none" strike="noStrike">
              <a:solidFill>
                <a:srgbClr val="0E8C6B"/>
              </a:solidFill>
              <a:latin typeface="Consolas"/>
              <a:ea typeface="Consolas"/>
              <a:cs typeface="Consolas"/>
              <a:sym typeface="Consolas"/>
            </a:endParaRPr>
          </a:p>
          <a:p>
            <a:pPr indent="0" lvl="0" marL="0" marR="0" rtl="0" algn="l">
              <a:spcBef>
                <a:spcPts val="0"/>
              </a:spcBef>
              <a:spcAft>
                <a:spcPts val="0"/>
              </a:spcAft>
              <a:buClr>
                <a:srgbClr val="0E8C6B"/>
              </a:buClr>
              <a:buSzPts val="1000"/>
              <a:buFont typeface="Consolas"/>
              <a:buNone/>
            </a:pPr>
            <a:r>
              <a:rPr b="0" i="0" lang="en-US" sz="1000" u="none" cap="none" strike="noStrike">
                <a:solidFill>
                  <a:srgbClr val="0E8C6B"/>
                </a:solidFill>
                <a:latin typeface="Consolas"/>
                <a:ea typeface="Consolas"/>
                <a:cs typeface="Consolas"/>
                <a:sym typeface="Consolas"/>
              </a:rPr>
              <a:t>0.0, 0.8]</a:t>
            </a:r>
            <a:endParaRPr b="0" i="0" sz="1000" u="none" cap="none" strike="noStrike">
              <a:solidFill>
                <a:schemeClr val="dk1"/>
              </a:solidFill>
              <a:latin typeface="Calibri"/>
              <a:ea typeface="Calibri"/>
              <a:cs typeface="Calibri"/>
              <a:sym typeface="Calibri"/>
            </a:endParaRPr>
          </a:p>
        </p:txBody>
      </p:sp>
      <p:sp>
        <p:nvSpPr>
          <p:cNvPr id="245" name="Google Shape;245;p11"/>
          <p:cNvSpPr/>
          <p:nvPr/>
        </p:nvSpPr>
        <p:spPr>
          <a:xfrm>
            <a:off x="5303520" y="2743200"/>
            <a:ext cx="3383280" cy="201168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5486400" y="283464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Georgia"/>
              <a:buNone/>
            </a:pPr>
            <a:r>
              <a:rPr b="1" i="0" lang="en-US" sz="1300" u="none" cap="none" strike="noStrike">
                <a:solidFill>
                  <a:srgbClr val="1A5276"/>
                </a:solidFill>
                <a:latin typeface="Georgia"/>
                <a:ea typeface="Georgia"/>
                <a:cs typeface="Georgia"/>
                <a:sym typeface="Georgia"/>
              </a:rPr>
              <a:t>Schritte</a:t>
            </a:r>
            <a:endParaRPr b="0" i="0" sz="1300" u="none" cap="none" strike="noStrike">
              <a:solidFill>
                <a:schemeClr val="dk1"/>
              </a:solidFill>
              <a:latin typeface="Calibri"/>
              <a:ea typeface="Calibri"/>
              <a:cs typeface="Calibri"/>
              <a:sym typeface="Calibri"/>
            </a:endParaRPr>
          </a:p>
        </p:txBody>
      </p:sp>
      <p:sp>
        <p:nvSpPr>
          <p:cNvPr id="247" name="Google Shape;247;p11"/>
          <p:cNvSpPr/>
          <p:nvPr/>
        </p:nvSpPr>
        <p:spPr>
          <a:xfrm>
            <a:off x="5486400" y="3200400"/>
            <a:ext cx="3017520" cy="1371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1. Skalarprodukt: A·B = ?</a:t>
            </a:r>
            <a:endParaRPr b="0" i="0" sz="11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2. Normen: ||A||, ||B|| = ?</a:t>
            </a:r>
            <a:endParaRPr b="0" i="0" sz="11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3. cos(θ) = (A·B)/(||A||×||B||)</a:t>
            </a:r>
            <a:endParaRPr b="0" i="0" sz="11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5. Ranking: Welche Paare</a:t>
            </a:r>
            <a:r>
              <a:rPr lang="en-US" sz="1100">
                <a:solidFill>
                  <a:schemeClr val="dk1"/>
                </a:solidFill>
                <a:latin typeface="Calibri"/>
                <a:ea typeface="Calibri"/>
                <a:cs typeface="Calibri"/>
                <a:sym typeface="Calibri"/>
              </a:rPr>
              <a:t> </a:t>
            </a:r>
            <a:r>
              <a:rPr b="0" i="0" lang="en-US" sz="1100" u="none" cap="none" strike="noStrike">
                <a:solidFill>
                  <a:srgbClr val="1C2833"/>
                </a:solidFill>
                <a:latin typeface="Calibri"/>
                <a:ea typeface="Calibri"/>
                <a:cs typeface="Calibri"/>
                <a:sym typeface="Calibri"/>
              </a:rPr>
              <a:t>sind am ähnlichsten?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2"/>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255" name="Google Shape;255;p12"/>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Simonides von Keos</a:t>
            </a:r>
            <a:endParaRPr b="0" i="0" sz="2800" u="none" cap="none" strike="noStrike">
              <a:solidFill>
                <a:schemeClr val="dk1"/>
              </a:solidFill>
              <a:latin typeface="Calibri"/>
              <a:ea typeface="Calibri"/>
              <a:cs typeface="Calibri"/>
              <a:sym typeface="Calibri"/>
            </a:endParaRPr>
          </a:p>
        </p:txBody>
      </p:sp>
      <p:sp>
        <p:nvSpPr>
          <p:cNvPr id="256" name="Google Shape;256;p12"/>
          <p:cNvSpPr/>
          <p:nvPr/>
        </p:nvSpPr>
        <p:spPr>
          <a:xfrm>
            <a:off x="237034" y="1097275"/>
            <a:ext cx="6300600" cy="3474600"/>
          </a:xfrm>
          <a:prstGeom prst="rect">
            <a:avLst/>
          </a:prstGeom>
          <a:solidFill>
            <a:srgbClr val="EEF2F7"/>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419910" y="1280150"/>
            <a:ext cx="6117600" cy="29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Die Legende schreibt die Entdeckung dem griechischen Dichter </a:t>
            </a:r>
            <a:r>
              <a:rPr b="1" i="0" lang="en-US" sz="1300" u="none" cap="none" strike="noStrike">
                <a:solidFill>
                  <a:srgbClr val="1C2833"/>
                </a:solidFill>
                <a:latin typeface="Calibri"/>
                <a:ea typeface="Calibri"/>
                <a:cs typeface="Calibri"/>
                <a:sym typeface="Calibri"/>
              </a:rPr>
              <a:t>Simonides von Keos</a:t>
            </a:r>
            <a:r>
              <a:rPr b="0" i="0" lang="en-US" sz="1300" u="none" cap="none" strike="noStrike">
                <a:solidFill>
                  <a:srgbClr val="1C2833"/>
                </a:solidFill>
                <a:latin typeface="Calibri"/>
                <a:ea typeface="Calibri"/>
                <a:cs typeface="Calibri"/>
                <a:sym typeface="Calibri"/>
              </a:rPr>
              <a:t> (ca. 556–468 v. Chr.) zu.</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Bei einem Gastmahl soll er kurz den Saal verlassen haben — genau bevor das Dach einstürzte und alle Gäste unter den Trümmern begrub.</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Die Leichen waren so entstellt, dass niemand sie identifizieren konnte. </a:t>
            </a:r>
            <a:endParaRPr b="0" i="0" sz="1300" u="none" cap="none" strike="noStrike">
              <a:solidFill>
                <a:srgbClr val="1C2833"/>
              </a:solidFill>
              <a:latin typeface="Calibri"/>
              <a:ea typeface="Calibri"/>
              <a:cs typeface="Calibri"/>
              <a:sym typeface="Calibri"/>
            </a:endParaRPr>
          </a:p>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Simonides aber </a:t>
            </a:r>
            <a:r>
              <a:rPr b="1" i="0" lang="en-US" sz="1300" u="none" cap="none" strike="noStrike">
                <a:solidFill>
                  <a:srgbClr val="1C2833"/>
                </a:solidFill>
                <a:latin typeface="Calibri"/>
                <a:ea typeface="Calibri"/>
                <a:cs typeface="Calibri"/>
                <a:sym typeface="Calibri"/>
              </a:rPr>
              <a:t>erinnerte sich an die exakte Sitzordnung</a:t>
            </a:r>
            <a:r>
              <a:rPr b="0" i="0" lang="en-US" sz="1300" u="none" cap="none" strike="noStrike">
                <a:solidFill>
                  <a:srgbClr val="1C2833"/>
                </a:solidFill>
                <a:latin typeface="Calibri"/>
                <a:ea typeface="Calibri"/>
                <a:cs typeface="Calibri"/>
                <a:sym typeface="Calibri"/>
              </a:rPr>
              <a:t> und konnte jeden Toten benennen.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Daraus erkannte er: </a:t>
            </a:r>
            <a:r>
              <a:rPr b="1" i="0" lang="en-US" sz="1300" u="none" cap="none" strike="noStrike">
                <a:solidFill>
                  <a:srgbClr val="1C2833"/>
                </a:solidFill>
                <a:latin typeface="Calibri"/>
                <a:ea typeface="Calibri"/>
                <a:cs typeface="Calibri"/>
                <a:sym typeface="Calibri"/>
              </a:rPr>
              <a:t>Raumposition verankert Erinnerung</a:t>
            </a:r>
            <a:r>
              <a:rPr b="0" i="0" lang="en-US" sz="1300" u="none" cap="none" strike="noStrike">
                <a:solidFill>
                  <a:srgbClr val="1C283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300"/>
              <a:buFont typeface="Calibri"/>
              <a:buNone/>
            </a:pPr>
            <a:r>
              <a:rPr b="0" i="0" lang="en-US" sz="1300" u="none" cap="none" strike="noStrike">
                <a:solidFill>
                  <a:srgbClr val="1C2833"/>
                </a:solidFill>
                <a:latin typeface="Calibri"/>
                <a:ea typeface="Calibri"/>
                <a:cs typeface="Calibri"/>
                <a:sym typeface="Calibri"/>
              </a:rPr>
              <a:t>Die </a:t>
            </a:r>
            <a:r>
              <a:rPr b="1" i="0" lang="en-US" sz="1300" u="none" cap="none" strike="noStrike">
                <a:solidFill>
                  <a:srgbClr val="1C2833"/>
                </a:solidFill>
                <a:latin typeface="Calibri"/>
                <a:ea typeface="Calibri"/>
                <a:cs typeface="Calibri"/>
                <a:sym typeface="Calibri"/>
              </a:rPr>
              <a:t>Method of Loci</a:t>
            </a:r>
            <a:r>
              <a:rPr b="0" i="0" lang="en-US" sz="1300" u="none" cap="none" strike="noStrike">
                <a:solidFill>
                  <a:srgbClr val="1C2833"/>
                </a:solidFill>
                <a:latin typeface="Calibri"/>
                <a:ea typeface="Calibri"/>
                <a:cs typeface="Calibri"/>
                <a:sym typeface="Calibri"/>
              </a:rPr>
              <a:t> wurde zur Standard-Technik antiker Redner — und ist die </a:t>
            </a:r>
            <a:r>
              <a:rPr b="1" i="0" lang="en-US" sz="1300" u="none" cap="none" strike="noStrike">
                <a:solidFill>
                  <a:srgbClr val="1C2833"/>
                </a:solidFill>
                <a:latin typeface="Calibri"/>
                <a:ea typeface="Calibri"/>
                <a:cs typeface="Calibri"/>
                <a:sym typeface="Calibri"/>
              </a:rPr>
              <a:t>direkte Inspiration für MemPalaces Architektur</a:t>
            </a:r>
            <a:r>
              <a:rPr b="0" i="0" lang="en-US" sz="1300" u="none" cap="none" strike="noStrike">
                <a:solidFill>
                  <a:srgbClr val="1C283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pic>
        <p:nvPicPr>
          <p:cNvPr id="258" name="Google Shape;258;p12"/>
          <p:cNvPicPr preferRelativeResize="0"/>
          <p:nvPr/>
        </p:nvPicPr>
        <p:blipFill>
          <a:blip r:embed="rId3">
            <a:alphaModFix/>
          </a:blip>
          <a:stretch>
            <a:fillRect/>
          </a:stretch>
        </p:blipFill>
        <p:spPr>
          <a:xfrm>
            <a:off x="6807235" y="1642970"/>
            <a:ext cx="2081400" cy="23832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13"/>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266" name="Google Shape;266;p13"/>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Die Palace-Architektur</a:t>
            </a:r>
            <a:endParaRPr b="0" i="0" sz="2800" u="none" cap="none" strike="noStrike">
              <a:solidFill>
                <a:schemeClr val="dk1"/>
              </a:solidFill>
              <a:latin typeface="Calibri"/>
              <a:ea typeface="Calibri"/>
              <a:cs typeface="Calibri"/>
              <a:sym typeface="Calibri"/>
            </a:endParaRPr>
          </a:p>
        </p:txBody>
      </p:sp>
      <p:sp>
        <p:nvSpPr>
          <p:cNvPr id="267" name="Google Shape;267;p13"/>
          <p:cNvSpPr/>
          <p:nvPr/>
        </p:nvSpPr>
        <p:spPr>
          <a:xfrm>
            <a:off x="1371600" y="1371600"/>
            <a:ext cx="6400800" cy="548640"/>
          </a:xfrm>
          <a:prstGeom prst="rect">
            <a:avLst/>
          </a:prstGeom>
          <a:solidFill>
            <a:srgbClr val="1A5276">
              <a:alpha val="10196"/>
            </a:srgbClr>
          </a:solidFill>
          <a:ln cap="flat" cmpd="sng" w="1905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1508760" y="1417320"/>
            <a:ext cx="1097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WING</a:t>
            </a:r>
            <a:endParaRPr b="0" i="0" sz="1300" u="none" cap="none" strike="noStrike">
              <a:solidFill>
                <a:schemeClr val="dk1"/>
              </a:solidFill>
              <a:latin typeface="Calibri"/>
              <a:ea typeface="Calibri"/>
              <a:cs typeface="Calibri"/>
              <a:sym typeface="Calibri"/>
            </a:endParaRPr>
          </a:p>
        </p:txBody>
      </p:sp>
      <p:sp>
        <p:nvSpPr>
          <p:cNvPr id="269" name="Google Shape;269;p13"/>
          <p:cNvSpPr/>
          <p:nvPr/>
        </p:nvSpPr>
        <p:spPr>
          <a:xfrm>
            <a:off x="2743200" y="141732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Person oder Projekt</a:t>
            </a:r>
            <a:endParaRPr b="0" i="0" sz="1200" u="none" cap="none" strike="noStrike">
              <a:solidFill>
                <a:schemeClr val="dk1"/>
              </a:solidFill>
              <a:latin typeface="Calibri"/>
              <a:ea typeface="Calibri"/>
              <a:cs typeface="Calibri"/>
              <a:sym typeface="Calibri"/>
            </a:endParaRPr>
          </a:p>
        </p:txBody>
      </p:sp>
      <p:sp>
        <p:nvSpPr>
          <p:cNvPr id="270" name="Google Shape;270;p13"/>
          <p:cNvSpPr/>
          <p:nvPr/>
        </p:nvSpPr>
        <p:spPr>
          <a:xfrm>
            <a:off x="1828800" y="2103120"/>
            <a:ext cx="5486400" cy="548640"/>
          </a:xfrm>
          <a:prstGeom prst="rect">
            <a:avLst/>
          </a:prstGeom>
          <a:solidFill>
            <a:srgbClr val="7D3C98">
              <a:alpha val="10196"/>
            </a:srgbClr>
          </a:solidFill>
          <a:ln cap="flat" cmpd="sng" w="19050">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3"/>
          <p:cNvSpPr/>
          <p:nvPr/>
        </p:nvSpPr>
        <p:spPr>
          <a:xfrm>
            <a:off x="1965960" y="2148840"/>
            <a:ext cx="1097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300"/>
              <a:buFont typeface="Consolas"/>
              <a:buNone/>
            </a:pPr>
            <a:r>
              <a:rPr b="1" i="0" lang="en-US" sz="1300" u="none" cap="none" strike="noStrike">
                <a:solidFill>
                  <a:srgbClr val="7D3C98"/>
                </a:solidFill>
                <a:latin typeface="Consolas"/>
                <a:ea typeface="Consolas"/>
                <a:cs typeface="Consolas"/>
                <a:sym typeface="Consolas"/>
              </a:rPr>
              <a:t>ROOM</a:t>
            </a:r>
            <a:endParaRPr b="0" i="0" sz="1300" u="none" cap="none" strike="noStrike">
              <a:solidFill>
                <a:schemeClr val="dk1"/>
              </a:solidFill>
              <a:latin typeface="Calibri"/>
              <a:ea typeface="Calibri"/>
              <a:cs typeface="Calibri"/>
              <a:sym typeface="Calibri"/>
            </a:endParaRPr>
          </a:p>
        </p:txBody>
      </p:sp>
      <p:sp>
        <p:nvSpPr>
          <p:cNvPr id="272" name="Google Shape;272;p13"/>
          <p:cNvSpPr/>
          <p:nvPr/>
        </p:nvSpPr>
        <p:spPr>
          <a:xfrm>
            <a:off x="3200400" y="2148840"/>
            <a:ext cx="3931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Spezifisches Thema</a:t>
            </a:r>
            <a:endParaRPr b="0" i="0" sz="1200" u="none" cap="none" strike="noStrike">
              <a:solidFill>
                <a:schemeClr val="dk1"/>
              </a:solidFill>
              <a:latin typeface="Calibri"/>
              <a:ea typeface="Calibri"/>
              <a:cs typeface="Calibri"/>
              <a:sym typeface="Calibri"/>
            </a:endParaRPr>
          </a:p>
        </p:txBody>
      </p:sp>
      <p:sp>
        <p:nvSpPr>
          <p:cNvPr id="273" name="Google Shape;273;p13"/>
          <p:cNvSpPr/>
          <p:nvPr/>
        </p:nvSpPr>
        <p:spPr>
          <a:xfrm>
            <a:off x="2286000" y="2834640"/>
            <a:ext cx="4572000" cy="548640"/>
          </a:xfrm>
          <a:prstGeom prst="rect">
            <a:avLst/>
          </a:prstGeom>
          <a:solidFill>
            <a:srgbClr val="E67E22">
              <a:alpha val="10196"/>
            </a:srgbClr>
          </a:solidFill>
          <a:ln cap="flat" cmpd="sng" w="1905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2423160" y="2880360"/>
            <a:ext cx="1097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300"/>
              <a:buFont typeface="Consolas"/>
              <a:buNone/>
            </a:pPr>
            <a:r>
              <a:rPr b="1" i="0" lang="en-US" sz="1300" u="none" cap="none" strike="noStrike">
                <a:solidFill>
                  <a:srgbClr val="E67E22"/>
                </a:solidFill>
                <a:latin typeface="Consolas"/>
                <a:ea typeface="Consolas"/>
                <a:cs typeface="Consolas"/>
                <a:sym typeface="Consolas"/>
              </a:rPr>
              <a:t>CLOSET</a:t>
            </a:r>
            <a:endParaRPr b="0" i="0" sz="1300" u="none" cap="none" strike="noStrike">
              <a:solidFill>
                <a:schemeClr val="dk1"/>
              </a:solidFill>
              <a:latin typeface="Calibri"/>
              <a:ea typeface="Calibri"/>
              <a:cs typeface="Calibri"/>
              <a:sym typeface="Calibri"/>
            </a:endParaRPr>
          </a:p>
        </p:txBody>
      </p:sp>
      <p:sp>
        <p:nvSpPr>
          <p:cNvPr id="275" name="Google Shape;275;p13"/>
          <p:cNvSpPr/>
          <p:nvPr/>
        </p:nvSpPr>
        <p:spPr>
          <a:xfrm>
            <a:off x="3657600" y="2880360"/>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Summary → zeigt auf Original</a:t>
            </a:r>
            <a:endParaRPr b="0" i="0" sz="1200" u="none" cap="none" strike="noStrike">
              <a:solidFill>
                <a:schemeClr val="dk1"/>
              </a:solidFill>
              <a:latin typeface="Calibri"/>
              <a:ea typeface="Calibri"/>
              <a:cs typeface="Calibri"/>
              <a:sym typeface="Calibri"/>
            </a:endParaRPr>
          </a:p>
        </p:txBody>
      </p:sp>
      <p:sp>
        <p:nvSpPr>
          <p:cNvPr id="276" name="Google Shape;276;p13"/>
          <p:cNvSpPr/>
          <p:nvPr/>
        </p:nvSpPr>
        <p:spPr>
          <a:xfrm>
            <a:off x="2743200" y="3566160"/>
            <a:ext cx="3657600" cy="548640"/>
          </a:xfrm>
          <a:prstGeom prst="rect">
            <a:avLst/>
          </a:prstGeom>
          <a:solidFill>
            <a:srgbClr val="27AE60">
              <a:alpha val="10196"/>
            </a:srgbClr>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2880360" y="3611880"/>
            <a:ext cx="1097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300"/>
              <a:buFont typeface="Consolas"/>
              <a:buNone/>
            </a:pPr>
            <a:r>
              <a:rPr b="1" i="0" lang="en-US" sz="1300" u="none" cap="none" strike="noStrike">
                <a:solidFill>
                  <a:srgbClr val="27AE60"/>
                </a:solidFill>
                <a:latin typeface="Consolas"/>
                <a:ea typeface="Consolas"/>
                <a:cs typeface="Consolas"/>
                <a:sym typeface="Consolas"/>
              </a:rPr>
              <a:t>DRAWER</a:t>
            </a:r>
            <a:endParaRPr b="0" i="0" sz="1300" u="none" cap="none" strike="noStrike">
              <a:solidFill>
                <a:schemeClr val="dk1"/>
              </a:solidFill>
              <a:latin typeface="Calibri"/>
              <a:ea typeface="Calibri"/>
              <a:cs typeface="Calibri"/>
              <a:sym typeface="Calibri"/>
            </a:endParaRPr>
          </a:p>
        </p:txBody>
      </p:sp>
      <p:sp>
        <p:nvSpPr>
          <p:cNvPr id="278" name="Google Shape;278;p13"/>
          <p:cNvSpPr/>
          <p:nvPr/>
        </p:nvSpPr>
        <p:spPr>
          <a:xfrm>
            <a:off x="4114800" y="3611880"/>
            <a:ext cx="2103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Verbatim-Original (ChromaDB)</a:t>
            </a:r>
            <a:endParaRPr b="0" i="0" sz="1200" u="none" cap="none" strike="noStrike">
              <a:solidFill>
                <a:schemeClr val="dk1"/>
              </a:solidFill>
              <a:latin typeface="Calibri"/>
              <a:ea typeface="Calibri"/>
              <a:cs typeface="Calibri"/>
              <a:sym typeface="Calibri"/>
            </a:endParaRPr>
          </a:p>
        </p:txBody>
      </p:sp>
      <p:sp>
        <p:nvSpPr>
          <p:cNvPr id="279" name="Google Shape;279;p13"/>
          <p:cNvSpPr/>
          <p:nvPr/>
        </p:nvSpPr>
        <p:spPr>
          <a:xfrm>
            <a:off x="457200" y="4297680"/>
            <a:ext cx="393192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p:nvPr/>
        </p:nvSpPr>
        <p:spPr>
          <a:xfrm>
            <a:off x="640080" y="434340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alibri"/>
              <a:buNone/>
            </a:pPr>
            <a:r>
              <a:rPr b="0" i="0" lang="en-US" sz="1000" u="none" cap="none" strike="noStrike">
                <a:solidFill>
                  <a:srgbClr val="566573"/>
                </a:solidFill>
                <a:latin typeface="Calibri"/>
                <a:ea typeface="Calibri"/>
                <a:cs typeface="Calibri"/>
                <a:sym typeface="Calibri"/>
              </a:rPr>
              <a:t>HALLS = </a:t>
            </a:r>
            <a:r>
              <a:rPr lang="en-US" sz="1000">
                <a:solidFill>
                  <a:srgbClr val="566573"/>
                </a:solidFill>
                <a:latin typeface="Calibri"/>
                <a:ea typeface="Calibri"/>
                <a:cs typeface="Calibri"/>
                <a:sym typeface="Calibri"/>
              </a:rPr>
              <a:t>Typ-Deklarierung von Rooms</a:t>
            </a:r>
            <a:endParaRPr b="0" i="0" sz="1000" u="none" cap="none" strike="noStrike">
              <a:solidFill>
                <a:schemeClr val="dk1"/>
              </a:solidFill>
              <a:latin typeface="Calibri"/>
              <a:ea typeface="Calibri"/>
              <a:cs typeface="Calibri"/>
              <a:sym typeface="Calibri"/>
            </a:endParaRPr>
          </a:p>
        </p:txBody>
      </p:sp>
      <p:sp>
        <p:nvSpPr>
          <p:cNvPr id="281" name="Google Shape;281;p13"/>
          <p:cNvSpPr/>
          <p:nvPr/>
        </p:nvSpPr>
        <p:spPr>
          <a:xfrm>
            <a:off x="4754880" y="4297680"/>
            <a:ext cx="393192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4937760" y="434340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alibri"/>
              <a:buNone/>
            </a:pPr>
            <a:r>
              <a:rPr b="0" i="0" lang="en-US" sz="1000" u="none" cap="none" strike="noStrike">
                <a:solidFill>
                  <a:srgbClr val="566573"/>
                </a:solidFill>
                <a:latin typeface="Calibri"/>
                <a:ea typeface="Calibri"/>
                <a:cs typeface="Calibri"/>
                <a:sym typeface="Calibri"/>
              </a:rPr>
              <a:t>TUNNELS = </a:t>
            </a:r>
            <a:r>
              <a:rPr lang="en-US" sz="1000">
                <a:solidFill>
                  <a:srgbClr val="566573"/>
                </a:solidFill>
                <a:latin typeface="Calibri"/>
                <a:ea typeface="Calibri"/>
                <a:cs typeface="Calibri"/>
                <a:sym typeface="Calibri"/>
              </a:rPr>
              <a:t>“</a:t>
            </a:r>
            <a:r>
              <a:rPr b="0" i="0" lang="en-US" sz="1000" u="none" cap="none" strike="noStrike">
                <a:solidFill>
                  <a:srgbClr val="566573"/>
                </a:solidFill>
                <a:latin typeface="Calibri"/>
                <a:ea typeface="Calibri"/>
                <a:cs typeface="Calibri"/>
                <a:sym typeface="Calibri"/>
              </a:rPr>
              <a:t>Verbindungen</a:t>
            </a:r>
            <a:r>
              <a:rPr lang="en-US" sz="1000">
                <a:solidFill>
                  <a:srgbClr val="566573"/>
                </a:solidFill>
                <a:latin typeface="Calibri"/>
                <a:ea typeface="Calibri"/>
                <a:cs typeface="Calibri"/>
                <a:sym typeface="Calibri"/>
              </a:rPr>
              <a:t>” </a:t>
            </a:r>
            <a:r>
              <a:rPr b="0" i="0" lang="en-US" sz="1000" u="none" cap="none" strike="noStrike">
                <a:solidFill>
                  <a:srgbClr val="566573"/>
                </a:solidFill>
                <a:latin typeface="Calibri"/>
                <a:ea typeface="Calibri"/>
                <a:cs typeface="Calibri"/>
                <a:sym typeface="Calibri"/>
              </a:rPr>
              <a:t>zwischen Rooms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alibri"/>
              <a:buNone/>
            </a:pPr>
            <a:r>
              <a:rPr b="0" i="0" lang="en-US" sz="1000" u="none" cap="none" strike="noStrike">
                <a:solidFill>
                  <a:srgbClr val="566573"/>
                </a:solidFill>
                <a:latin typeface="Calibri"/>
                <a:ea typeface="Calibri"/>
                <a:cs typeface="Calibri"/>
                <a:sym typeface="Calibri"/>
              </a:rPr>
              <a:t>über verschiedene Wings hinweg</a:t>
            </a:r>
            <a:endParaRPr b="0" i="0" sz="1000" u="none" cap="none" strike="noStrike">
              <a:solidFill>
                <a:schemeClr val="dk1"/>
              </a:solidFill>
              <a:latin typeface="Calibri"/>
              <a:ea typeface="Calibri"/>
              <a:cs typeface="Calibri"/>
              <a:sym typeface="Calibri"/>
            </a:endParaRPr>
          </a:p>
        </p:txBody>
      </p:sp>
      <p:sp>
        <p:nvSpPr>
          <p:cNvPr id="283" name="Google Shape;283;p13"/>
          <p:cNvSpPr txBox="1"/>
          <p:nvPr/>
        </p:nvSpPr>
        <p:spPr>
          <a:xfrm>
            <a:off x="877800" y="851463"/>
            <a:ext cx="738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rgbClr val="F1C232"/>
                </a:solidFill>
              </a:rPr>
              <a:t>{wing: "wing_kai", hall: "hall_events", room: "auth-migration"} </a:t>
            </a:r>
            <a:endParaRPr>
              <a:solidFill>
                <a:srgbClr val="F1C23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14"/>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291" name="Google Shape;291;p14"/>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Palace-Architektur: Technische Details</a:t>
            </a:r>
            <a:endParaRPr b="0" i="0" sz="2800" u="none" cap="none" strike="noStrike">
              <a:solidFill>
                <a:schemeClr val="dk1"/>
              </a:solidFill>
              <a:latin typeface="Calibri"/>
              <a:ea typeface="Calibri"/>
              <a:cs typeface="Calibri"/>
              <a:sym typeface="Calibri"/>
            </a:endParaRPr>
          </a:p>
        </p:txBody>
      </p:sp>
      <p:sp>
        <p:nvSpPr>
          <p:cNvPr id="292" name="Google Shape;292;p14"/>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Metadaten-Felder in ChromaDB</a:t>
            </a:r>
            <a:endParaRPr b="0" i="0" sz="1200" u="none" cap="none" strike="noStrike">
              <a:solidFill>
                <a:schemeClr val="dk1"/>
              </a:solidFill>
              <a:latin typeface="Calibri"/>
              <a:ea typeface="Calibri"/>
              <a:cs typeface="Calibri"/>
              <a:sym typeface="Calibri"/>
            </a:endParaRPr>
          </a:p>
        </p:txBody>
      </p:sp>
      <p:sp>
        <p:nvSpPr>
          <p:cNvPr id="293" name="Google Shape;293;p14"/>
          <p:cNvSpPr/>
          <p:nvPr/>
        </p:nvSpPr>
        <p:spPr>
          <a:xfrm>
            <a:off x="457200" y="1097280"/>
            <a:ext cx="8229600" cy="34747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640080" y="12527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Palace</a:t>
            </a:r>
            <a:endParaRPr b="0" i="0" sz="1100" u="none" cap="none" strike="noStrike">
              <a:solidFill>
                <a:schemeClr val="dk1"/>
              </a:solidFill>
              <a:latin typeface="Calibri"/>
              <a:ea typeface="Calibri"/>
              <a:cs typeface="Calibri"/>
              <a:sym typeface="Calibri"/>
            </a:endParaRPr>
          </a:p>
        </p:txBody>
      </p:sp>
      <p:sp>
        <p:nvSpPr>
          <p:cNvPr id="295" name="Google Shape;295;p14"/>
          <p:cNvSpPr/>
          <p:nvPr/>
        </p:nvSpPr>
        <p:spPr>
          <a:xfrm>
            <a:off x="1828800" y="12527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ChromaDB-Instanz + SQLite-Knowledge-Graph</a:t>
            </a:r>
            <a:endParaRPr b="0" i="0" sz="900" u="none" cap="none" strike="noStrike">
              <a:solidFill>
                <a:schemeClr val="dk1"/>
              </a:solidFill>
              <a:latin typeface="Calibri"/>
              <a:ea typeface="Calibri"/>
              <a:cs typeface="Calibri"/>
              <a:sym typeface="Calibri"/>
            </a:endParaRPr>
          </a:p>
        </p:txBody>
      </p:sp>
      <p:sp>
        <p:nvSpPr>
          <p:cNvPr id="296" name="Google Shape;296;p14"/>
          <p:cNvSpPr/>
          <p:nvPr/>
        </p:nvSpPr>
        <p:spPr>
          <a:xfrm>
            <a:off x="4480560" y="12527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Enthält alle Konversationen und deren Metadaten</a:t>
            </a:r>
            <a:endParaRPr b="0" i="0" sz="900" u="none" cap="none" strike="noStrike">
              <a:solidFill>
                <a:schemeClr val="dk1"/>
              </a:solidFill>
              <a:latin typeface="Calibri"/>
              <a:ea typeface="Calibri"/>
              <a:cs typeface="Calibri"/>
              <a:sym typeface="Calibri"/>
            </a:endParaRPr>
          </a:p>
        </p:txBody>
      </p:sp>
      <p:sp>
        <p:nvSpPr>
          <p:cNvPr id="297" name="Google Shape;297;p14"/>
          <p:cNvSpPr/>
          <p:nvPr/>
        </p:nvSpPr>
        <p:spPr>
          <a:xfrm>
            <a:off x="6675125" y="1124326"/>
            <a:ext cx="2011800" cy="5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Ein Palace pro AI-Agent-Identität</a:t>
            </a:r>
            <a:endParaRPr b="0" i="0" sz="900" u="none" cap="none" strike="noStrike">
              <a:solidFill>
                <a:schemeClr val="dk1"/>
              </a:solidFill>
              <a:latin typeface="Calibri"/>
              <a:ea typeface="Calibri"/>
              <a:cs typeface="Calibri"/>
              <a:sym typeface="Calibri"/>
            </a:endParaRPr>
          </a:p>
        </p:txBody>
      </p:sp>
      <p:cxnSp>
        <p:nvCxnSpPr>
          <p:cNvPr id="298" name="Google Shape;298;p14"/>
          <p:cNvCxnSpPr/>
          <p:nvPr/>
        </p:nvCxnSpPr>
        <p:spPr>
          <a:xfrm>
            <a:off x="640080" y="1691640"/>
            <a:ext cx="7863840" cy="0"/>
          </a:xfrm>
          <a:prstGeom prst="straightConnector1">
            <a:avLst/>
          </a:prstGeom>
          <a:noFill/>
          <a:ln cap="flat" cmpd="sng" w="9525">
            <a:solidFill>
              <a:srgbClr val="D5D8DC"/>
            </a:solidFill>
            <a:prstDash val="solid"/>
            <a:round/>
            <a:headEnd len="sm" w="sm" type="none"/>
            <a:tailEnd len="sm" w="sm" type="none"/>
          </a:ln>
        </p:spPr>
      </p:cxnSp>
      <p:sp>
        <p:nvSpPr>
          <p:cNvPr id="299" name="Google Shape;299;p14"/>
          <p:cNvSpPr/>
          <p:nvPr/>
        </p:nvSpPr>
        <p:spPr>
          <a:xfrm>
            <a:off x="640080" y="17099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Wing</a:t>
            </a:r>
            <a:endParaRPr b="0" i="0" sz="1100" u="none" cap="none" strike="noStrike">
              <a:solidFill>
                <a:schemeClr val="dk1"/>
              </a:solidFill>
              <a:latin typeface="Calibri"/>
              <a:ea typeface="Calibri"/>
              <a:cs typeface="Calibri"/>
              <a:sym typeface="Calibri"/>
            </a:endParaRPr>
          </a:p>
        </p:txBody>
      </p:sp>
      <p:sp>
        <p:nvSpPr>
          <p:cNvPr id="300" name="Google Shape;300;p14"/>
          <p:cNvSpPr/>
          <p:nvPr/>
        </p:nvSpPr>
        <p:spPr>
          <a:xfrm>
            <a:off x="1828800" y="17099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Metadaten-Tag: where={"wing": "wing_kai"}</a:t>
            </a:r>
            <a:endParaRPr b="0" i="0" sz="900" u="none" cap="none" strike="noStrike">
              <a:solidFill>
                <a:schemeClr val="dk1"/>
              </a:solidFill>
              <a:latin typeface="Calibri"/>
              <a:ea typeface="Calibri"/>
              <a:cs typeface="Calibri"/>
              <a:sym typeface="Calibri"/>
            </a:endParaRPr>
          </a:p>
        </p:txBody>
      </p:sp>
      <p:sp>
        <p:nvSpPr>
          <p:cNvPr id="301" name="Google Shape;301;p14"/>
          <p:cNvSpPr/>
          <p:nvPr/>
        </p:nvSpPr>
        <p:spPr>
          <a:xfrm>
            <a:off x="4480560" y="17099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Top-Level-Namespace für Person oder Projekt</a:t>
            </a:r>
            <a:endParaRPr b="0" i="0" sz="900" u="none" cap="none" strike="noStrike">
              <a:solidFill>
                <a:schemeClr val="dk1"/>
              </a:solidFill>
              <a:latin typeface="Calibri"/>
              <a:ea typeface="Calibri"/>
              <a:cs typeface="Calibri"/>
              <a:sym typeface="Calibri"/>
            </a:endParaRPr>
          </a:p>
        </p:txBody>
      </p:sp>
      <p:sp>
        <p:nvSpPr>
          <p:cNvPr id="302" name="Google Shape;302;p14"/>
          <p:cNvSpPr/>
          <p:nvPr/>
        </p:nvSpPr>
        <p:spPr>
          <a:xfrm>
            <a:off x="6675125" y="1709922"/>
            <a:ext cx="2011800" cy="40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Automatische Entity-Detection via convo_miner.py</a:t>
            </a:r>
            <a:endParaRPr b="0" i="0" sz="900" u="none" cap="none" strike="noStrike">
              <a:solidFill>
                <a:schemeClr val="dk1"/>
              </a:solidFill>
              <a:latin typeface="Calibri"/>
              <a:ea typeface="Calibri"/>
              <a:cs typeface="Calibri"/>
              <a:sym typeface="Calibri"/>
            </a:endParaRPr>
          </a:p>
        </p:txBody>
      </p:sp>
      <p:cxnSp>
        <p:nvCxnSpPr>
          <p:cNvPr id="303" name="Google Shape;303;p14"/>
          <p:cNvCxnSpPr/>
          <p:nvPr/>
        </p:nvCxnSpPr>
        <p:spPr>
          <a:xfrm>
            <a:off x="640080" y="2148840"/>
            <a:ext cx="7863840" cy="0"/>
          </a:xfrm>
          <a:prstGeom prst="straightConnector1">
            <a:avLst/>
          </a:prstGeom>
          <a:noFill/>
          <a:ln cap="flat" cmpd="sng" w="9525">
            <a:solidFill>
              <a:srgbClr val="D5D8DC"/>
            </a:solidFill>
            <a:prstDash val="solid"/>
            <a:round/>
            <a:headEnd len="sm" w="sm" type="none"/>
            <a:tailEnd len="sm" w="sm" type="none"/>
          </a:ln>
        </p:spPr>
      </p:cxnSp>
      <p:sp>
        <p:nvSpPr>
          <p:cNvPr id="304" name="Google Shape;304;p14"/>
          <p:cNvSpPr/>
          <p:nvPr/>
        </p:nvSpPr>
        <p:spPr>
          <a:xfrm>
            <a:off x="640080" y="21671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Hall</a:t>
            </a:r>
            <a:endParaRPr b="0" i="0" sz="1100" u="none" cap="none" strike="noStrike">
              <a:solidFill>
                <a:schemeClr val="dk1"/>
              </a:solidFill>
              <a:latin typeface="Calibri"/>
              <a:ea typeface="Calibri"/>
              <a:cs typeface="Calibri"/>
              <a:sym typeface="Calibri"/>
            </a:endParaRPr>
          </a:p>
        </p:txBody>
      </p:sp>
      <p:sp>
        <p:nvSpPr>
          <p:cNvPr id="305" name="Google Shape;305;p14"/>
          <p:cNvSpPr/>
          <p:nvPr/>
        </p:nvSpPr>
        <p:spPr>
          <a:xfrm>
            <a:off x="1828800" y="21671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Zweites Metadaten-Feld in ChromaDB</a:t>
            </a:r>
            <a:endParaRPr b="0" i="0" sz="900" u="none" cap="none" strike="noStrike">
              <a:solidFill>
                <a:schemeClr val="dk1"/>
              </a:solidFill>
              <a:latin typeface="Calibri"/>
              <a:ea typeface="Calibri"/>
              <a:cs typeface="Calibri"/>
              <a:sym typeface="Calibri"/>
            </a:endParaRPr>
          </a:p>
        </p:txBody>
      </p:sp>
      <p:sp>
        <p:nvSpPr>
          <p:cNvPr id="306" name="Google Shape;306;p14"/>
          <p:cNvSpPr/>
          <p:nvPr/>
        </p:nvSpPr>
        <p:spPr>
          <a:xfrm>
            <a:off x="4480560" y="21671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Vordefinierter Gedächtnistyp (5 fix)</a:t>
            </a:r>
            <a:endParaRPr b="0" i="0" sz="900" u="none" cap="none" strike="noStrike">
              <a:solidFill>
                <a:schemeClr val="dk1"/>
              </a:solidFill>
              <a:latin typeface="Calibri"/>
              <a:ea typeface="Calibri"/>
              <a:cs typeface="Calibri"/>
              <a:sym typeface="Calibri"/>
            </a:endParaRPr>
          </a:p>
        </p:txBody>
      </p:sp>
      <p:sp>
        <p:nvSpPr>
          <p:cNvPr id="307" name="Google Shape;307;p14"/>
          <p:cNvSpPr/>
          <p:nvPr/>
        </p:nvSpPr>
        <p:spPr>
          <a:xfrm>
            <a:off x="6675125" y="2167125"/>
            <a:ext cx="2011800" cy="40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Zuweisung: Keyword-Scoring auf erste 2.000 Zeichen</a:t>
            </a:r>
            <a:endParaRPr b="0" i="0" sz="900" u="none" cap="none" strike="noStrike">
              <a:solidFill>
                <a:schemeClr val="dk1"/>
              </a:solidFill>
              <a:latin typeface="Calibri"/>
              <a:ea typeface="Calibri"/>
              <a:cs typeface="Calibri"/>
              <a:sym typeface="Calibri"/>
            </a:endParaRPr>
          </a:p>
        </p:txBody>
      </p:sp>
      <p:cxnSp>
        <p:nvCxnSpPr>
          <p:cNvPr id="308" name="Google Shape;308;p14"/>
          <p:cNvCxnSpPr/>
          <p:nvPr/>
        </p:nvCxnSpPr>
        <p:spPr>
          <a:xfrm>
            <a:off x="640080" y="2606040"/>
            <a:ext cx="7863840" cy="0"/>
          </a:xfrm>
          <a:prstGeom prst="straightConnector1">
            <a:avLst/>
          </a:prstGeom>
          <a:noFill/>
          <a:ln cap="flat" cmpd="sng" w="9525">
            <a:solidFill>
              <a:srgbClr val="D5D8DC"/>
            </a:solidFill>
            <a:prstDash val="solid"/>
            <a:round/>
            <a:headEnd len="sm" w="sm" type="none"/>
            <a:tailEnd len="sm" w="sm" type="none"/>
          </a:ln>
        </p:spPr>
      </p:cxnSp>
      <p:sp>
        <p:nvSpPr>
          <p:cNvPr id="309" name="Google Shape;309;p14"/>
          <p:cNvSpPr/>
          <p:nvPr/>
        </p:nvSpPr>
        <p:spPr>
          <a:xfrm>
            <a:off x="640080" y="26243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Room</a:t>
            </a:r>
            <a:endParaRPr b="0" i="0" sz="1100" u="none" cap="none" strike="noStrike">
              <a:solidFill>
                <a:schemeClr val="dk1"/>
              </a:solidFill>
              <a:latin typeface="Calibri"/>
              <a:ea typeface="Calibri"/>
              <a:cs typeface="Calibri"/>
              <a:sym typeface="Calibri"/>
            </a:endParaRPr>
          </a:p>
        </p:txBody>
      </p:sp>
      <p:sp>
        <p:nvSpPr>
          <p:cNvPr id="310" name="Google Shape;310;p14"/>
          <p:cNvSpPr/>
          <p:nvPr/>
        </p:nvSpPr>
        <p:spPr>
          <a:xfrm>
            <a:off x="1828800" y="26243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Drittes Metadaten-Feld</a:t>
            </a:r>
            <a:endParaRPr b="0" i="0" sz="900" u="none" cap="none" strike="noStrike">
              <a:solidFill>
                <a:schemeClr val="dk1"/>
              </a:solidFill>
              <a:latin typeface="Calibri"/>
              <a:ea typeface="Calibri"/>
              <a:cs typeface="Calibri"/>
              <a:sym typeface="Calibri"/>
            </a:endParaRPr>
          </a:p>
        </p:txBody>
      </p:sp>
      <p:sp>
        <p:nvSpPr>
          <p:cNvPr id="311" name="Google Shape;311;p14"/>
          <p:cNvSpPr/>
          <p:nvPr/>
        </p:nvSpPr>
        <p:spPr>
          <a:xfrm>
            <a:off x="4480560" y="26243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Spezifisches Thema innerhalb eines Wings</a:t>
            </a:r>
            <a:endParaRPr b="0" i="0" sz="900" u="none" cap="none" strike="noStrike">
              <a:solidFill>
                <a:schemeClr val="dk1"/>
              </a:solidFill>
              <a:latin typeface="Calibri"/>
              <a:ea typeface="Calibri"/>
              <a:cs typeface="Calibri"/>
              <a:sym typeface="Calibri"/>
            </a:endParaRPr>
          </a:p>
        </p:txBody>
      </p:sp>
      <p:sp>
        <p:nvSpPr>
          <p:cNvPr id="312" name="Google Shape;312;p14"/>
          <p:cNvSpPr/>
          <p:nvPr/>
        </p:nvSpPr>
        <p:spPr>
          <a:xfrm>
            <a:off x="6675125" y="2624322"/>
            <a:ext cx="2011800" cy="40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Detection: ~60 Keyword-zu-Room-Mappings</a:t>
            </a:r>
            <a:endParaRPr b="0" i="0" sz="900" u="none" cap="none" strike="noStrike">
              <a:solidFill>
                <a:schemeClr val="dk1"/>
              </a:solidFill>
              <a:latin typeface="Calibri"/>
              <a:ea typeface="Calibri"/>
              <a:cs typeface="Calibri"/>
              <a:sym typeface="Calibri"/>
            </a:endParaRPr>
          </a:p>
        </p:txBody>
      </p:sp>
      <p:cxnSp>
        <p:nvCxnSpPr>
          <p:cNvPr id="313" name="Google Shape;313;p14"/>
          <p:cNvCxnSpPr/>
          <p:nvPr/>
        </p:nvCxnSpPr>
        <p:spPr>
          <a:xfrm>
            <a:off x="640080" y="3063240"/>
            <a:ext cx="7863840" cy="0"/>
          </a:xfrm>
          <a:prstGeom prst="straightConnector1">
            <a:avLst/>
          </a:prstGeom>
          <a:noFill/>
          <a:ln cap="flat" cmpd="sng" w="9525">
            <a:solidFill>
              <a:srgbClr val="D5D8DC"/>
            </a:solidFill>
            <a:prstDash val="solid"/>
            <a:round/>
            <a:headEnd len="sm" w="sm" type="none"/>
            <a:tailEnd len="sm" w="sm" type="none"/>
          </a:ln>
        </p:spPr>
      </p:cxnSp>
      <p:sp>
        <p:nvSpPr>
          <p:cNvPr id="314" name="Google Shape;314;p14"/>
          <p:cNvSpPr/>
          <p:nvPr/>
        </p:nvSpPr>
        <p:spPr>
          <a:xfrm>
            <a:off x="640080" y="30815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Closet</a:t>
            </a:r>
            <a:endParaRPr b="0" i="0" sz="1100" u="none" cap="none" strike="noStrike">
              <a:solidFill>
                <a:schemeClr val="dk1"/>
              </a:solidFill>
              <a:latin typeface="Calibri"/>
              <a:ea typeface="Calibri"/>
              <a:cs typeface="Calibri"/>
              <a:sym typeface="Calibri"/>
            </a:endParaRPr>
          </a:p>
        </p:txBody>
      </p:sp>
      <p:sp>
        <p:nvSpPr>
          <p:cNvPr id="315" name="Google Shape;315;p14"/>
          <p:cNvSpPr/>
          <p:nvPr/>
        </p:nvSpPr>
        <p:spPr>
          <a:xfrm>
            <a:off x="1828800" y="30815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Plaintext-Summary mit Pointer auf Drawer</a:t>
            </a:r>
            <a:endParaRPr b="0" i="0" sz="900" u="none" cap="none" strike="noStrike">
              <a:solidFill>
                <a:schemeClr val="dk1"/>
              </a:solidFill>
              <a:latin typeface="Calibri"/>
              <a:ea typeface="Calibri"/>
              <a:cs typeface="Calibri"/>
              <a:sym typeface="Calibri"/>
            </a:endParaRPr>
          </a:p>
        </p:txBody>
      </p:sp>
      <p:sp>
        <p:nvSpPr>
          <p:cNvPr id="316" name="Google Shape;316;p14"/>
          <p:cNvSpPr/>
          <p:nvPr/>
        </p:nvSpPr>
        <p:spPr>
          <a:xfrm>
            <a:off x="4480560" y="30815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Erste Trefferschicht bei Suche</a:t>
            </a:r>
            <a:endParaRPr b="0" i="0" sz="900" u="none" cap="none" strike="noStrike">
              <a:solidFill>
                <a:schemeClr val="dk1"/>
              </a:solidFill>
              <a:latin typeface="Calibri"/>
              <a:ea typeface="Calibri"/>
              <a:cs typeface="Calibri"/>
              <a:sym typeface="Calibri"/>
            </a:endParaRPr>
          </a:p>
        </p:txBody>
      </p:sp>
      <p:sp>
        <p:nvSpPr>
          <p:cNvPr id="317" name="Google Shape;317;p14"/>
          <p:cNvSpPr/>
          <p:nvPr/>
        </p:nvSpPr>
        <p:spPr>
          <a:xfrm>
            <a:off x="6675125" y="3081522"/>
            <a:ext cx="2011800" cy="40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Kürzer, schneller durchsuchbar als Originale</a:t>
            </a:r>
            <a:endParaRPr b="0" i="0" sz="900" u="none" cap="none" strike="noStrike">
              <a:solidFill>
                <a:schemeClr val="dk1"/>
              </a:solidFill>
              <a:latin typeface="Calibri"/>
              <a:ea typeface="Calibri"/>
              <a:cs typeface="Calibri"/>
              <a:sym typeface="Calibri"/>
            </a:endParaRPr>
          </a:p>
        </p:txBody>
      </p:sp>
      <p:cxnSp>
        <p:nvCxnSpPr>
          <p:cNvPr id="318" name="Google Shape;318;p14"/>
          <p:cNvCxnSpPr/>
          <p:nvPr/>
        </p:nvCxnSpPr>
        <p:spPr>
          <a:xfrm>
            <a:off x="640080" y="3520440"/>
            <a:ext cx="7863840" cy="0"/>
          </a:xfrm>
          <a:prstGeom prst="straightConnector1">
            <a:avLst/>
          </a:prstGeom>
          <a:noFill/>
          <a:ln cap="flat" cmpd="sng" w="9525">
            <a:solidFill>
              <a:srgbClr val="D5D8DC"/>
            </a:solidFill>
            <a:prstDash val="solid"/>
            <a:round/>
            <a:headEnd len="sm" w="sm" type="none"/>
            <a:tailEnd len="sm" w="sm" type="none"/>
          </a:ln>
        </p:spPr>
      </p:cxnSp>
      <p:sp>
        <p:nvSpPr>
          <p:cNvPr id="319" name="Google Shape;319;p14"/>
          <p:cNvSpPr/>
          <p:nvPr/>
        </p:nvSpPr>
        <p:spPr>
          <a:xfrm>
            <a:off x="640080" y="35387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Drawer</a:t>
            </a:r>
            <a:endParaRPr b="0" i="0" sz="1100" u="none" cap="none" strike="noStrike">
              <a:solidFill>
                <a:schemeClr val="dk1"/>
              </a:solidFill>
              <a:latin typeface="Calibri"/>
              <a:ea typeface="Calibri"/>
              <a:cs typeface="Calibri"/>
              <a:sym typeface="Calibri"/>
            </a:endParaRPr>
          </a:p>
        </p:txBody>
      </p:sp>
      <p:sp>
        <p:nvSpPr>
          <p:cNvPr id="320" name="Google Shape;320;p14"/>
          <p:cNvSpPr/>
          <p:nvPr/>
        </p:nvSpPr>
        <p:spPr>
          <a:xfrm>
            <a:off x="1828800" y="35387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Verbatim-Original, 800-Char-Chunks</a:t>
            </a:r>
            <a:endParaRPr b="0" i="0" sz="900" u="none" cap="none" strike="noStrike">
              <a:solidFill>
                <a:schemeClr val="dk1"/>
              </a:solidFill>
              <a:latin typeface="Calibri"/>
              <a:ea typeface="Calibri"/>
              <a:cs typeface="Calibri"/>
              <a:sym typeface="Calibri"/>
            </a:endParaRPr>
          </a:p>
        </p:txBody>
      </p:sp>
      <p:sp>
        <p:nvSpPr>
          <p:cNvPr id="321" name="Google Shape;321;p14"/>
          <p:cNvSpPr/>
          <p:nvPr/>
        </p:nvSpPr>
        <p:spPr>
          <a:xfrm>
            <a:off x="4480560" y="35387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all-MiniLM-L6-v2 Embedding, ANN/HNSW</a:t>
            </a:r>
            <a:endParaRPr b="0" i="0" sz="900" u="none" cap="none" strike="noStrike">
              <a:solidFill>
                <a:schemeClr val="dk1"/>
              </a:solidFill>
              <a:latin typeface="Calibri"/>
              <a:ea typeface="Calibri"/>
              <a:cs typeface="Calibri"/>
              <a:sym typeface="Calibri"/>
            </a:endParaRPr>
          </a:p>
        </p:txBody>
      </p:sp>
      <p:sp>
        <p:nvSpPr>
          <p:cNvPr id="322" name="Google Shape;322;p14"/>
          <p:cNvSpPr/>
          <p:nvPr/>
        </p:nvSpPr>
        <p:spPr>
          <a:xfrm>
            <a:off x="6675125" y="3538725"/>
            <a:ext cx="2011800" cy="40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MD5-Hash Deduplizierung</a:t>
            </a:r>
            <a:endParaRPr b="0" i="0" sz="900" u="none" cap="none" strike="noStrike">
              <a:solidFill>
                <a:schemeClr val="dk1"/>
              </a:solidFill>
              <a:latin typeface="Calibri"/>
              <a:ea typeface="Calibri"/>
              <a:cs typeface="Calibri"/>
              <a:sym typeface="Calibri"/>
            </a:endParaRPr>
          </a:p>
        </p:txBody>
      </p:sp>
      <p:cxnSp>
        <p:nvCxnSpPr>
          <p:cNvPr id="323" name="Google Shape;323;p14"/>
          <p:cNvCxnSpPr/>
          <p:nvPr/>
        </p:nvCxnSpPr>
        <p:spPr>
          <a:xfrm>
            <a:off x="640080" y="3977640"/>
            <a:ext cx="7863840" cy="0"/>
          </a:xfrm>
          <a:prstGeom prst="straightConnector1">
            <a:avLst/>
          </a:prstGeom>
          <a:noFill/>
          <a:ln cap="flat" cmpd="sng" w="9525">
            <a:solidFill>
              <a:srgbClr val="D5D8DC"/>
            </a:solidFill>
            <a:prstDash val="solid"/>
            <a:round/>
            <a:headEnd len="sm" w="sm" type="none"/>
            <a:tailEnd len="sm" w="sm" type="none"/>
          </a:ln>
        </p:spPr>
      </p:cxnSp>
      <p:sp>
        <p:nvSpPr>
          <p:cNvPr id="324" name="Google Shape;324;p14"/>
          <p:cNvSpPr/>
          <p:nvPr/>
        </p:nvSpPr>
        <p:spPr>
          <a:xfrm>
            <a:off x="640080" y="3995928"/>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Tunnel</a:t>
            </a:r>
            <a:endParaRPr b="0" i="0" sz="1100" u="none" cap="none" strike="noStrike">
              <a:solidFill>
                <a:schemeClr val="dk1"/>
              </a:solidFill>
              <a:latin typeface="Calibri"/>
              <a:ea typeface="Calibri"/>
              <a:cs typeface="Calibri"/>
              <a:sym typeface="Calibri"/>
            </a:endParaRPr>
          </a:p>
        </p:txBody>
      </p:sp>
      <p:sp>
        <p:nvSpPr>
          <p:cNvPr id="325" name="Google Shape;325;p14"/>
          <p:cNvSpPr/>
          <p:nvPr/>
        </p:nvSpPr>
        <p:spPr>
          <a:xfrm>
            <a:off x="1828800" y="3995928"/>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Cross-Wing Query: gleicher Room-Filter</a:t>
            </a:r>
            <a:endParaRPr b="0" i="0" sz="900" u="none" cap="none" strike="noStrike">
              <a:solidFill>
                <a:schemeClr val="dk1"/>
              </a:solidFill>
              <a:latin typeface="Calibri"/>
              <a:ea typeface="Calibri"/>
              <a:cs typeface="Calibri"/>
              <a:sym typeface="Calibri"/>
            </a:endParaRPr>
          </a:p>
        </p:txBody>
      </p:sp>
      <p:sp>
        <p:nvSpPr>
          <p:cNvPr id="326" name="Google Shape;326;p14"/>
          <p:cNvSpPr/>
          <p:nvPr/>
        </p:nvSpPr>
        <p:spPr>
          <a:xfrm>
            <a:off x="4480560" y="3995928"/>
            <a:ext cx="21031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Automatisch bei identischen Room-Namen</a:t>
            </a:r>
            <a:endParaRPr b="0" i="0" sz="900" u="none" cap="none" strike="noStrike">
              <a:solidFill>
                <a:schemeClr val="dk1"/>
              </a:solidFill>
              <a:latin typeface="Calibri"/>
              <a:ea typeface="Calibri"/>
              <a:cs typeface="Calibri"/>
              <a:sym typeface="Calibri"/>
            </a:endParaRPr>
          </a:p>
        </p:txBody>
      </p:sp>
      <p:sp>
        <p:nvSpPr>
          <p:cNvPr id="327" name="Google Shape;327;p14"/>
          <p:cNvSpPr/>
          <p:nvPr/>
        </p:nvSpPr>
        <p:spPr>
          <a:xfrm>
            <a:off x="6675125" y="3995920"/>
            <a:ext cx="2011800" cy="5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alibri"/>
              <a:buNone/>
            </a:pPr>
            <a:r>
              <a:rPr b="0" i="1" lang="en-US" sz="900" u="none" cap="none" strike="noStrike">
                <a:solidFill>
                  <a:srgbClr val="85929E"/>
                </a:solidFill>
                <a:latin typeface="Calibri"/>
                <a:ea typeface="Calibri"/>
                <a:cs typeface="Calibri"/>
                <a:sym typeface="Calibri"/>
              </a:rPr>
              <a:t>Kein eigenes DB-Objekt, nur Query-Pattern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15"/>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335" name="Google Shape;335;p15"/>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Tunnels: Cross-Domain Retrieval</a:t>
            </a:r>
            <a:endParaRPr b="0" i="0" sz="2800" u="none" cap="none" strike="noStrike">
              <a:solidFill>
                <a:schemeClr val="dk1"/>
              </a:solidFill>
              <a:latin typeface="Calibri"/>
              <a:ea typeface="Calibri"/>
              <a:cs typeface="Calibri"/>
              <a:sym typeface="Calibri"/>
            </a:endParaRPr>
          </a:p>
        </p:txBody>
      </p:sp>
      <p:sp>
        <p:nvSpPr>
          <p:cNvPr id="336" name="Google Shape;336;p15"/>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Gleicher Room-Name = automatische Verbindung</a:t>
            </a:r>
            <a:endParaRPr b="0" i="0" sz="1200" u="none" cap="none" strike="noStrike">
              <a:solidFill>
                <a:schemeClr val="dk1"/>
              </a:solidFill>
              <a:latin typeface="Calibri"/>
              <a:ea typeface="Calibri"/>
              <a:cs typeface="Calibri"/>
              <a:sym typeface="Calibri"/>
            </a:endParaRPr>
          </a:p>
        </p:txBody>
      </p:sp>
      <p:sp>
        <p:nvSpPr>
          <p:cNvPr id="337" name="Google Shape;337;p15"/>
          <p:cNvSpPr/>
          <p:nvPr/>
        </p:nvSpPr>
        <p:spPr>
          <a:xfrm>
            <a:off x="457200" y="1280160"/>
            <a:ext cx="5029200" cy="7315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640080" y="1371600"/>
            <a:ext cx="2011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wing_kai</a:t>
            </a:r>
            <a:endParaRPr b="0" i="0" sz="1100" u="none" cap="none" strike="noStrike">
              <a:solidFill>
                <a:schemeClr val="dk1"/>
              </a:solidFill>
              <a:latin typeface="Calibri"/>
              <a:ea typeface="Calibri"/>
              <a:cs typeface="Calibri"/>
              <a:sym typeface="Calibri"/>
            </a:endParaRPr>
          </a:p>
        </p:txBody>
      </p:sp>
      <p:sp>
        <p:nvSpPr>
          <p:cNvPr id="339" name="Google Shape;339;p15"/>
          <p:cNvSpPr/>
          <p:nvPr/>
        </p:nvSpPr>
        <p:spPr>
          <a:xfrm>
            <a:off x="2651760" y="137160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 hall_events / auth-migration</a:t>
            </a:r>
            <a:endParaRPr b="0" i="0" sz="1000" u="none" cap="none" strike="noStrike">
              <a:solidFill>
                <a:schemeClr val="dk1"/>
              </a:solidFill>
              <a:latin typeface="Calibri"/>
              <a:ea typeface="Calibri"/>
              <a:cs typeface="Calibri"/>
              <a:sym typeface="Calibri"/>
            </a:endParaRPr>
          </a:p>
        </p:txBody>
      </p:sp>
      <p:sp>
        <p:nvSpPr>
          <p:cNvPr id="340" name="Google Shape;340;p15"/>
          <p:cNvSpPr/>
          <p:nvPr/>
        </p:nvSpPr>
        <p:spPr>
          <a:xfrm>
            <a:off x="640080" y="169164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1" lang="en-US" sz="1200" u="none" cap="none" strike="noStrike">
                <a:solidFill>
                  <a:srgbClr val="566573"/>
                </a:solidFill>
                <a:latin typeface="Calibri"/>
                <a:ea typeface="Calibri"/>
                <a:cs typeface="Calibri"/>
                <a:sym typeface="Calibri"/>
              </a:rPr>
              <a:t>Kai debugged OAuth refresh</a:t>
            </a:r>
            <a:endParaRPr b="0" i="0" sz="1200" u="none" cap="none" strike="noStrike">
              <a:solidFill>
                <a:schemeClr val="dk1"/>
              </a:solidFill>
              <a:latin typeface="Calibri"/>
              <a:ea typeface="Calibri"/>
              <a:cs typeface="Calibri"/>
              <a:sym typeface="Calibri"/>
            </a:endParaRPr>
          </a:p>
        </p:txBody>
      </p:sp>
      <p:sp>
        <p:nvSpPr>
          <p:cNvPr id="341" name="Google Shape;341;p15"/>
          <p:cNvSpPr/>
          <p:nvPr/>
        </p:nvSpPr>
        <p:spPr>
          <a:xfrm>
            <a:off x="457200" y="2286000"/>
            <a:ext cx="5029200" cy="7315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640080" y="2377440"/>
            <a:ext cx="2011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wing_driftwood</a:t>
            </a:r>
            <a:endParaRPr b="0" i="0" sz="1100" u="none" cap="none" strike="noStrike">
              <a:solidFill>
                <a:schemeClr val="dk1"/>
              </a:solidFill>
              <a:latin typeface="Calibri"/>
              <a:ea typeface="Calibri"/>
              <a:cs typeface="Calibri"/>
              <a:sym typeface="Calibri"/>
            </a:endParaRPr>
          </a:p>
        </p:txBody>
      </p:sp>
      <p:sp>
        <p:nvSpPr>
          <p:cNvPr id="343" name="Google Shape;343;p15"/>
          <p:cNvSpPr/>
          <p:nvPr/>
        </p:nvSpPr>
        <p:spPr>
          <a:xfrm>
            <a:off x="2651760" y="237744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 hall_facts / auth-migration</a:t>
            </a:r>
            <a:endParaRPr b="0" i="0" sz="1000" u="none" cap="none" strike="noStrike">
              <a:solidFill>
                <a:schemeClr val="dk1"/>
              </a:solidFill>
              <a:latin typeface="Calibri"/>
              <a:ea typeface="Calibri"/>
              <a:cs typeface="Calibri"/>
              <a:sym typeface="Calibri"/>
            </a:endParaRPr>
          </a:p>
        </p:txBody>
      </p:sp>
      <p:sp>
        <p:nvSpPr>
          <p:cNvPr id="344" name="Google Shape;344;p15"/>
          <p:cNvSpPr/>
          <p:nvPr/>
        </p:nvSpPr>
        <p:spPr>
          <a:xfrm>
            <a:off x="640080" y="269748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1" lang="en-US" sz="1200" u="none" cap="none" strike="noStrike">
                <a:solidFill>
                  <a:srgbClr val="566573"/>
                </a:solidFill>
                <a:latin typeface="Calibri"/>
                <a:ea typeface="Calibri"/>
                <a:cs typeface="Calibri"/>
                <a:sym typeface="Calibri"/>
              </a:rPr>
              <a:t>Team decided on Clerk</a:t>
            </a:r>
            <a:endParaRPr b="0" i="0" sz="1200" u="none" cap="none" strike="noStrike">
              <a:solidFill>
                <a:schemeClr val="dk1"/>
              </a:solidFill>
              <a:latin typeface="Calibri"/>
              <a:ea typeface="Calibri"/>
              <a:cs typeface="Calibri"/>
              <a:sym typeface="Calibri"/>
            </a:endParaRPr>
          </a:p>
        </p:txBody>
      </p:sp>
      <p:sp>
        <p:nvSpPr>
          <p:cNvPr id="345" name="Google Shape;345;p15"/>
          <p:cNvSpPr/>
          <p:nvPr/>
        </p:nvSpPr>
        <p:spPr>
          <a:xfrm>
            <a:off x="457200" y="3291840"/>
            <a:ext cx="5029200" cy="7315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640080" y="3383280"/>
            <a:ext cx="2011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wing_priya</a:t>
            </a:r>
            <a:endParaRPr b="0" i="0" sz="1100" u="none" cap="none" strike="noStrike">
              <a:solidFill>
                <a:schemeClr val="dk1"/>
              </a:solidFill>
              <a:latin typeface="Calibri"/>
              <a:ea typeface="Calibri"/>
              <a:cs typeface="Calibri"/>
              <a:sym typeface="Calibri"/>
            </a:endParaRPr>
          </a:p>
        </p:txBody>
      </p:sp>
      <p:sp>
        <p:nvSpPr>
          <p:cNvPr id="347" name="Google Shape;347;p15"/>
          <p:cNvSpPr/>
          <p:nvPr/>
        </p:nvSpPr>
        <p:spPr>
          <a:xfrm>
            <a:off x="2651760" y="3383280"/>
            <a:ext cx="274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 hall_advice / auth-migration</a:t>
            </a:r>
            <a:endParaRPr b="0" i="0" sz="1000" u="none" cap="none" strike="noStrike">
              <a:solidFill>
                <a:schemeClr val="dk1"/>
              </a:solidFill>
              <a:latin typeface="Calibri"/>
              <a:ea typeface="Calibri"/>
              <a:cs typeface="Calibri"/>
              <a:sym typeface="Calibri"/>
            </a:endParaRPr>
          </a:p>
        </p:txBody>
      </p:sp>
      <p:sp>
        <p:nvSpPr>
          <p:cNvPr id="348" name="Google Shape;348;p15"/>
          <p:cNvSpPr/>
          <p:nvPr/>
        </p:nvSpPr>
        <p:spPr>
          <a:xfrm>
            <a:off x="640080" y="370332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1" lang="en-US" sz="1200" u="none" cap="none" strike="noStrike">
                <a:solidFill>
                  <a:srgbClr val="566573"/>
                </a:solidFill>
                <a:latin typeface="Calibri"/>
                <a:ea typeface="Calibri"/>
                <a:cs typeface="Calibri"/>
                <a:sym typeface="Calibri"/>
              </a:rPr>
              <a:t>Priya approved Clerk over Auth0</a:t>
            </a:r>
            <a:endParaRPr b="0" i="0" sz="1200" u="none" cap="none" strike="noStrike">
              <a:solidFill>
                <a:schemeClr val="dk1"/>
              </a:solidFill>
              <a:latin typeface="Calibri"/>
              <a:ea typeface="Calibri"/>
              <a:cs typeface="Calibri"/>
              <a:sym typeface="Calibri"/>
            </a:endParaRPr>
          </a:p>
        </p:txBody>
      </p:sp>
      <p:sp>
        <p:nvSpPr>
          <p:cNvPr id="349" name="Google Shape;349;p15"/>
          <p:cNvSpPr/>
          <p:nvPr/>
        </p:nvSpPr>
        <p:spPr>
          <a:xfrm>
            <a:off x="5943600" y="1463040"/>
            <a:ext cx="2743200" cy="2377440"/>
          </a:xfrm>
          <a:prstGeom prst="rect">
            <a:avLst/>
          </a:prstGeom>
          <a:solidFill>
            <a:srgbClr val="EEF2F7"/>
          </a:solidFill>
          <a:ln cap="flat" cmpd="sng" w="9525">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6217920" y="16459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D3C98"/>
              </a:buClr>
              <a:buSzPts val="1800"/>
              <a:buFont typeface="Consolas"/>
              <a:buNone/>
            </a:pPr>
            <a:r>
              <a:rPr b="1" i="0" lang="en-US" sz="1800" u="none" cap="none" strike="noStrike">
                <a:solidFill>
                  <a:srgbClr val="7D3C98"/>
                </a:solidFill>
                <a:latin typeface="Consolas"/>
                <a:ea typeface="Consolas"/>
                <a:cs typeface="Consolas"/>
                <a:sym typeface="Consolas"/>
              </a:rPr>
              <a:t>TUNNEL</a:t>
            </a:r>
            <a:endParaRPr b="0" i="0" sz="1800" u="none" cap="none" strike="noStrike">
              <a:solidFill>
                <a:schemeClr val="dk1"/>
              </a:solidFill>
              <a:latin typeface="Calibri"/>
              <a:ea typeface="Calibri"/>
              <a:cs typeface="Calibri"/>
              <a:sym typeface="Calibri"/>
            </a:endParaRPr>
          </a:p>
        </p:txBody>
      </p:sp>
      <p:sp>
        <p:nvSpPr>
          <p:cNvPr id="351" name="Google Shape;351;p15"/>
          <p:cNvSpPr/>
          <p:nvPr/>
        </p:nvSpPr>
        <p:spPr>
          <a:xfrm>
            <a:off x="6217920" y="2103120"/>
            <a:ext cx="21945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auth-migration</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3 Wings, 1 Room</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Automatisch verknüpft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16"/>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359" name="Google Shape;359;p16"/>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Die 5 Hall-Typen</a:t>
            </a:r>
            <a:endParaRPr b="0" i="0" sz="2800" u="none" cap="none" strike="noStrike">
              <a:solidFill>
                <a:schemeClr val="dk1"/>
              </a:solidFill>
              <a:latin typeface="Calibri"/>
              <a:ea typeface="Calibri"/>
              <a:cs typeface="Calibri"/>
              <a:sym typeface="Calibri"/>
            </a:endParaRPr>
          </a:p>
        </p:txBody>
      </p:sp>
      <p:sp>
        <p:nvSpPr>
          <p:cNvPr id="360" name="Google Shape;360;p16"/>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Fest definierte Kategorien in jedem Wing</a:t>
            </a:r>
            <a:endParaRPr b="0" i="0" sz="1200" u="none" cap="none" strike="noStrike">
              <a:solidFill>
                <a:schemeClr val="dk1"/>
              </a:solidFill>
              <a:latin typeface="Calibri"/>
              <a:ea typeface="Calibri"/>
              <a:cs typeface="Calibri"/>
              <a:sym typeface="Calibri"/>
            </a:endParaRPr>
          </a:p>
        </p:txBody>
      </p:sp>
      <p:sp>
        <p:nvSpPr>
          <p:cNvPr id="361" name="Google Shape;361;p16"/>
          <p:cNvSpPr/>
          <p:nvPr/>
        </p:nvSpPr>
        <p:spPr>
          <a:xfrm>
            <a:off x="457200" y="1097280"/>
            <a:ext cx="822960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a:off x="640080" y="1188720"/>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3" name="Google Shape;363;p16"/>
          <p:cNvPicPr preferRelativeResize="0"/>
          <p:nvPr/>
        </p:nvPicPr>
        <p:blipFill rotWithShape="1">
          <a:blip r:embed="rId3">
            <a:alphaModFix/>
          </a:blip>
          <a:srcRect b="0" l="0" r="0" t="0"/>
          <a:stretch/>
        </p:blipFill>
        <p:spPr>
          <a:xfrm>
            <a:off x="713232" y="1261872"/>
            <a:ext cx="219456" cy="219456"/>
          </a:xfrm>
          <a:prstGeom prst="rect">
            <a:avLst/>
          </a:prstGeom>
          <a:noFill/>
          <a:ln>
            <a:noFill/>
          </a:ln>
        </p:spPr>
      </p:pic>
      <p:sp>
        <p:nvSpPr>
          <p:cNvPr id="364" name="Google Shape;364;p16"/>
          <p:cNvSpPr/>
          <p:nvPr/>
        </p:nvSpPr>
        <p:spPr>
          <a:xfrm>
            <a:off x="1188720" y="114300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hall_facts</a:t>
            </a:r>
            <a:endParaRPr b="0" i="0" sz="1300" u="none" cap="none" strike="noStrike">
              <a:solidFill>
                <a:schemeClr val="dk1"/>
              </a:solidFill>
              <a:latin typeface="Calibri"/>
              <a:ea typeface="Calibri"/>
              <a:cs typeface="Calibri"/>
              <a:sym typeface="Calibri"/>
            </a:endParaRPr>
          </a:p>
        </p:txBody>
      </p:sp>
      <p:sp>
        <p:nvSpPr>
          <p:cNvPr id="365" name="Google Shape;365;p16"/>
          <p:cNvSpPr/>
          <p:nvPr/>
        </p:nvSpPr>
        <p:spPr>
          <a:xfrm>
            <a:off x="3657600" y="114300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Getroffene Entscheidungen, fixierte Choices</a:t>
            </a:r>
            <a:endParaRPr b="0" i="0" sz="1200" u="none" cap="none" strike="noStrike">
              <a:solidFill>
                <a:schemeClr val="dk1"/>
              </a:solidFill>
              <a:latin typeface="Calibri"/>
              <a:ea typeface="Calibri"/>
              <a:cs typeface="Calibri"/>
              <a:sym typeface="Calibri"/>
            </a:endParaRPr>
          </a:p>
        </p:txBody>
      </p:sp>
      <p:sp>
        <p:nvSpPr>
          <p:cNvPr id="366" name="Google Shape;366;p16"/>
          <p:cNvSpPr/>
          <p:nvPr/>
        </p:nvSpPr>
        <p:spPr>
          <a:xfrm>
            <a:off x="457200" y="1828800"/>
            <a:ext cx="822960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640080" y="1920240"/>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8" name="Google Shape;368;p16"/>
          <p:cNvPicPr preferRelativeResize="0"/>
          <p:nvPr/>
        </p:nvPicPr>
        <p:blipFill rotWithShape="1">
          <a:blip r:embed="rId4">
            <a:alphaModFix/>
          </a:blip>
          <a:srcRect b="0" l="0" r="0" t="0"/>
          <a:stretch/>
        </p:blipFill>
        <p:spPr>
          <a:xfrm>
            <a:off x="713232" y="1993392"/>
            <a:ext cx="219456" cy="219456"/>
          </a:xfrm>
          <a:prstGeom prst="rect">
            <a:avLst/>
          </a:prstGeom>
          <a:noFill/>
          <a:ln>
            <a:noFill/>
          </a:ln>
        </p:spPr>
      </p:pic>
      <p:sp>
        <p:nvSpPr>
          <p:cNvPr id="369" name="Google Shape;369;p16"/>
          <p:cNvSpPr/>
          <p:nvPr/>
        </p:nvSpPr>
        <p:spPr>
          <a:xfrm>
            <a:off x="1188720" y="187452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hall_events</a:t>
            </a:r>
            <a:endParaRPr b="0" i="0" sz="1300" u="none" cap="none" strike="noStrike">
              <a:solidFill>
                <a:schemeClr val="dk1"/>
              </a:solidFill>
              <a:latin typeface="Calibri"/>
              <a:ea typeface="Calibri"/>
              <a:cs typeface="Calibri"/>
              <a:sym typeface="Calibri"/>
            </a:endParaRPr>
          </a:p>
        </p:txBody>
      </p:sp>
      <p:sp>
        <p:nvSpPr>
          <p:cNvPr id="370" name="Google Shape;370;p16"/>
          <p:cNvSpPr/>
          <p:nvPr/>
        </p:nvSpPr>
        <p:spPr>
          <a:xfrm>
            <a:off x="3657600" y="187452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Sessions, Milestones, Debugging-Events</a:t>
            </a:r>
            <a:endParaRPr b="0" i="0" sz="1200" u="none" cap="none" strike="noStrike">
              <a:solidFill>
                <a:schemeClr val="dk1"/>
              </a:solidFill>
              <a:latin typeface="Calibri"/>
              <a:ea typeface="Calibri"/>
              <a:cs typeface="Calibri"/>
              <a:sym typeface="Calibri"/>
            </a:endParaRPr>
          </a:p>
        </p:txBody>
      </p:sp>
      <p:sp>
        <p:nvSpPr>
          <p:cNvPr id="371" name="Google Shape;371;p16"/>
          <p:cNvSpPr/>
          <p:nvPr/>
        </p:nvSpPr>
        <p:spPr>
          <a:xfrm>
            <a:off x="457200" y="2560320"/>
            <a:ext cx="822960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a:off x="640080" y="2651760"/>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3" name="Google Shape;373;p16"/>
          <p:cNvPicPr preferRelativeResize="0"/>
          <p:nvPr/>
        </p:nvPicPr>
        <p:blipFill rotWithShape="1">
          <a:blip r:embed="rId5">
            <a:alphaModFix/>
          </a:blip>
          <a:srcRect b="0" l="0" r="0" t="0"/>
          <a:stretch/>
        </p:blipFill>
        <p:spPr>
          <a:xfrm>
            <a:off x="713232" y="2724912"/>
            <a:ext cx="219456" cy="219456"/>
          </a:xfrm>
          <a:prstGeom prst="rect">
            <a:avLst/>
          </a:prstGeom>
          <a:noFill/>
          <a:ln>
            <a:noFill/>
          </a:ln>
        </p:spPr>
      </p:pic>
      <p:sp>
        <p:nvSpPr>
          <p:cNvPr id="374" name="Google Shape;374;p16"/>
          <p:cNvSpPr/>
          <p:nvPr/>
        </p:nvSpPr>
        <p:spPr>
          <a:xfrm>
            <a:off x="1188720" y="260604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hall_discoveries</a:t>
            </a:r>
            <a:endParaRPr b="0" i="0" sz="1300" u="none" cap="none" strike="noStrike">
              <a:solidFill>
                <a:schemeClr val="dk1"/>
              </a:solidFill>
              <a:latin typeface="Calibri"/>
              <a:ea typeface="Calibri"/>
              <a:cs typeface="Calibri"/>
              <a:sym typeface="Calibri"/>
            </a:endParaRPr>
          </a:p>
        </p:txBody>
      </p:sp>
      <p:sp>
        <p:nvSpPr>
          <p:cNvPr id="375" name="Google Shape;375;p16"/>
          <p:cNvSpPr/>
          <p:nvPr/>
        </p:nvSpPr>
        <p:spPr>
          <a:xfrm>
            <a:off x="3657600" y="260604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Durchbrüche, neue Insights, Aha-Momente</a:t>
            </a:r>
            <a:endParaRPr b="0" i="0" sz="1200" u="none" cap="none" strike="noStrike">
              <a:solidFill>
                <a:schemeClr val="dk1"/>
              </a:solidFill>
              <a:latin typeface="Calibri"/>
              <a:ea typeface="Calibri"/>
              <a:cs typeface="Calibri"/>
              <a:sym typeface="Calibri"/>
            </a:endParaRPr>
          </a:p>
        </p:txBody>
      </p:sp>
      <p:sp>
        <p:nvSpPr>
          <p:cNvPr id="376" name="Google Shape;376;p16"/>
          <p:cNvSpPr/>
          <p:nvPr/>
        </p:nvSpPr>
        <p:spPr>
          <a:xfrm>
            <a:off x="457200" y="3291840"/>
            <a:ext cx="822960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640080" y="3383280"/>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8" name="Google Shape;378;p16"/>
          <p:cNvPicPr preferRelativeResize="0"/>
          <p:nvPr/>
        </p:nvPicPr>
        <p:blipFill rotWithShape="1">
          <a:blip r:embed="rId6">
            <a:alphaModFix/>
          </a:blip>
          <a:srcRect b="0" l="0" r="0" t="0"/>
          <a:stretch/>
        </p:blipFill>
        <p:spPr>
          <a:xfrm>
            <a:off x="713232" y="3456432"/>
            <a:ext cx="219456" cy="219456"/>
          </a:xfrm>
          <a:prstGeom prst="rect">
            <a:avLst/>
          </a:prstGeom>
          <a:noFill/>
          <a:ln>
            <a:noFill/>
          </a:ln>
        </p:spPr>
      </p:pic>
      <p:sp>
        <p:nvSpPr>
          <p:cNvPr id="379" name="Google Shape;379;p16"/>
          <p:cNvSpPr/>
          <p:nvPr/>
        </p:nvSpPr>
        <p:spPr>
          <a:xfrm>
            <a:off x="1188720" y="33375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hall_preferences</a:t>
            </a:r>
            <a:endParaRPr b="0" i="0" sz="1300" u="none" cap="none" strike="noStrike">
              <a:solidFill>
                <a:schemeClr val="dk1"/>
              </a:solidFill>
              <a:latin typeface="Calibri"/>
              <a:ea typeface="Calibri"/>
              <a:cs typeface="Calibri"/>
              <a:sym typeface="Calibri"/>
            </a:endParaRPr>
          </a:p>
        </p:txBody>
      </p:sp>
      <p:sp>
        <p:nvSpPr>
          <p:cNvPr id="380" name="Google Shape;380;p16"/>
          <p:cNvSpPr/>
          <p:nvPr/>
        </p:nvSpPr>
        <p:spPr>
          <a:xfrm>
            <a:off x="3657600" y="333756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Gewohnheiten, Meinungen, persönliche Vorlieben</a:t>
            </a:r>
            <a:endParaRPr b="0" i="0" sz="1200" u="none" cap="none" strike="noStrike">
              <a:solidFill>
                <a:schemeClr val="dk1"/>
              </a:solidFill>
              <a:latin typeface="Calibri"/>
              <a:ea typeface="Calibri"/>
              <a:cs typeface="Calibri"/>
              <a:sym typeface="Calibri"/>
            </a:endParaRPr>
          </a:p>
        </p:txBody>
      </p:sp>
      <p:sp>
        <p:nvSpPr>
          <p:cNvPr id="381" name="Google Shape;381;p16"/>
          <p:cNvSpPr/>
          <p:nvPr/>
        </p:nvSpPr>
        <p:spPr>
          <a:xfrm>
            <a:off x="457200" y="4023360"/>
            <a:ext cx="8229600" cy="5943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640080" y="4114800"/>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3" name="Google Shape;383;p16"/>
          <p:cNvPicPr preferRelativeResize="0"/>
          <p:nvPr/>
        </p:nvPicPr>
        <p:blipFill rotWithShape="1">
          <a:blip r:embed="rId7">
            <a:alphaModFix/>
          </a:blip>
          <a:srcRect b="0" l="0" r="0" t="0"/>
          <a:stretch/>
        </p:blipFill>
        <p:spPr>
          <a:xfrm>
            <a:off x="713232" y="4187952"/>
            <a:ext cx="219456" cy="219456"/>
          </a:xfrm>
          <a:prstGeom prst="rect">
            <a:avLst/>
          </a:prstGeom>
          <a:noFill/>
          <a:ln>
            <a:noFill/>
          </a:ln>
        </p:spPr>
      </p:pic>
      <p:sp>
        <p:nvSpPr>
          <p:cNvPr id="384" name="Google Shape;384;p16"/>
          <p:cNvSpPr/>
          <p:nvPr/>
        </p:nvSpPr>
        <p:spPr>
          <a:xfrm>
            <a:off x="1188720" y="406908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300"/>
              <a:buFont typeface="Consolas"/>
              <a:buNone/>
            </a:pPr>
            <a:r>
              <a:rPr b="1" i="0" lang="en-US" sz="1300" u="none" cap="none" strike="noStrike">
                <a:solidFill>
                  <a:srgbClr val="1A5276"/>
                </a:solidFill>
                <a:latin typeface="Consolas"/>
                <a:ea typeface="Consolas"/>
                <a:cs typeface="Consolas"/>
                <a:sym typeface="Consolas"/>
              </a:rPr>
              <a:t>hall_advice</a:t>
            </a:r>
            <a:endParaRPr b="0" i="0" sz="1300" u="none" cap="none" strike="noStrike">
              <a:solidFill>
                <a:schemeClr val="dk1"/>
              </a:solidFill>
              <a:latin typeface="Calibri"/>
              <a:ea typeface="Calibri"/>
              <a:cs typeface="Calibri"/>
              <a:sym typeface="Calibri"/>
            </a:endParaRPr>
          </a:p>
        </p:txBody>
      </p:sp>
      <p:sp>
        <p:nvSpPr>
          <p:cNvPr id="385" name="Google Shape;385;p16"/>
          <p:cNvSpPr/>
          <p:nvPr/>
        </p:nvSpPr>
        <p:spPr>
          <a:xfrm>
            <a:off x="3657600" y="406908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Empfehlungen, Lösungsvorschläge, Best Practices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17"/>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7"/>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393" name="Google Shape;393;p17"/>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Der Memory Stack: L0 – L3</a:t>
            </a:r>
            <a:endParaRPr b="0" i="0" sz="2800" u="none" cap="none" strike="noStrike">
              <a:solidFill>
                <a:schemeClr val="dk1"/>
              </a:solidFill>
              <a:latin typeface="Calibri"/>
              <a:ea typeface="Calibri"/>
              <a:cs typeface="Calibri"/>
              <a:sym typeface="Calibri"/>
            </a:endParaRPr>
          </a:p>
        </p:txBody>
      </p:sp>
      <p:sp>
        <p:nvSpPr>
          <p:cNvPr id="394" name="Google Shape;394;p17"/>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4 Layer von Always-On bis Deep Search</a:t>
            </a:r>
            <a:endParaRPr b="0" i="0" sz="1200" u="none" cap="none" strike="noStrike">
              <a:solidFill>
                <a:schemeClr val="dk1"/>
              </a:solidFill>
              <a:latin typeface="Calibri"/>
              <a:ea typeface="Calibri"/>
              <a:cs typeface="Calibri"/>
              <a:sym typeface="Calibri"/>
            </a:endParaRPr>
          </a:p>
        </p:txBody>
      </p:sp>
      <p:sp>
        <p:nvSpPr>
          <p:cNvPr id="395" name="Google Shape;395;p17"/>
          <p:cNvSpPr/>
          <p:nvPr/>
        </p:nvSpPr>
        <p:spPr>
          <a:xfrm>
            <a:off x="457200" y="1188720"/>
            <a:ext cx="8229600" cy="731520"/>
          </a:xfrm>
          <a:prstGeom prst="rect">
            <a:avLst/>
          </a:prstGeom>
          <a:solidFill>
            <a:srgbClr val="1A5276">
              <a:alpha val="10196"/>
            </a:srgbClr>
          </a:solidFill>
          <a:ln cap="flat" cmpd="sng" w="1905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7"/>
          <p:cNvSpPr/>
          <p:nvPr/>
        </p:nvSpPr>
        <p:spPr>
          <a:xfrm>
            <a:off x="594360" y="1234440"/>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600"/>
              <a:buFont typeface="Georgia"/>
              <a:buNone/>
            </a:pPr>
            <a:r>
              <a:rPr b="1" i="0" lang="en-US" sz="1600" u="none" cap="none" strike="noStrike">
                <a:solidFill>
                  <a:srgbClr val="1A5276"/>
                </a:solidFill>
                <a:latin typeface="Georgia"/>
                <a:ea typeface="Georgia"/>
                <a:cs typeface="Georgia"/>
                <a:sym typeface="Georgia"/>
              </a:rPr>
              <a:t>L0</a:t>
            </a:r>
            <a:endParaRPr b="0" i="0" sz="1600" u="none" cap="none" strike="noStrike">
              <a:solidFill>
                <a:schemeClr val="dk1"/>
              </a:solidFill>
              <a:latin typeface="Calibri"/>
              <a:ea typeface="Calibri"/>
              <a:cs typeface="Calibri"/>
              <a:sym typeface="Calibri"/>
            </a:endParaRPr>
          </a:p>
        </p:txBody>
      </p:sp>
      <p:sp>
        <p:nvSpPr>
          <p:cNvPr id="397" name="Google Shape;397;p17"/>
          <p:cNvSpPr/>
          <p:nvPr/>
        </p:nvSpPr>
        <p:spPr>
          <a:xfrm>
            <a:off x="1188720" y="1234440"/>
            <a:ext cx="1828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300"/>
              <a:buFont typeface="Georgia"/>
              <a:buNone/>
            </a:pPr>
            <a:r>
              <a:rPr b="1" i="0" lang="en-US" sz="1300" u="none" cap="none" strike="noStrike">
                <a:solidFill>
                  <a:srgbClr val="1C2833"/>
                </a:solidFill>
                <a:latin typeface="Georgia"/>
                <a:ea typeface="Georgia"/>
                <a:cs typeface="Georgia"/>
                <a:sym typeface="Georgia"/>
              </a:rPr>
              <a:t>Identity</a:t>
            </a:r>
            <a:endParaRPr b="0" i="0" sz="1300" u="none" cap="none" strike="noStrike">
              <a:solidFill>
                <a:schemeClr val="dk1"/>
              </a:solidFill>
              <a:latin typeface="Calibri"/>
              <a:ea typeface="Calibri"/>
              <a:cs typeface="Calibri"/>
              <a:sym typeface="Calibri"/>
            </a:endParaRPr>
          </a:p>
        </p:txBody>
      </p:sp>
      <p:sp>
        <p:nvSpPr>
          <p:cNvPr id="398" name="Google Shape;398;p17"/>
          <p:cNvSpPr/>
          <p:nvPr/>
        </p:nvSpPr>
        <p:spPr>
          <a:xfrm>
            <a:off x="594360" y="1572768"/>
            <a:ext cx="5943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Wer ist dieser AI-Agent?</a:t>
            </a:r>
            <a:endParaRPr b="0" i="0" sz="1100" u="none" cap="none" strike="noStrike">
              <a:solidFill>
                <a:schemeClr val="dk1"/>
              </a:solidFill>
              <a:latin typeface="Calibri"/>
              <a:ea typeface="Calibri"/>
              <a:cs typeface="Calibri"/>
              <a:sym typeface="Calibri"/>
            </a:endParaRPr>
          </a:p>
        </p:txBody>
      </p:sp>
      <p:sp>
        <p:nvSpPr>
          <p:cNvPr id="399" name="Google Shape;399;p17"/>
          <p:cNvSpPr/>
          <p:nvPr/>
        </p:nvSpPr>
        <p:spPr>
          <a:xfrm>
            <a:off x="6126480" y="1234440"/>
            <a:ext cx="23774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~50 Tokens  ·  Immer geladen</a:t>
            </a:r>
            <a:endParaRPr b="0" i="0" sz="1000" u="none" cap="none" strike="noStrike">
              <a:solidFill>
                <a:schemeClr val="dk1"/>
              </a:solidFill>
              <a:latin typeface="Calibri"/>
              <a:ea typeface="Calibri"/>
              <a:cs typeface="Calibri"/>
              <a:sym typeface="Calibri"/>
            </a:endParaRPr>
          </a:p>
        </p:txBody>
      </p:sp>
      <p:sp>
        <p:nvSpPr>
          <p:cNvPr id="400" name="Google Shape;400;p17"/>
          <p:cNvSpPr/>
          <p:nvPr/>
        </p:nvSpPr>
        <p:spPr>
          <a:xfrm>
            <a:off x="914400" y="2103120"/>
            <a:ext cx="7315200" cy="731520"/>
          </a:xfrm>
          <a:prstGeom prst="rect">
            <a:avLst/>
          </a:prstGeom>
          <a:solidFill>
            <a:srgbClr val="2980B9">
              <a:alpha val="10196"/>
            </a:srgbClr>
          </a:solidFill>
          <a:ln cap="flat" cmpd="sng" w="1905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1051560" y="2148840"/>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80B9"/>
              </a:buClr>
              <a:buSzPts val="1600"/>
              <a:buFont typeface="Georgia"/>
              <a:buNone/>
            </a:pPr>
            <a:r>
              <a:rPr b="1" i="0" lang="en-US" sz="1600" u="none" cap="none" strike="noStrike">
                <a:solidFill>
                  <a:srgbClr val="2980B9"/>
                </a:solidFill>
                <a:latin typeface="Georgia"/>
                <a:ea typeface="Georgia"/>
                <a:cs typeface="Georgia"/>
                <a:sym typeface="Georgia"/>
              </a:rPr>
              <a:t>L1</a:t>
            </a:r>
            <a:endParaRPr b="0" i="0" sz="1600" u="none" cap="none" strike="noStrike">
              <a:solidFill>
                <a:schemeClr val="dk1"/>
              </a:solidFill>
              <a:latin typeface="Calibri"/>
              <a:ea typeface="Calibri"/>
              <a:cs typeface="Calibri"/>
              <a:sym typeface="Calibri"/>
            </a:endParaRPr>
          </a:p>
        </p:txBody>
      </p:sp>
      <p:sp>
        <p:nvSpPr>
          <p:cNvPr id="402" name="Google Shape;402;p17"/>
          <p:cNvSpPr/>
          <p:nvPr/>
        </p:nvSpPr>
        <p:spPr>
          <a:xfrm>
            <a:off x="1645920" y="2148840"/>
            <a:ext cx="1828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300"/>
              <a:buFont typeface="Georgia"/>
              <a:buNone/>
            </a:pPr>
            <a:r>
              <a:rPr b="1" i="0" lang="en-US" sz="1300" u="none" cap="none" strike="noStrike">
                <a:solidFill>
                  <a:srgbClr val="1C2833"/>
                </a:solidFill>
                <a:latin typeface="Georgia"/>
                <a:ea typeface="Georgia"/>
                <a:cs typeface="Georgia"/>
                <a:sym typeface="Georgia"/>
              </a:rPr>
              <a:t>Critical Facts</a:t>
            </a:r>
            <a:endParaRPr b="0" i="0" sz="1300" u="none" cap="none" strike="noStrike">
              <a:solidFill>
                <a:schemeClr val="dk1"/>
              </a:solidFill>
              <a:latin typeface="Calibri"/>
              <a:ea typeface="Calibri"/>
              <a:cs typeface="Calibri"/>
              <a:sym typeface="Calibri"/>
            </a:endParaRPr>
          </a:p>
        </p:txBody>
      </p:sp>
      <p:sp>
        <p:nvSpPr>
          <p:cNvPr id="403" name="Google Shape;403;p17"/>
          <p:cNvSpPr/>
          <p:nvPr/>
        </p:nvSpPr>
        <p:spPr>
          <a:xfrm>
            <a:off x="1051560" y="2487168"/>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Team, Projekte, Preferences</a:t>
            </a:r>
            <a:endParaRPr b="0" i="0" sz="1100" u="none" cap="none" strike="noStrike">
              <a:solidFill>
                <a:schemeClr val="dk1"/>
              </a:solidFill>
              <a:latin typeface="Calibri"/>
              <a:ea typeface="Calibri"/>
              <a:cs typeface="Calibri"/>
              <a:sym typeface="Calibri"/>
            </a:endParaRPr>
          </a:p>
        </p:txBody>
      </p:sp>
      <p:sp>
        <p:nvSpPr>
          <p:cNvPr id="404" name="Google Shape;404;p17"/>
          <p:cNvSpPr/>
          <p:nvPr/>
        </p:nvSpPr>
        <p:spPr>
          <a:xfrm>
            <a:off x="5669280" y="2148840"/>
            <a:ext cx="23774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~120 Tokens  ·  Immer geladen</a:t>
            </a:r>
            <a:endParaRPr b="0" i="0" sz="1000" u="none" cap="none" strike="noStrike">
              <a:solidFill>
                <a:schemeClr val="dk1"/>
              </a:solidFill>
              <a:latin typeface="Calibri"/>
              <a:ea typeface="Calibri"/>
              <a:cs typeface="Calibri"/>
              <a:sym typeface="Calibri"/>
            </a:endParaRPr>
          </a:p>
        </p:txBody>
      </p:sp>
      <p:sp>
        <p:nvSpPr>
          <p:cNvPr id="405" name="Google Shape;405;p17"/>
          <p:cNvSpPr/>
          <p:nvPr/>
        </p:nvSpPr>
        <p:spPr>
          <a:xfrm>
            <a:off x="1371600" y="3017520"/>
            <a:ext cx="6400800" cy="731520"/>
          </a:xfrm>
          <a:prstGeom prst="rect">
            <a:avLst/>
          </a:prstGeom>
          <a:solidFill>
            <a:srgbClr val="7D3C98">
              <a:alpha val="10196"/>
            </a:srgbClr>
          </a:solidFill>
          <a:ln cap="flat" cmpd="sng" w="19050">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a:off x="1508760" y="3063240"/>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600"/>
              <a:buFont typeface="Georgia"/>
              <a:buNone/>
            </a:pPr>
            <a:r>
              <a:rPr b="1" i="0" lang="en-US" sz="1600" u="none" cap="none" strike="noStrike">
                <a:solidFill>
                  <a:srgbClr val="7D3C98"/>
                </a:solidFill>
                <a:latin typeface="Georgia"/>
                <a:ea typeface="Georgia"/>
                <a:cs typeface="Georgia"/>
                <a:sym typeface="Georgia"/>
              </a:rPr>
              <a:t>L2</a:t>
            </a:r>
            <a:endParaRPr b="0" i="0" sz="1600" u="none" cap="none" strike="noStrike">
              <a:solidFill>
                <a:schemeClr val="dk1"/>
              </a:solidFill>
              <a:latin typeface="Calibri"/>
              <a:ea typeface="Calibri"/>
              <a:cs typeface="Calibri"/>
              <a:sym typeface="Calibri"/>
            </a:endParaRPr>
          </a:p>
        </p:txBody>
      </p:sp>
      <p:sp>
        <p:nvSpPr>
          <p:cNvPr id="407" name="Google Shape;407;p17"/>
          <p:cNvSpPr/>
          <p:nvPr/>
        </p:nvSpPr>
        <p:spPr>
          <a:xfrm>
            <a:off x="2103120" y="3063240"/>
            <a:ext cx="1828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300"/>
              <a:buFont typeface="Georgia"/>
              <a:buNone/>
            </a:pPr>
            <a:r>
              <a:rPr b="1" i="0" lang="en-US" sz="1300" u="none" cap="none" strike="noStrike">
                <a:solidFill>
                  <a:srgbClr val="1C2833"/>
                </a:solidFill>
                <a:latin typeface="Georgia"/>
                <a:ea typeface="Georgia"/>
                <a:cs typeface="Georgia"/>
                <a:sym typeface="Georgia"/>
              </a:rPr>
              <a:t>Room Recall</a:t>
            </a:r>
            <a:endParaRPr b="0" i="0" sz="1300" u="none" cap="none" strike="noStrike">
              <a:solidFill>
                <a:schemeClr val="dk1"/>
              </a:solidFill>
              <a:latin typeface="Calibri"/>
              <a:ea typeface="Calibri"/>
              <a:cs typeface="Calibri"/>
              <a:sym typeface="Calibri"/>
            </a:endParaRPr>
          </a:p>
        </p:txBody>
      </p:sp>
      <p:sp>
        <p:nvSpPr>
          <p:cNvPr id="408" name="Google Shape;408;p17"/>
          <p:cNvSpPr/>
          <p:nvPr/>
        </p:nvSpPr>
        <p:spPr>
          <a:xfrm>
            <a:off x="1508760" y="3401568"/>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Aktuelle Sessions, laufendes Projekt</a:t>
            </a:r>
            <a:endParaRPr b="0" i="0" sz="1100" u="none" cap="none" strike="noStrike">
              <a:solidFill>
                <a:schemeClr val="dk1"/>
              </a:solidFill>
              <a:latin typeface="Calibri"/>
              <a:ea typeface="Calibri"/>
              <a:cs typeface="Calibri"/>
              <a:sym typeface="Calibri"/>
            </a:endParaRPr>
          </a:p>
        </p:txBody>
      </p:sp>
      <p:sp>
        <p:nvSpPr>
          <p:cNvPr id="409" name="Google Shape;409;p17"/>
          <p:cNvSpPr/>
          <p:nvPr/>
        </p:nvSpPr>
        <p:spPr>
          <a:xfrm>
            <a:off x="5212080" y="3063240"/>
            <a:ext cx="23774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Variabel  ·  On demand</a:t>
            </a:r>
            <a:endParaRPr b="0" i="0" sz="1000" u="none" cap="none" strike="noStrike">
              <a:solidFill>
                <a:schemeClr val="dk1"/>
              </a:solidFill>
              <a:latin typeface="Calibri"/>
              <a:ea typeface="Calibri"/>
              <a:cs typeface="Calibri"/>
              <a:sym typeface="Calibri"/>
            </a:endParaRPr>
          </a:p>
        </p:txBody>
      </p:sp>
      <p:sp>
        <p:nvSpPr>
          <p:cNvPr id="410" name="Google Shape;410;p17"/>
          <p:cNvSpPr/>
          <p:nvPr/>
        </p:nvSpPr>
        <p:spPr>
          <a:xfrm>
            <a:off x="1828800" y="3931920"/>
            <a:ext cx="5486400" cy="731520"/>
          </a:xfrm>
          <a:prstGeom prst="rect">
            <a:avLst/>
          </a:prstGeom>
          <a:solidFill>
            <a:srgbClr val="E67E22">
              <a:alpha val="10196"/>
            </a:srgbClr>
          </a:solidFill>
          <a:ln cap="flat" cmpd="sng" w="1905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1965960" y="3977640"/>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600"/>
              <a:buFont typeface="Georgia"/>
              <a:buNone/>
            </a:pPr>
            <a:r>
              <a:rPr b="1" i="0" lang="en-US" sz="1600" u="none" cap="none" strike="noStrike">
                <a:solidFill>
                  <a:srgbClr val="E67E22"/>
                </a:solidFill>
                <a:latin typeface="Georgia"/>
                <a:ea typeface="Georgia"/>
                <a:cs typeface="Georgia"/>
                <a:sym typeface="Georgia"/>
              </a:rPr>
              <a:t>L3</a:t>
            </a:r>
            <a:endParaRPr b="0" i="0" sz="1600" u="none" cap="none" strike="noStrike">
              <a:solidFill>
                <a:schemeClr val="dk1"/>
              </a:solidFill>
              <a:latin typeface="Calibri"/>
              <a:ea typeface="Calibri"/>
              <a:cs typeface="Calibri"/>
              <a:sym typeface="Calibri"/>
            </a:endParaRPr>
          </a:p>
        </p:txBody>
      </p:sp>
      <p:sp>
        <p:nvSpPr>
          <p:cNvPr id="412" name="Google Shape;412;p17"/>
          <p:cNvSpPr/>
          <p:nvPr/>
        </p:nvSpPr>
        <p:spPr>
          <a:xfrm>
            <a:off x="2560320" y="3977640"/>
            <a:ext cx="1828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300"/>
              <a:buFont typeface="Georgia"/>
              <a:buNone/>
            </a:pPr>
            <a:r>
              <a:rPr b="1" i="0" lang="en-US" sz="1300" u="none" cap="none" strike="noStrike">
                <a:solidFill>
                  <a:srgbClr val="1C2833"/>
                </a:solidFill>
                <a:latin typeface="Georgia"/>
                <a:ea typeface="Georgia"/>
                <a:cs typeface="Georgia"/>
                <a:sym typeface="Georgia"/>
              </a:rPr>
              <a:t>Deep Search</a:t>
            </a:r>
            <a:endParaRPr b="0" i="0" sz="1300" u="none" cap="none" strike="noStrike">
              <a:solidFill>
                <a:schemeClr val="dk1"/>
              </a:solidFill>
              <a:latin typeface="Calibri"/>
              <a:ea typeface="Calibri"/>
              <a:cs typeface="Calibri"/>
              <a:sym typeface="Calibri"/>
            </a:endParaRPr>
          </a:p>
        </p:txBody>
      </p:sp>
      <p:sp>
        <p:nvSpPr>
          <p:cNvPr id="413" name="Google Shape;413;p17"/>
          <p:cNvSpPr/>
          <p:nvPr/>
        </p:nvSpPr>
        <p:spPr>
          <a:xfrm>
            <a:off x="1965960" y="4315968"/>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Semantische Suche über alle Closets</a:t>
            </a:r>
            <a:endParaRPr b="0" i="0" sz="1100" u="none" cap="none" strike="noStrike">
              <a:solidFill>
                <a:schemeClr val="dk1"/>
              </a:solidFill>
              <a:latin typeface="Calibri"/>
              <a:ea typeface="Calibri"/>
              <a:cs typeface="Calibri"/>
              <a:sym typeface="Calibri"/>
            </a:endParaRPr>
          </a:p>
        </p:txBody>
      </p:sp>
      <p:sp>
        <p:nvSpPr>
          <p:cNvPr id="414" name="Google Shape;414;p17"/>
          <p:cNvSpPr/>
          <p:nvPr/>
        </p:nvSpPr>
        <p:spPr>
          <a:xfrm>
            <a:off x="4754880" y="3977640"/>
            <a:ext cx="23774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Variabel  ·  Bei Query</a:t>
            </a:r>
            <a:endParaRPr b="0" i="0" sz="1000" u="none" cap="none" strike="noStrike">
              <a:solidFill>
                <a:schemeClr val="dk1"/>
              </a:solidFill>
              <a:latin typeface="Calibri"/>
              <a:ea typeface="Calibri"/>
              <a:cs typeface="Calibri"/>
              <a:sym typeface="Calibri"/>
            </a:endParaRPr>
          </a:p>
        </p:txBody>
      </p:sp>
      <p:sp>
        <p:nvSpPr>
          <p:cNvPr id="415" name="Google Shape;415;p17"/>
          <p:cNvSpPr txBox="1"/>
          <p:nvPr/>
        </p:nvSpPr>
        <p:spPr>
          <a:xfrm>
            <a:off x="6757950" y="2480650"/>
            <a:ext cx="182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F1C232"/>
                </a:solidFill>
              </a:rPr>
              <a:t>(</a:t>
            </a:r>
            <a:r>
              <a:rPr lang="en-US" sz="1100">
                <a:solidFill>
                  <a:srgbClr val="F1C232"/>
                </a:solidFill>
              </a:rPr>
              <a:t>AAAK Algorithmus)</a:t>
            </a:r>
            <a:endParaRPr sz="1100">
              <a:solidFill>
                <a:srgbClr val="F1C23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8"/>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423" name="Google Shape;423;p18"/>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Tech Stack &amp; Integration</a:t>
            </a:r>
            <a:endParaRPr b="0" i="0" sz="2800" u="none" cap="none" strike="noStrike">
              <a:solidFill>
                <a:schemeClr val="dk1"/>
              </a:solidFill>
              <a:latin typeface="Calibri"/>
              <a:ea typeface="Calibri"/>
              <a:cs typeface="Calibri"/>
              <a:sym typeface="Calibri"/>
            </a:endParaRPr>
          </a:p>
        </p:txBody>
      </p:sp>
      <p:sp>
        <p:nvSpPr>
          <p:cNvPr id="424" name="Google Shape;424;p18"/>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Komplett lokal, keine Cloud, keine API-Keys</a:t>
            </a:r>
            <a:endParaRPr b="0" i="0" sz="1200" u="none" cap="none" strike="noStrike">
              <a:solidFill>
                <a:schemeClr val="dk1"/>
              </a:solidFill>
              <a:latin typeface="Calibri"/>
              <a:ea typeface="Calibri"/>
              <a:cs typeface="Calibri"/>
              <a:sym typeface="Calibri"/>
            </a:endParaRPr>
          </a:p>
        </p:txBody>
      </p:sp>
      <p:sp>
        <p:nvSpPr>
          <p:cNvPr id="425" name="Google Shape;425;p18"/>
          <p:cNvSpPr/>
          <p:nvPr/>
        </p:nvSpPr>
        <p:spPr>
          <a:xfrm>
            <a:off x="457200" y="1188720"/>
            <a:ext cx="3931920" cy="12801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8"/>
          <p:cNvSpPr/>
          <p:nvPr/>
        </p:nvSpPr>
        <p:spPr>
          <a:xfrm>
            <a:off x="685800" y="1417320"/>
            <a:ext cx="457200" cy="45720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7" name="Google Shape;427;p18"/>
          <p:cNvPicPr preferRelativeResize="0"/>
          <p:nvPr/>
        </p:nvPicPr>
        <p:blipFill rotWithShape="1">
          <a:blip r:embed="rId3">
            <a:alphaModFix/>
          </a:blip>
          <a:srcRect b="0" l="0" r="0" t="0"/>
          <a:stretch/>
        </p:blipFill>
        <p:spPr>
          <a:xfrm>
            <a:off x="777240" y="1508760"/>
            <a:ext cx="274320" cy="274320"/>
          </a:xfrm>
          <a:prstGeom prst="rect">
            <a:avLst/>
          </a:prstGeom>
          <a:noFill/>
          <a:ln>
            <a:noFill/>
          </a:ln>
        </p:spPr>
      </p:pic>
      <p:sp>
        <p:nvSpPr>
          <p:cNvPr id="428" name="Google Shape;428;p18"/>
          <p:cNvSpPr/>
          <p:nvPr/>
        </p:nvSpPr>
        <p:spPr>
          <a:xfrm>
            <a:off x="1280160" y="1417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600"/>
              <a:buFont typeface="Georgia"/>
              <a:buNone/>
            </a:pPr>
            <a:r>
              <a:rPr b="1" i="0" lang="en-US" sz="1600" u="none" cap="none" strike="noStrike">
                <a:solidFill>
                  <a:srgbClr val="1C2833"/>
                </a:solidFill>
                <a:latin typeface="Georgia"/>
                <a:ea typeface="Georgia"/>
                <a:cs typeface="Georgia"/>
                <a:sym typeface="Georgia"/>
              </a:rPr>
              <a:t>Python 3.9+</a:t>
            </a:r>
            <a:endParaRPr b="0" i="0" sz="1600" u="none" cap="none" strike="noStrike">
              <a:solidFill>
                <a:schemeClr val="dk1"/>
              </a:solidFill>
              <a:latin typeface="Calibri"/>
              <a:ea typeface="Calibri"/>
              <a:cs typeface="Calibri"/>
              <a:sym typeface="Calibri"/>
            </a:endParaRPr>
          </a:p>
        </p:txBody>
      </p:sp>
      <p:sp>
        <p:nvSpPr>
          <p:cNvPr id="429" name="Google Shape;429;p18"/>
          <p:cNvSpPr/>
          <p:nvPr/>
        </p:nvSpPr>
        <p:spPr>
          <a:xfrm>
            <a:off x="1280160" y="18288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Core Package</a:t>
            </a:r>
            <a:endParaRPr b="0" i="0" sz="1200" u="none" cap="none" strike="noStrike">
              <a:solidFill>
                <a:schemeClr val="dk1"/>
              </a:solidFill>
              <a:latin typeface="Calibri"/>
              <a:ea typeface="Calibri"/>
              <a:cs typeface="Calibri"/>
              <a:sym typeface="Calibri"/>
            </a:endParaRPr>
          </a:p>
        </p:txBody>
      </p:sp>
      <p:sp>
        <p:nvSpPr>
          <p:cNvPr id="430" name="Google Shape;430;p18"/>
          <p:cNvSpPr/>
          <p:nvPr/>
        </p:nvSpPr>
        <p:spPr>
          <a:xfrm>
            <a:off x="4754880" y="1188720"/>
            <a:ext cx="3931920" cy="12801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
          <p:cNvSpPr/>
          <p:nvPr/>
        </p:nvSpPr>
        <p:spPr>
          <a:xfrm>
            <a:off x="4983480" y="1417320"/>
            <a:ext cx="457200" cy="45720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2" name="Google Shape;432;p18"/>
          <p:cNvPicPr preferRelativeResize="0"/>
          <p:nvPr/>
        </p:nvPicPr>
        <p:blipFill rotWithShape="1">
          <a:blip r:embed="rId4">
            <a:alphaModFix/>
          </a:blip>
          <a:srcRect b="0" l="0" r="0" t="0"/>
          <a:stretch/>
        </p:blipFill>
        <p:spPr>
          <a:xfrm>
            <a:off x="5074920" y="1508760"/>
            <a:ext cx="274320" cy="274320"/>
          </a:xfrm>
          <a:prstGeom prst="rect">
            <a:avLst/>
          </a:prstGeom>
          <a:noFill/>
          <a:ln>
            <a:noFill/>
          </a:ln>
        </p:spPr>
      </p:pic>
      <p:sp>
        <p:nvSpPr>
          <p:cNvPr id="433" name="Google Shape;433;p18"/>
          <p:cNvSpPr/>
          <p:nvPr/>
        </p:nvSpPr>
        <p:spPr>
          <a:xfrm>
            <a:off x="5577840" y="141732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600"/>
              <a:buFont typeface="Georgia"/>
              <a:buNone/>
            </a:pPr>
            <a:r>
              <a:rPr b="1" i="0" lang="en-US" sz="1600" u="none" cap="none" strike="noStrike">
                <a:solidFill>
                  <a:srgbClr val="1C2833"/>
                </a:solidFill>
                <a:latin typeface="Georgia"/>
                <a:ea typeface="Georgia"/>
                <a:cs typeface="Georgia"/>
                <a:sym typeface="Georgia"/>
              </a:rPr>
              <a:t>ChromaDB</a:t>
            </a:r>
            <a:endParaRPr b="0" i="0" sz="1600" u="none" cap="none" strike="noStrike">
              <a:solidFill>
                <a:schemeClr val="dk1"/>
              </a:solidFill>
              <a:latin typeface="Calibri"/>
              <a:ea typeface="Calibri"/>
              <a:cs typeface="Calibri"/>
              <a:sym typeface="Calibri"/>
            </a:endParaRPr>
          </a:p>
        </p:txBody>
      </p:sp>
      <p:sp>
        <p:nvSpPr>
          <p:cNvPr id="434" name="Google Shape;434;p18"/>
          <p:cNvSpPr/>
          <p:nvPr/>
        </p:nvSpPr>
        <p:spPr>
          <a:xfrm>
            <a:off x="5577840" y="18288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Vector Store für Drawers</a:t>
            </a:r>
            <a:endParaRPr b="0" i="0" sz="1200" u="none" cap="none" strike="noStrike">
              <a:solidFill>
                <a:schemeClr val="dk1"/>
              </a:solidFill>
              <a:latin typeface="Calibri"/>
              <a:ea typeface="Calibri"/>
              <a:cs typeface="Calibri"/>
              <a:sym typeface="Calibri"/>
            </a:endParaRPr>
          </a:p>
        </p:txBody>
      </p:sp>
      <p:sp>
        <p:nvSpPr>
          <p:cNvPr id="435" name="Google Shape;435;p18"/>
          <p:cNvSpPr/>
          <p:nvPr/>
        </p:nvSpPr>
        <p:spPr>
          <a:xfrm>
            <a:off x="457200" y="2743200"/>
            <a:ext cx="3931920" cy="12801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685800" y="2971800"/>
            <a:ext cx="457200" cy="45720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7" name="Google Shape;437;p18"/>
          <p:cNvPicPr preferRelativeResize="0"/>
          <p:nvPr/>
        </p:nvPicPr>
        <p:blipFill rotWithShape="1">
          <a:blip r:embed="rId5">
            <a:alphaModFix/>
          </a:blip>
          <a:srcRect b="0" l="0" r="0" t="0"/>
          <a:stretch/>
        </p:blipFill>
        <p:spPr>
          <a:xfrm>
            <a:off x="777240" y="3063240"/>
            <a:ext cx="274320" cy="274320"/>
          </a:xfrm>
          <a:prstGeom prst="rect">
            <a:avLst/>
          </a:prstGeom>
          <a:noFill/>
          <a:ln>
            <a:noFill/>
          </a:ln>
        </p:spPr>
      </p:pic>
      <p:sp>
        <p:nvSpPr>
          <p:cNvPr id="438" name="Google Shape;438;p18"/>
          <p:cNvSpPr/>
          <p:nvPr/>
        </p:nvSpPr>
        <p:spPr>
          <a:xfrm>
            <a:off x="1280160" y="29718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600"/>
              <a:buFont typeface="Georgia"/>
              <a:buNone/>
            </a:pPr>
            <a:r>
              <a:rPr b="1" i="0" lang="en-US" sz="1600" u="none" cap="none" strike="noStrike">
                <a:solidFill>
                  <a:srgbClr val="1C2833"/>
                </a:solidFill>
                <a:latin typeface="Georgia"/>
                <a:ea typeface="Georgia"/>
                <a:cs typeface="Georgia"/>
                <a:sym typeface="Georgia"/>
              </a:rPr>
              <a:t>SQLite</a:t>
            </a:r>
            <a:endParaRPr b="0" i="0" sz="1600" u="none" cap="none" strike="noStrike">
              <a:solidFill>
                <a:schemeClr val="dk1"/>
              </a:solidFill>
              <a:latin typeface="Calibri"/>
              <a:ea typeface="Calibri"/>
              <a:cs typeface="Calibri"/>
              <a:sym typeface="Calibri"/>
            </a:endParaRPr>
          </a:p>
        </p:txBody>
      </p:sp>
      <p:sp>
        <p:nvSpPr>
          <p:cNvPr id="439" name="Google Shape;439;p18"/>
          <p:cNvSpPr/>
          <p:nvPr/>
        </p:nvSpPr>
        <p:spPr>
          <a:xfrm>
            <a:off x="1280160" y="338328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Knowledge Graph (statt Neo4j)</a:t>
            </a:r>
            <a:endParaRPr b="0" i="0" sz="1200" u="none" cap="none" strike="noStrike">
              <a:solidFill>
                <a:schemeClr val="dk1"/>
              </a:solidFill>
              <a:latin typeface="Calibri"/>
              <a:ea typeface="Calibri"/>
              <a:cs typeface="Calibri"/>
              <a:sym typeface="Calibri"/>
            </a:endParaRPr>
          </a:p>
        </p:txBody>
      </p:sp>
      <p:sp>
        <p:nvSpPr>
          <p:cNvPr id="440" name="Google Shape;440;p18"/>
          <p:cNvSpPr/>
          <p:nvPr/>
        </p:nvSpPr>
        <p:spPr>
          <a:xfrm>
            <a:off x="4754880" y="2743200"/>
            <a:ext cx="3931920" cy="128016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8"/>
          <p:cNvSpPr/>
          <p:nvPr/>
        </p:nvSpPr>
        <p:spPr>
          <a:xfrm>
            <a:off x="4983480" y="2971800"/>
            <a:ext cx="457200" cy="45720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2" name="Google Shape;442;p18"/>
          <p:cNvPicPr preferRelativeResize="0"/>
          <p:nvPr/>
        </p:nvPicPr>
        <p:blipFill rotWithShape="1">
          <a:blip r:embed="rId6">
            <a:alphaModFix/>
          </a:blip>
          <a:srcRect b="0" l="0" r="0" t="0"/>
          <a:stretch/>
        </p:blipFill>
        <p:spPr>
          <a:xfrm>
            <a:off x="5074920" y="3063240"/>
            <a:ext cx="274320" cy="274320"/>
          </a:xfrm>
          <a:prstGeom prst="rect">
            <a:avLst/>
          </a:prstGeom>
          <a:noFill/>
          <a:ln>
            <a:noFill/>
          </a:ln>
        </p:spPr>
      </p:pic>
      <p:sp>
        <p:nvSpPr>
          <p:cNvPr id="443" name="Google Shape;443;p18"/>
          <p:cNvSpPr/>
          <p:nvPr/>
        </p:nvSpPr>
        <p:spPr>
          <a:xfrm>
            <a:off x="5577840" y="29718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600"/>
              <a:buFont typeface="Georgia"/>
              <a:buNone/>
            </a:pPr>
            <a:r>
              <a:rPr b="1" i="0" lang="en-US" sz="1600" u="none" cap="none" strike="noStrike">
                <a:solidFill>
                  <a:srgbClr val="1C2833"/>
                </a:solidFill>
                <a:latin typeface="Georgia"/>
                <a:ea typeface="Georgia"/>
                <a:cs typeface="Georgia"/>
                <a:sym typeface="Georgia"/>
              </a:rPr>
              <a:t>19 MCP Tools</a:t>
            </a:r>
            <a:endParaRPr b="0" i="0" sz="1600" u="none" cap="none" strike="noStrike">
              <a:solidFill>
                <a:schemeClr val="dk1"/>
              </a:solidFill>
              <a:latin typeface="Calibri"/>
              <a:ea typeface="Calibri"/>
              <a:cs typeface="Calibri"/>
              <a:sym typeface="Calibri"/>
            </a:endParaRPr>
          </a:p>
        </p:txBody>
      </p:sp>
      <p:sp>
        <p:nvSpPr>
          <p:cNvPr id="444" name="Google Shape;444;p18"/>
          <p:cNvSpPr/>
          <p:nvPr/>
        </p:nvSpPr>
        <p:spPr>
          <a:xfrm>
            <a:off x="5577840" y="338328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200"/>
              <a:buFont typeface="Calibri"/>
              <a:buNone/>
            </a:pPr>
            <a:r>
              <a:rPr b="0" i="0" lang="en-US" sz="1200" u="none" cap="none" strike="noStrike">
                <a:solidFill>
                  <a:srgbClr val="566573"/>
                </a:solidFill>
                <a:latin typeface="Calibri"/>
                <a:ea typeface="Calibri"/>
                <a:cs typeface="Calibri"/>
                <a:sym typeface="Calibri"/>
              </a:rPr>
              <a:t>Claude, ChatGPT, Cursor, Gemini</a:t>
            </a:r>
            <a:endParaRPr b="0" i="0" sz="1200" u="none" cap="none" strike="noStrike">
              <a:solidFill>
                <a:schemeClr val="dk1"/>
              </a:solidFill>
              <a:latin typeface="Calibri"/>
              <a:ea typeface="Calibri"/>
              <a:cs typeface="Calibri"/>
              <a:sym typeface="Calibri"/>
            </a:endParaRPr>
          </a:p>
        </p:txBody>
      </p:sp>
      <p:sp>
        <p:nvSpPr>
          <p:cNvPr id="445" name="Google Shape;445;p18"/>
          <p:cNvSpPr/>
          <p:nvPr/>
        </p:nvSpPr>
        <p:spPr>
          <a:xfrm>
            <a:off x="457200" y="4114800"/>
            <a:ext cx="8229600" cy="640080"/>
          </a:xfrm>
          <a:prstGeom prst="rect">
            <a:avLst/>
          </a:prstGeom>
          <a:solidFill>
            <a:srgbClr val="EEF2F7"/>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731520" y="420624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0" i="0" lang="en-US" sz="1100" u="none" cap="none" strike="noStrike">
                <a:solidFill>
                  <a:srgbClr val="1A5276"/>
                </a:solidFill>
                <a:latin typeface="Consolas"/>
                <a:ea typeface="Consolas"/>
                <a:cs typeface="Consolas"/>
                <a:sym typeface="Consolas"/>
              </a:rPr>
              <a:t>$ pip install mempalace &amp;&amp; mempalace init ~/projects &amp;&amp; mempalace search "why GraphQL?"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19"/>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454" name="Google Shape;454;p19"/>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Die Ingestion-Pipeline</a:t>
            </a:r>
            <a:endParaRPr b="0" i="0" sz="2800" u="none" cap="none" strike="noStrike">
              <a:solidFill>
                <a:schemeClr val="dk1"/>
              </a:solidFill>
              <a:latin typeface="Calibri"/>
              <a:ea typeface="Calibri"/>
              <a:cs typeface="Calibri"/>
              <a:sym typeface="Calibri"/>
            </a:endParaRPr>
          </a:p>
        </p:txBody>
      </p:sp>
      <p:sp>
        <p:nvSpPr>
          <p:cNvPr id="455" name="Google Shape;455;p19"/>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Vom Chat-Export zum durchsuchbaren Vektor</a:t>
            </a:r>
            <a:endParaRPr b="0" i="0" sz="1200" u="none" cap="none" strike="noStrike">
              <a:solidFill>
                <a:schemeClr val="dk1"/>
              </a:solidFill>
              <a:latin typeface="Calibri"/>
              <a:ea typeface="Calibri"/>
              <a:cs typeface="Calibri"/>
              <a:sym typeface="Calibri"/>
            </a:endParaRPr>
          </a:p>
        </p:txBody>
      </p:sp>
      <p:sp>
        <p:nvSpPr>
          <p:cNvPr id="456" name="Google Shape;456;p19"/>
          <p:cNvSpPr/>
          <p:nvPr/>
        </p:nvSpPr>
        <p:spPr>
          <a:xfrm>
            <a:off x="274325" y="1188725"/>
            <a:ext cx="1301100" cy="1188600"/>
          </a:xfrm>
          <a:prstGeom prst="rect">
            <a:avLst/>
          </a:prstGeom>
          <a:solidFill>
            <a:srgbClr val="2980B9">
              <a:alpha val="12156"/>
            </a:srgbClr>
          </a:solidFill>
          <a:ln cap="flat" cmpd="sng" w="152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274320" y="12344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80B9"/>
              </a:buClr>
              <a:buSzPts val="1000"/>
              <a:buFont typeface="Consolas"/>
              <a:buNone/>
            </a:pPr>
            <a:r>
              <a:rPr b="1" i="0" lang="en-US" sz="1000" u="none" cap="none" strike="noStrike">
                <a:solidFill>
                  <a:srgbClr val="2980B9"/>
                </a:solidFill>
                <a:latin typeface="Consolas"/>
                <a:ea typeface="Consolas"/>
                <a:cs typeface="Consolas"/>
                <a:sym typeface="Consolas"/>
              </a:rPr>
              <a:t>1. Normalisierung</a:t>
            </a:r>
            <a:endParaRPr b="0" i="0" sz="1000" u="none" cap="none" strike="noStrike">
              <a:solidFill>
                <a:schemeClr val="dk1"/>
              </a:solidFill>
              <a:latin typeface="Calibri"/>
              <a:ea typeface="Calibri"/>
              <a:cs typeface="Calibri"/>
              <a:sym typeface="Calibri"/>
            </a:endParaRPr>
          </a:p>
        </p:txBody>
      </p:sp>
      <p:sp>
        <p:nvSpPr>
          <p:cNvPr id="458" name="Google Shape;458;p19"/>
          <p:cNvSpPr/>
          <p:nvPr/>
        </p:nvSpPr>
        <p:spPr>
          <a:xfrm>
            <a:off x="320040" y="1554480"/>
            <a:ext cx="118872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5 Chat-Formate →</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einheitliches Transkript</a:t>
            </a:r>
            <a:endParaRPr b="0" i="0" sz="900" u="none" cap="none" strike="noStrike">
              <a:solidFill>
                <a:schemeClr val="dk1"/>
              </a:solidFill>
              <a:latin typeface="Calibri"/>
              <a:ea typeface="Calibri"/>
              <a:cs typeface="Calibri"/>
              <a:sym typeface="Calibri"/>
            </a:endParaRPr>
          </a:p>
        </p:txBody>
      </p:sp>
      <p:sp>
        <p:nvSpPr>
          <p:cNvPr id="459" name="Google Shape;459;p19"/>
          <p:cNvSpPr/>
          <p:nvPr/>
        </p:nvSpPr>
        <p:spPr>
          <a:xfrm>
            <a:off x="1549581" y="1463040"/>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600"/>
              <a:buFont typeface="Calibri"/>
              <a:buNone/>
            </a:pPr>
            <a:r>
              <a:rPr b="0" i="0" lang="en-US" sz="1600" u="none" cap="none" strike="noStrike">
                <a:solidFill>
                  <a:srgbClr val="85929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60" name="Google Shape;460;p19"/>
          <p:cNvSpPr/>
          <p:nvPr/>
        </p:nvSpPr>
        <p:spPr>
          <a:xfrm>
            <a:off x="1760581" y="1170277"/>
            <a:ext cx="1301100" cy="1188600"/>
          </a:xfrm>
          <a:prstGeom prst="rect">
            <a:avLst/>
          </a:prstGeom>
          <a:solidFill>
            <a:srgbClr val="7D3C98">
              <a:alpha val="12156"/>
            </a:srgbClr>
          </a:solidFill>
          <a:ln cap="flat" cmpd="sng" w="15225">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1737340" y="1215992"/>
            <a:ext cx="128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D3C98"/>
              </a:buClr>
              <a:buSzPts val="1000"/>
              <a:buFont typeface="Consolas"/>
              <a:buNone/>
            </a:pPr>
            <a:r>
              <a:rPr b="1" i="0" lang="en-US" sz="1000" u="none" cap="none" strike="noStrike">
                <a:solidFill>
                  <a:srgbClr val="7D3C98"/>
                </a:solidFill>
                <a:latin typeface="Consolas"/>
                <a:ea typeface="Consolas"/>
                <a:cs typeface="Consolas"/>
                <a:sym typeface="Consolas"/>
              </a:rPr>
              <a:t>2. Chunking</a:t>
            </a:r>
            <a:endParaRPr b="0" i="0" sz="1000" u="none" cap="none" strike="noStrike">
              <a:solidFill>
                <a:schemeClr val="dk1"/>
              </a:solidFill>
              <a:latin typeface="Calibri"/>
              <a:ea typeface="Calibri"/>
              <a:cs typeface="Calibri"/>
              <a:sym typeface="Calibri"/>
            </a:endParaRPr>
          </a:p>
        </p:txBody>
      </p:sp>
      <p:sp>
        <p:nvSpPr>
          <p:cNvPr id="462" name="Google Shape;462;p19"/>
          <p:cNvSpPr/>
          <p:nvPr/>
        </p:nvSpPr>
        <p:spPr>
          <a:xfrm>
            <a:off x="1823881" y="1536032"/>
            <a:ext cx="1188600" cy="731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800 Zeichen, 100</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Überlappung, Absatzbruch</a:t>
            </a:r>
            <a:endParaRPr b="0" i="0" sz="900" u="none" cap="none" strike="noStrike">
              <a:solidFill>
                <a:schemeClr val="dk1"/>
              </a:solidFill>
              <a:latin typeface="Calibri"/>
              <a:ea typeface="Calibri"/>
              <a:cs typeface="Calibri"/>
              <a:sym typeface="Calibri"/>
            </a:endParaRPr>
          </a:p>
        </p:txBody>
      </p:sp>
      <p:sp>
        <p:nvSpPr>
          <p:cNvPr id="463" name="Google Shape;463;p19"/>
          <p:cNvSpPr/>
          <p:nvPr/>
        </p:nvSpPr>
        <p:spPr>
          <a:xfrm>
            <a:off x="3012601" y="1444592"/>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600"/>
              <a:buFont typeface="Calibri"/>
              <a:buNone/>
            </a:pPr>
            <a:r>
              <a:rPr b="0" i="0" lang="en-US" sz="1600" u="none" cap="none" strike="noStrike">
                <a:solidFill>
                  <a:srgbClr val="85929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64" name="Google Shape;464;p19"/>
          <p:cNvSpPr/>
          <p:nvPr/>
        </p:nvSpPr>
        <p:spPr>
          <a:xfrm>
            <a:off x="3201136" y="1170277"/>
            <a:ext cx="1301100" cy="1188600"/>
          </a:xfrm>
          <a:prstGeom prst="rect">
            <a:avLst/>
          </a:prstGeom>
          <a:solidFill>
            <a:srgbClr val="E67E22">
              <a:alpha val="12156"/>
            </a:srgbClr>
          </a:solidFill>
          <a:ln cap="flat" cmpd="sng" w="152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3195481" y="1215992"/>
            <a:ext cx="128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7E22"/>
              </a:buClr>
              <a:buSzPts val="1000"/>
              <a:buFont typeface="Consolas"/>
              <a:buNone/>
            </a:pPr>
            <a:r>
              <a:rPr b="1" i="0" lang="en-US" sz="1000" u="none" cap="none" strike="noStrike">
                <a:solidFill>
                  <a:srgbClr val="E67E22"/>
                </a:solidFill>
                <a:latin typeface="Consolas"/>
                <a:ea typeface="Consolas"/>
                <a:cs typeface="Consolas"/>
                <a:sym typeface="Consolas"/>
              </a:rPr>
              <a:t>3. Room-Detection</a:t>
            </a:r>
            <a:endParaRPr b="0" i="0" sz="1000" u="none" cap="none" strike="noStrike">
              <a:solidFill>
                <a:schemeClr val="dk1"/>
              </a:solidFill>
              <a:latin typeface="Calibri"/>
              <a:ea typeface="Calibri"/>
              <a:cs typeface="Calibri"/>
              <a:sym typeface="Calibri"/>
            </a:endParaRPr>
          </a:p>
        </p:txBody>
      </p:sp>
      <p:sp>
        <p:nvSpPr>
          <p:cNvPr id="466" name="Google Shape;466;p19"/>
          <p:cNvSpPr/>
          <p:nvPr/>
        </p:nvSpPr>
        <p:spPr>
          <a:xfrm>
            <a:off x="3268416" y="1536032"/>
            <a:ext cx="1188600" cy="731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Keyword-Scoring</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~60 Mappings</a:t>
            </a:r>
            <a:endParaRPr b="0" i="0" sz="900" u="none" cap="none" strike="noStrike">
              <a:solidFill>
                <a:schemeClr val="dk1"/>
              </a:solidFill>
              <a:latin typeface="Calibri"/>
              <a:ea typeface="Calibri"/>
              <a:cs typeface="Calibri"/>
              <a:sym typeface="Calibri"/>
            </a:endParaRPr>
          </a:p>
        </p:txBody>
      </p:sp>
      <p:sp>
        <p:nvSpPr>
          <p:cNvPr id="467" name="Google Shape;467;p19"/>
          <p:cNvSpPr/>
          <p:nvPr/>
        </p:nvSpPr>
        <p:spPr>
          <a:xfrm>
            <a:off x="4457136" y="1444592"/>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600"/>
              <a:buFont typeface="Calibri"/>
              <a:buNone/>
            </a:pPr>
            <a:r>
              <a:rPr b="0" i="0" lang="en-US" sz="1600" u="none" cap="none" strike="noStrike">
                <a:solidFill>
                  <a:srgbClr val="85929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68" name="Google Shape;468;p19"/>
          <p:cNvSpPr/>
          <p:nvPr/>
        </p:nvSpPr>
        <p:spPr>
          <a:xfrm>
            <a:off x="4641692" y="1170277"/>
            <a:ext cx="1301100" cy="1188600"/>
          </a:xfrm>
          <a:prstGeom prst="rect">
            <a:avLst/>
          </a:prstGeom>
          <a:solidFill>
            <a:srgbClr val="1A5276">
              <a:alpha val="12156"/>
            </a:srgbClr>
          </a:solidFill>
          <a:ln cap="flat" cmpd="sng" w="152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4640016" y="1215992"/>
            <a:ext cx="128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4. Deduplizierung</a:t>
            </a:r>
            <a:endParaRPr b="0" i="0" sz="1000" u="none" cap="none" strike="noStrike">
              <a:solidFill>
                <a:schemeClr val="dk1"/>
              </a:solidFill>
              <a:latin typeface="Calibri"/>
              <a:ea typeface="Calibri"/>
              <a:cs typeface="Calibri"/>
              <a:sym typeface="Calibri"/>
            </a:endParaRPr>
          </a:p>
        </p:txBody>
      </p:sp>
      <p:sp>
        <p:nvSpPr>
          <p:cNvPr id="470" name="Google Shape;470;p19"/>
          <p:cNvSpPr/>
          <p:nvPr/>
        </p:nvSpPr>
        <p:spPr>
          <a:xfrm>
            <a:off x="4685736" y="1536032"/>
            <a:ext cx="1188600" cy="731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MD5-Hash pro Chunk</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verhindert Duplikate</a:t>
            </a:r>
            <a:endParaRPr b="0" i="0" sz="900" u="none" cap="none" strike="noStrike">
              <a:solidFill>
                <a:schemeClr val="dk1"/>
              </a:solidFill>
              <a:latin typeface="Calibri"/>
              <a:ea typeface="Calibri"/>
              <a:cs typeface="Calibri"/>
              <a:sym typeface="Calibri"/>
            </a:endParaRPr>
          </a:p>
        </p:txBody>
      </p:sp>
      <p:sp>
        <p:nvSpPr>
          <p:cNvPr id="471" name="Google Shape;471;p19"/>
          <p:cNvSpPr/>
          <p:nvPr/>
        </p:nvSpPr>
        <p:spPr>
          <a:xfrm>
            <a:off x="5888063" y="1444592"/>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600"/>
              <a:buFont typeface="Calibri"/>
              <a:buNone/>
            </a:pPr>
            <a:r>
              <a:rPr b="0" i="0" lang="en-US" sz="1600" u="none" cap="none" strike="noStrike">
                <a:solidFill>
                  <a:srgbClr val="85929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72" name="Google Shape;472;p19"/>
          <p:cNvSpPr/>
          <p:nvPr/>
        </p:nvSpPr>
        <p:spPr>
          <a:xfrm>
            <a:off x="6082247" y="1170277"/>
            <a:ext cx="1301100" cy="1188600"/>
          </a:xfrm>
          <a:prstGeom prst="rect">
            <a:avLst/>
          </a:prstGeom>
          <a:solidFill>
            <a:srgbClr val="0E8C6B">
              <a:alpha val="12156"/>
            </a:srgbClr>
          </a:solidFill>
          <a:ln cap="flat" cmpd="sng" w="15225">
            <a:solidFill>
              <a:srgbClr val="0E8C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5989300" y="1215992"/>
            <a:ext cx="128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C6B"/>
              </a:buClr>
              <a:buSzPts val="1000"/>
              <a:buFont typeface="Consolas"/>
              <a:buNone/>
            </a:pPr>
            <a:r>
              <a:rPr b="1" i="0" lang="en-US" sz="1000" u="none" cap="none" strike="noStrike">
                <a:solidFill>
                  <a:srgbClr val="0E8C6B"/>
                </a:solidFill>
                <a:latin typeface="Consolas"/>
                <a:ea typeface="Consolas"/>
                <a:cs typeface="Consolas"/>
                <a:sym typeface="Consolas"/>
              </a:rPr>
              <a:t>5. Embedding</a:t>
            </a:r>
            <a:endParaRPr b="0" i="0" sz="1000" u="none" cap="none" strike="noStrike">
              <a:solidFill>
                <a:schemeClr val="dk1"/>
              </a:solidFill>
              <a:latin typeface="Calibri"/>
              <a:ea typeface="Calibri"/>
              <a:cs typeface="Calibri"/>
              <a:sym typeface="Calibri"/>
            </a:endParaRPr>
          </a:p>
        </p:txBody>
      </p:sp>
      <p:sp>
        <p:nvSpPr>
          <p:cNvPr id="474" name="Google Shape;474;p19"/>
          <p:cNvSpPr/>
          <p:nvPr/>
        </p:nvSpPr>
        <p:spPr>
          <a:xfrm>
            <a:off x="6103056" y="1536032"/>
            <a:ext cx="1188600" cy="731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all-MiniLM-L6-v2</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 384D Vektor</a:t>
            </a:r>
            <a:endParaRPr b="0" i="0" sz="900" u="none" cap="none" strike="noStrike">
              <a:solidFill>
                <a:schemeClr val="dk1"/>
              </a:solidFill>
              <a:latin typeface="Calibri"/>
              <a:ea typeface="Calibri"/>
              <a:cs typeface="Calibri"/>
              <a:sym typeface="Calibri"/>
            </a:endParaRPr>
          </a:p>
        </p:txBody>
      </p:sp>
      <p:sp>
        <p:nvSpPr>
          <p:cNvPr id="475" name="Google Shape;475;p19"/>
          <p:cNvSpPr/>
          <p:nvPr/>
        </p:nvSpPr>
        <p:spPr>
          <a:xfrm>
            <a:off x="7332597" y="1444592"/>
            <a:ext cx="228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600"/>
              <a:buFont typeface="Calibri"/>
              <a:buNone/>
            </a:pPr>
            <a:r>
              <a:rPr b="0" i="0" lang="en-US" sz="1600" u="none" cap="none" strike="noStrike">
                <a:solidFill>
                  <a:srgbClr val="85929E"/>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76" name="Google Shape;476;p19"/>
          <p:cNvSpPr/>
          <p:nvPr/>
        </p:nvSpPr>
        <p:spPr>
          <a:xfrm>
            <a:off x="7522803" y="1170277"/>
            <a:ext cx="1301100" cy="1188600"/>
          </a:xfrm>
          <a:prstGeom prst="rect">
            <a:avLst/>
          </a:prstGeom>
          <a:solidFill>
            <a:srgbClr val="27AE60">
              <a:alpha val="12156"/>
            </a:srgbClr>
          </a:solidFill>
          <a:ln cap="flat" cmpd="sng" w="15225">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7542691" y="1215992"/>
            <a:ext cx="128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1000"/>
              <a:buFont typeface="Consolas"/>
              <a:buNone/>
            </a:pPr>
            <a:r>
              <a:rPr b="1" i="0" lang="en-US" sz="1000" u="none" cap="none" strike="noStrike">
                <a:solidFill>
                  <a:srgbClr val="27AE60"/>
                </a:solidFill>
                <a:latin typeface="Consolas"/>
                <a:ea typeface="Consolas"/>
                <a:cs typeface="Consolas"/>
                <a:sym typeface="Consolas"/>
              </a:rPr>
              <a:t>6. ChromaDB Insert</a:t>
            </a:r>
            <a:endParaRPr b="0" i="0" sz="1000" u="none" cap="none" strike="noStrike">
              <a:solidFill>
                <a:schemeClr val="dk1"/>
              </a:solidFill>
              <a:latin typeface="Calibri"/>
              <a:ea typeface="Calibri"/>
              <a:cs typeface="Calibri"/>
              <a:sym typeface="Calibri"/>
            </a:endParaRPr>
          </a:p>
        </p:txBody>
      </p:sp>
      <p:sp>
        <p:nvSpPr>
          <p:cNvPr id="478" name="Google Shape;478;p19"/>
          <p:cNvSpPr/>
          <p:nvPr/>
        </p:nvSpPr>
        <p:spPr>
          <a:xfrm>
            <a:off x="7561197" y="1536032"/>
            <a:ext cx="1188600" cy="731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Vektor + Metadaten</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(wing, hall, room)</a:t>
            </a:r>
            <a:endParaRPr b="0" i="0" sz="900" u="none" cap="none" strike="noStrike">
              <a:solidFill>
                <a:schemeClr val="dk1"/>
              </a:solidFill>
              <a:latin typeface="Calibri"/>
              <a:ea typeface="Calibri"/>
              <a:cs typeface="Calibri"/>
              <a:sym typeface="Calibri"/>
            </a:endParaRPr>
          </a:p>
        </p:txBody>
      </p:sp>
      <p:sp>
        <p:nvSpPr>
          <p:cNvPr id="479" name="Google Shape;479;p19"/>
          <p:cNvSpPr/>
          <p:nvPr/>
        </p:nvSpPr>
        <p:spPr>
          <a:xfrm>
            <a:off x="457200" y="2743200"/>
            <a:ext cx="3931920" cy="2103120"/>
          </a:xfrm>
          <a:prstGeom prst="rect">
            <a:avLst/>
          </a:prstGeom>
          <a:solidFill>
            <a:srgbClr val="F4F6F8"/>
          </a:solidFill>
          <a:ln cap="flat" cmpd="sng" w="9525">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640080" y="28346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300"/>
              <a:buFont typeface="Georgia"/>
              <a:buNone/>
            </a:pPr>
            <a:r>
              <a:rPr b="1" i="0" lang="en-US" sz="1300" u="none" cap="none" strike="noStrike">
                <a:solidFill>
                  <a:srgbClr val="7D3C98"/>
                </a:solidFill>
                <a:latin typeface="Georgia"/>
                <a:ea typeface="Georgia"/>
                <a:cs typeface="Georgia"/>
                <a:sym typeface="Georgia"/>
              </a:rPr>
              <a:t>Chunking im Detail</a:t>
            </a:r>
            <a:endParaRPr b="0" i="0" sz="1300" u="none" cap="none" strike="noStrike">
              <a:solidFill>
                <a:schemeClr val="dk1"/>
              </a:solidFill>
              <a:latin typeface="Calibri"/>
              <a:ea typeface="Calibri"/>
              <a:cs typeface="Calibri"/>
              <a:sym typeface="Calibri"/>
            </a:endParaRPr>
          </a:p>
        </p:txBody>
      </p:sp>
      <p:sp>
        <p:nvSpPr>
          <p:cNvPr id="481" name="Google Shape;481;p19"/>
          <p:cNvSpPr/>
          <p:nvPr/>
        </p:nvSpPr>
        <p:spPr>
          <a:xfrm>
            <a:off x="640080" y="3200400"/>
            <a:ext cx="3474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Chunk 1: Zeichen 0–800</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Chunk 2: Zeichen 700–1500</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Chunk 3: Zeichen 1400–2200</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100 Zeichen Überlappung = Sätze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die auf der Grenze liegen, gehen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nicht verloren.</a:t>
            </a:r>
            <a:endParaRPr b="0" i="0" sz="1000" u="none" cap="none" strike="noStrike">
              <a:solidFill>
                <a:schemeClr val="dk1"/>
              </a:solidFill>
              <a:latin typeface="Calibri"/>
              <a:ea typeface="Calibri"/>
              <a:cs typeface="Calibri"/>
              <a:sym typeface="Calibri"/>
            </a:endParaRPr>
          </a:p>
        </p:txBody>
      </p:sp>
      <p:sp>
        <p:nvSpPr>
          <p:cNvPr id="482" name="Google Shape;482;p19"/>
          <p:cNvSpPr/>
          <p:nvPr/>
        </p:nvSpPr>
        <p:spPr>
          <a:xfrm>
            <a:off x="4754880" y="2743200"/>
            <a:ext cx="3931920" cy="2103120"/>
          </a:xfrm>
          <a:prstGeom prst="rect">
            <a:avLst/>
          </a:prstGeom>
          <a:solidFill>
            <a:srgbClr val="F4F6F8"/>
          </a:solidFill>
          <a:ln cap="flat" cmpd="sng" w="9525">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4937760" y="28346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7E22"/>
              </a:buClr>
              <a:buSzPts val="1300"/>
              <a:buFont typeface="Georgia"/>
              <a:buNone/>
            </a:pPr>
            <a:r>
              <a:rPr b="1" i="0" lang="en-US" sz="1300" u="none" cap="none" strike="noStrike">
                <a:solidFill>
                  <a:srgbClr val="E67E22"/>
                </a:solidFill>
                <a:latin typeface="Georgia"/>
                <a:ea typeface="Georgia"/>
                <a:cs typeface="Georgia"/>
                <a:sym typeface="Georgia"/>
              </a:rPr>
              <a:t>Room-Detection</a:t>
            </a:r>
            <a:endParaRPr b="0" i="0" sz="1300" u="none" cap="none" strike="noStrike">
              <a:solidFill>
                <a:schemeClr val="dk1"/>
              </a:solidFill>
              <a:latin typeface="Calibri"/>
              <a:ea typeface="Calibri"/>
              <a:cs typeface="Calibri"/>
              <a:sym typeface="Calibri"/>
            </a:endParaRPr>
          </a:p>
        </p:txBody>
      </p:sp>
      <p:sp>
        <p:nvSpPr>
          <p:cNvPr id="484" name="Google Shape;484;p19"/>
          <p:cNvSpPr/>
          <p:nvPr/>
        </p:nvSpPr>
        <p:spPr>
          <a:xfrm>
            <a:off x="4937760" y="3200400"/>
            <a:ext cx="34747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Für Projektdateien: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1. Ordnerpfad prüfen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2. Dateiname prüfen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3. Inhalt gegen ~60 Mappings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Für Konversationen: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Erste 2.000 Zeichen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5 Keyword-Sets scoren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Höchster Score = Room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sp>
        <p:nvSpPr>
          <p:cNvPr id="490" name="Google Shape;490;p20"/>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492" name="Google Shape;492;p20"/>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Übung: Ingestion simulieren</a:t>
            </a:r>
            <a:endParaRPr b="0" i="0" sz="2800" u="none" cap="none" strike="noStrike">
              <a:solidFill>
                <a:schemeClr val="dk1"/>
              </a:solidFill>
              <a:latin typeface="Calibri"/>
              <a:ea typeface="Calibri"/>
              <a:cs typeface="Calibri"/>
              <a:sym typeface="Calibri"/>
            </a:endParaRPr>
          </a:p>
        </p:txBody>
      </p:sp>
      <p:sp>
        <p:nvSpPr>
          <p:cNvPr id="493" name="Google Shape;493;p20"/>
          <p:cNvSpPr/>
          <p:nvPr/>
        </p:nvSpPr>
        <p:spPr>
          <a:xfrm>
            <a:off x="457200" y="1097275"/>
            <a:ext cx="6287700" cy="1463100"/>
          </a:xfrm>
          <a:prstGeom prst="rect">
            <a:avLst/>
          </a:prstGeom>
          <a:solidFill>
            <a:srgbClr val="EEF2F7"/>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0"/>
          <p:cNvSpPr/>
          <p:nvPr/>
        </p:nvSpPr>
        <p:spPr>
          <a:xfrm>
            <a:off x="640080" y="1188720"/>
            <a:ext cx="1828800" cy="256032"/>
          </a:xfrm>
          <a:prstGeom prst="rect">
            <a:avLst/>
          </a:prstGeom>
          <a:solidFill>
            <a:srgbClr val="1A5276"/>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ROHER CHAT-EXPORT</a:t>
            </a:r>
            <a:endParaRPr b="0" i="0" sz="1000" u="none" cap="none" strike="noStrike">
              <a:solidFill>
                <a:schemeClr val="dk1"/>
              </a:solidFill>
              <a:latin typeface="Calibri"/>
              <a:ea typeface="Calibri"/>
              <a:cs typeface="Calibri"/>
              <a:sym typeface="Calibri"/>
            </a:endParaRPr>
          </a:p>
        </p:txBody>
      </p:sp>
      <p:sp>
        <p:nvSpPr>
          <p:cNvPr id="495" name="Google Shape;495;p20"/>
          <p:cNvSpPr/>
          <p:nvPr/>
        </p:nvSpPr>
        <p:spPr>
          <a:xfrm>
            <a:off x="640076" y="1554475"/>
            <a:ext cx="61047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[Kai] OAuth token refresh schlägt nach 3600s fehl. Der Bug sitzt in auth.py Zeile 142.</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[Lisa] Hab mir das angeschaut — das Problem ist der Timezone-Offset im JWT.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[Kai] Guter Fund! Ich fix das und deploye heute Abend.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[Marc] Können wir bei der Gelegenheit auf ScyllaDB migrieren? Postgres wird langsam.</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[Lisa] Nein, wir bleiben bei Postgres. Die Concurrent-Write-Performance reicht.</a:t>
            </a:r>
            <a:endParaRPr b="0" i="0" sz="1000" u="none" cap="none" strike="noStrike">
              <a:solidFill>
                <a:schemeClr val="dk1"/>
              </a:solidFill>
              <a:latin typeface="Calibri"/>
              <a:ea typeface="Calibri"/>
              <a:cs typeface="Calibri"/>
              <a:sym typeface="Calibri"/>
            </a:endParaRPr>
          </a:p>
        </p:txBody>
      </p:sp>
      <p:sp>
        <p:nvSpPr>
          <p:cNvPr id="496" name="Google Shape;496;p20"/>
          <p:cNvSpPr/>
          <p:nvPr/>
        </p:nvSpPr>
        <p:spPr>
          <a:xfrm>
            <a:off x="457200" y="2834650"/>
            <a:ext cx="5772900" cy="20118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
          <p:cNvSpPr/>
          <p:nvPr/>
        </p:nvSpPr>
        <p:spPr>
          <a:xfrm>
            <a:off x="640078" y="2926075"/>
            <a:ext cx="2346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AUFGABE (4er-Gruppen)</a:t>
            </a:r>
            <a:endParaRPr b="0" i="0" sz="1100" u="none" cap="none" strike="noStrike">
              <a:solidFill>
                <a:schemeClr val="dk1"/>
              </a:solidFill>
              <a:latin typeface="Calibri"/>
              <a:ea typeface="Calibri"/>
              <a:cs typeface="Calibri"/>
              <a:sym typeface="Calibri"/>
            </a:endParaRPr>
          </a:p>
        </p:txBody>
      </p:sp>
      <p:sp>
        <p:nvSpPr>
          <p:cNvPr id="498" name="Google Shape;498;p20"/>
          <p:cNvSpPr/>
          <p:nvPr/>
        </p:nvSpPr>
        <p:spPr>
          <a:xfrm>
            <a:off x="640076" y="3291850"/>
            <a:ext cx="55899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1.  Chunking: Wie würdet ihr diesen Text in Chunks aufteilen? (800 Zeichen = hier 1 Chunk)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2.  Wing-Zuweisung: Welche Wings braucht ihr? (wing_kai, wing_lisa, wing_marc, wing_orion?)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3.  Hall-Zuweisung: Welcher Hall für jede Aussage? (facts, events, discoveries, preferences, advice)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4.  Room-Zuweisung: Welche Rooms? (auth-migration? database-choice? deployment?)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5.  Tunnel-Frage: Welche Rooms tauchen in mehreren Wings auf? → Wo entstehen Tunnels?</a:t>
            </a:r>
            <a:endParaRPr b="0" i="0" sz="1100" u="none" cap="none" strike="noStrike">
              <a:solidFill>
                <a:schemeClr val="dk1"/>
              </a:solidFill>
              <a:latin typeface="Calibri"/>
              <a:ea typeface="Calibri"/>
              <a:cs typeface="Calibri"/>
              <a:sym typeface="Calibri"/>
            </a:endParaRPr>
          </a:p>
        </p:txBody>
      </p:sp>
      <p:sp>
        <p:nvSpPr>
          <p:cNvPr id="499" name="Google Shape;499;p20"/>
          <p:cNvSpPr/>
          <p:nvPr/>
        </p:nvSpPr>
        <p:spPr>
          <a:xfrm>
            <a:off x="7022942" y="1097275"/>
            <a:ext cx="1755300" cy="422700"/>
          </a:xfrm>
          <a:prstGeom prst="rect">
            <a:avLst/>
          </a:prstGeom>
          <a:solidFill>
            <a:srgbClr val="F4F6F8"/>
          </a:solidFill>
          <a:ln cap="flat" cmpd="sng" w="6850">
            <a:solidFill>
              <a:srgbClr val="D5D8DC"/>
            </a:solidFill>
            <a:prstDash val="solid"/>
            <a:round/>
            <a:headEnd len="sm" w="sm" type="none"/>
            <a:tailEnd len="sm" w="sm" type="none"/>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sp>
        <p:nvSpPr>
          <p:cNvPr id="500" name="Google Shape;500;p20"/>
          <p:cNvSpPr/>
          <p:nvPr/>
        </p:nvSpPr>
        <p:spPr>
          <a:xfrm>
            <a:off x="7154407" y="1162344"/>
            <a:ext cx="262800" cy="260400"/>
          </a:xfrm>
          <a:prstGeom prst="ellipse">
            <a:avLst/>
          </a:prstGeom>
          <a:solidFill>
            <a:srgbClr val="EEF2F7"/>
          </a:solidFill>
          <a:ln>
            <a:noFill/>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pic>
        <p:nvPicPr>
          <p:cNvPr descr="preencoded.png" id="501" name="Google Shape;501;p20"/>
          <p:cNvPicPr preferRelativeResize="0"/>
          <p:nvPr/>
        </p:nvPicPr>
        <p:blipFill rotWithShape="1">
          <a:blip r:embed="rId3">
            <a:alphaModFix/>
          </a:blip>
          <a:srcRect b="0" l="0" r="0" t="0"/>
          <a:stretch/>
        </p:blipFill>
        <p:spPr>
          <a:xfrm>
            <a:off x="7206992" y="1214397"/>
            <a:ext cx="157755" cy="156159"/>
          </a:xfrm>
          <a:prstGeom prst="rect">
            <a:avLst/>
          </a:prstGeom>
          <a:noFill/>
          <a:ln>
            <a:noFill/>
          </a:ln>
        </p:spPr>
      </p:pic>
      <p:sp>
        <p:nvSpPr>
          <p:cNvPr id="502" name="Google Shape;502;p20"/>
          <p:cNvSpPr/>
          <p:nvPr/>
        </p:nvSpPr>
        <p:spPr>
          <a:xfrm>
            <a:off x="7548800" y="1129800"/>
            <a:ext cx="1149900" cy="3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935"/>
              <a:buFont typeface="Consolas"/>
              <a:buNone/>
            </a:pPr>
            <a:r>
              <a:rPr b="1" i="0" lang="en-US" sz="935" u="none" cap="none" strike="noStrike">
                <a:solidFill>
                  <a:srgbClr val="1A5276"/>
                </a:solidFill>
                <a:latin typeface="Consolas"/>
                <a:ea typeface="Consolas"/>
                <a:cs typeface="Consolas"/>
                <a:sym typeface="Consolas"/>
              </a:rPr>
              <a:t>hall_facts</a:t>
            </a:r>
            <a:endParaRPr b="0" i="0" sz="935" u="none" cap="none" strike="noStrike">
              <a:solidFill>
                <a:schemeClr val="dk1"/>
              </a:solidFill>
              <a:latin typeface="Calibri"/>
              <a:ea typeface="Calibri"/>
              <a:cs typeface="Calibri"/>
              <a:sym typeface="Calibri"/>
            </a:endParaRPr>
          </a:p>
        </p:txBody>
      </p:sp>
      <p:sp>
        <p:nvSpPr>
          <p:cNvPr id="503" name="Google Shape;503;p20"/>
          <p:cNvSpPr/>
          <p:nvPr/>
        </p:nvSpPr>
        <p:spPr>
          <a:xfrm>
            <a:off x="7022942" y="1617807"/>
            <a:ext cx="1755300" cy="422700"/>
          </a:xfrm>
          <a:prstGeom prst="rect">
            <a:avLst/>
          </a:prstGeom>
          <a:solidFill>
            <a:srgbClr val="F4F6F8"/>
          </a:solidFill>
          <a:ln cap="flat" cmpd="sng" w="6850">
            <a:solidFill>
              <a:srgbClr val="D5D8DC"/>
            </a:solidFill>
            <a:prstDash val="solid"/>
            <a:round/>
            <a:headEnd len="sm" w="sm" type="none"/>
            <a:tailEnd len="sm" w="sm" type="none"/>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sp>
        <p:nvSpPr>
          <p:cNvPr id="504" name="Google Shape;504;p20"/>
          <p:cNvSpPr/>
          <p:nvPr/>
        </p:nvSpPr>
        <p:spPr>
          <a:xfrm>
            <a:off x="7154407" y="1682874"/>
            <a:ext cx="262800" cy="260400"/>
          </a:xfrm>
          <a:prstGeom prst="ellipse">
            <a:avLst/>
          </a:prstGeom>
          <a:solidFill>
            <a:srgbClr val="EEF2F7"/>
          </a:solidFill>
          <a:ln>
            <a:noFill/>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pic>
        <p:nvPicPr>
          <p:cNvPr descr="preencoded.png" id="505" name="Google Shape;505;p20"/>
          <p:cNvPicPr preferRelativeResize="0"/>
          <p:nvPr/>
        </p:nvPicPr>
        <p:blipFill rotWithShape="1">
          <a:blip r:embed="rId4">
            <a:alphaModFix/>
          </a:blip>
          <a:srcRect b="0" l="0" r="0" t="0"/>
          <a:stretch/>
        </p:blipFill>
        <p:spPr>
          <a:xfrm>
            <a:off x="7206992" y="1734927"/>
            <a:ext cx="157755" cy="156159"/>
          </a:xfrm>
          <a:prstGeom prst="rect">
            <a:avLst/>
          </a:prstGeom>
          <a:noFill/>
          <a:ln>
            <a:noFill/>
          </a:ln>
        </p:spPr>
      </p:pic>
      <p:sp>
        <p:nvSpPr>
          <p:cNvPr id="506" name="Google Shape;506;p20"/>
          <p:cNvSpPr/>
          <p:nvPr/>
        </p:nvSpPr>
        <p:spPr>
          <a:xfrm>
            <a:off x="7548800" y="1650331"/>
            <a:ext cx="1149900" cy="3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935"/>
              <a:buFont typeface="Consolas"/>
              <a:buNone/>
            </a:pPr>
            <a:r>
              <a:rPr b="1" i="0" lang="en-US" sz="935" u="none" cap="none" strike="noStrike">
                <a:solidFill>
                  <a:srgbClr val="1A5276"/>
                </a:solidFill>
                <a:latin typeface="Consolas"/>
                <a:ea typeface="Consolas"/>
                <a:cs typeface="Consolas"/>
                <a:sym typeface="Consolas"/>
              </a:rPr>
              <a:t>hall_events</a:t>
            </a:r>
            <a:endParaRPr b="0" i="0" sz="935" u="none" cap="none" strike="noStrike">
              <a:solidFill>
                <a:schemeClr val="dk1"/>
              </a:solidFill>
              <a:latin typeface="Calibri"/>
              <a:ea typeface="Calibri"/>
              <a:cs typeface="Calibri"/>
              <a:sym typeface="Calibri"/>
            </a:endParaRPr>
          </a:p>
        </p:txBody>
      </p:sp>
      <p:sp>
        <p:nvSpPr>
          <p:cNvPr id="507" name="Google Shape;507;p20"/>
          <p:cNvSpPr/>
          <p:nvPr/>
        </p:nvSpPr>
        <p:spPr>
          <a:xfrm>
            <a:off x="7022942" y="2138339"/>
            <a:ext cx="1755300" cy="422700"/>
          </a:xfrm>
          <a:prstGeom prst="rect">
            <a:avLst/>
          </a:prstGeom>
          <a:solidFill>
            <a:srgbClr val="F4F6F8"/>
          </a:solidFill>
          <a:ln cap="flat" cmpd="sng" w="6850">
            <a:solidFill>
              <a:srgbClr val="D5D8DC"/>
            </a:solidFill>
            <a:prstDash val="solid"/>
            <a:round/>
            <a:headEnd len="sm" w="sm" type="none"/>
            <a:tailEnd len="sm" w="sm" type="none"/>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sp>
        <p:nvSpPr>
          <p:cNvPr id="508" name="Google Shape;508;p20"/>
          <p:cNvSpPr/>
          <p:nvPr/>
        </p:nvSpPr>
        <p:spPr>
          <a:xfrm>
            <a:off x="7154407" y="2203404"/>
            <a:ext cx="262800" cy="260400"/>
          </a:xfrm>
          <a:prstGeom prst="ellipse">
            <a:avLst/>
          </a:prstGeom>
          <a:solidFill>
            <a:srgbClr val="EEF2F7"/>
          </a:solidFill>
          <a:ln>
            <a:noFill/>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pic>
        <p:nvPicPr>
          <p:cNvPr descr="preencoded.png" id="509" name="Google Shape;509;p20"/>
          <p:cNvPicPr preferRelativeResize="0"/>
          <p:nvPr/>
        </p:nvPicPr>
        <p:blipFill rotWithShape="1">
          <a:blip r:embed="rId5">
            <a:alphaModFix/>
          </a:blip>
          <a:srcRect b="0" l="0" r="0" t="0"/>
          <a:stretch/>
        </p:blipFill>
        <p:spPr>
          <a:xfrm>
            <a:off x="7206992" y="2255457"/>
            <a:ext cx="157755" cy="156159"/>
          </a:xfrm>
          <a:prstGeom prst="rect">
            <a:avLst/>
          </a:prstGeom>
          <a:noFill/>
          <a:ln>
            <a:noFill/>
          </a:ln>
        </p:spPr>
      </p:pic>
      <p:sp>
        <p:nvSpPr>
          <p:cNvPr id="510" name="Google Shape;510;p20"/>
          <p:cNvSpPr/>
          <p:nvPr/>
        </p:nvSpPr>
        <p:spPr>
          <a:xfrm>
            <a:off x="7548800" y="2170862"/>
            <a:ext cx="1149900" cy="3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935"/>
              <a:buFont typeface="Consolas"/>
              <a:buNone/>
            </a:pPr>
            <a:r>
              <a:rPr b="1" i="0" lang="en-US" sz="935" u="none" cap="none" strike="noStrike">
                <a:solidFill>
                  <a:srgbClr val="1A5276"/>
                </a:solidFill>
                <a:latin typeface="Consolas"/>
                <a:ea typeface="Consolas"/>
                <a:cs typeface="Consolas"/>
                <a:sym typeface="Consolas"/>
              </a:rPr>
              <a:t>hall_discoveries</a:t>
            </a:r>
            <a:endParaRPr b="0" i="0" sz="935" u="none" cap="none" strike="noStrike">
              <a:solidFill>
                <a:schemeClr val="dk1"/>
              </a:solidFill>
              <a:latin typeface="Calibri"/>
              <a:ea typeface="Calibri"/>
              <a:cs typeface="Calibri"/>
              <a:sym typeface="Calibri"/>
            </a:endParaRPr>
          </a:p>
        </p:txBody>
      </p:sp>
      <p:sp>
        <p:nvSpPr>
          <p:cNvPr id="511" name="Google Shape;511;p20"/>
          <p:cNvSpPr/>
          <p:nvPr/>
        </p:nvSpPr>
        <p:spPr>
          <a:xfrm>
            <a:off x="7022942" y="2658871"/>
            <a:ext cx="1755300" cy="422700"/>
          </a:xfrm>
          <a:prstGeom prst="rect">
            <a:avLst/>
          </a:prstGeom>
          <a:solidFill>
            <a:srgbClr val="F4F6F8"/>
          </a:solidFill>
          <a:ln cap="flat" cmpd="sng" w="6850">
            <a:solidFill>
              <a:srgbClr val="D5D8DC"/>
            </a:solidFill>
            <a:prstDash val="solid"/>
            <a:round/>
            <a:headEnd len="sm" w="sm" type="none"/>
            <a:tailEnd len="sm" w="sm" type="none"/>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sp>
        <p:nvSpPr>
          <p:cNvPr id="512" name="Google Shape;512;p20"/>
          <p:cNvSpPr/>
          <p:nvPr/>
        </p:nvSpPr>
        <p:spPr>
          <a:xfrm>
            <a:off x="7154407" y="2723935"/>
            <a:ext cx="262800" cy="260400"/>
          </a:xfrm>
          <a:prstGeom prst="ellipse">
            <a:avLst/>
          </a:prstGeom>
          <a:solidFill>
            <a:srgbClr val="EEF2F7"/>
          </a:solidFill>
          <a:ln>
            <a:noFill/>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pic>
        <p:nvPicPr>
          <p:cNvPr descr="preencoded.png" id="513" name="Google Shape;513;p20"/>
          <p:cNvPicPr preferRelativeResize="0"/>
          <p:nvPr/>
        </p:nvPicPr>
        <p:blipFill rotWithShape="1">
          <a:blip r:embed="rId6">
            <a:alphaModFix/>
          </a:blip>
          <a:srcRect b="0" l="0" r="0" t="0"/>
          <a:stretch/>
        </p:blipFill>
        <p:spPr>
          <a:xfrm>
            <a:off x="7206992" y="2775988"/>
            <a:ext cx="157755" cy="156159"/>
          </a:xfrm>
          <a:prstGeom prst="rect">
            <a:avLst/>
          </a:prstGeom>
          <a:noFill/>
          <a:ln>
            <a:noFill/>
          </a:ln>
        </p:spPr>
      </p:pic>
      <p:sp>
        <p:nvSpPr>
          <p:cNvPr id="514" name="Google Shape;514;p20"/>
          <p:cNvSpPr/>
          <p:nvPr/>
        </p:nvSpPr>
        <p:spPr>
          <a:xfrm>
            <a:off x="7548800" y="2691393"/>
            <a:ext cx="1149900" cy="3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935"/>
              <a:buFont typeface="Consolas"/>
              <a:buNone/>
            </a:pPr>
            <a:r>
              <a:rPr b="1" i="0" lang="en-US" sz="935" u="none" cap="none" strike="noStrike">
                <a:solidFill>
                  <a:srgbClr val="1A5276"/>
                </a:solidFill>
                <a:latin typeface="Consolas"/>
                <a:ea typeface="Consolas"/>
                <a:cs typeface="Consolas"/>
                <a:sym typeface="Consolas"/>
              </a:rPr>
              <a:t>hall_preferences</a:t>
            </a:r>
            <a:endParaRPr b="0" i="0" sz="935" u="none" cap="none" strike="noStrike">
              <a:solidFill>
                <a:schemeClr val="dk1"/>
              </a:solidFill>
              <a:latin typeface="Calibri"/>
              <a:ea typeface="Calibri"/>
              <a:cs typeface="Calibri"/>
              <a:sym typeface="Calibri"/>
            </a:endParaRPr>
          </a:p>
        </p:txBody>
      </p:sp>
      <p:sp>
        <p:nvSpPr>
          <p:cNvPr id="515" name="Google Shape;515;p20"/>
          <p:cNvSpPr/>
          <p:nvPr/>
        </p:nvSpPr>
        <p:spPr>
          <a:xfrm>
            <a:off x="7022942" y="3179404"/>
            <a:ext cx="1755300" cy="422700"/>
          </a:xfrm>
          <a:prstGeom prst="rect">
            <a:avLst/>
          </a:prstGeom>
          <a:solidFill>
            <a:srgbClr val="F4F6F8"/>
          </a:solidFill>
          <a:ln cap="flat" cmpd="sng" w="6850">
            <a:solidFill>
              <a:srgbClr val="D5D8DC"/>
            </a:solidFill>
            <a:prstDash val="solid"/>
            <a:round/>
            <a:headEnd len="sm" w="sm" type="none"/>
            <a:tailEnd len="sm" w="sm" type="none"/>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sp>
        <p:nvSpPr>
          <p:cNvPr id="516" name="Google Shape;516;p20"/>
          <p:cNvSpPr/>
          <p:nvPr/>
        </p:nvSpPr>
        <p:spPr>
          <a:xfrm>
            <a:off x="7154407" y="3244465"/>
            <a:ext cx="262800" cy="260400"/>
          </a:xfrm>
          <a:prstGeom prst="ellipse">
            <a:avLst/>
          </a:prstGeom>
          <a:solidFill>
            <a:srgbClr val="EEF2F7"/>
          </a:solidFill>
          <a:ln>
            <a:noFill/>
          </a:ln>
        </p:spPr>
        <p:txBody>
          <a:bodyPr anchorCtr="0" anchor="ctr" bIns="65700" lIns="65700" spcFirstLastPara="1" rIns="65700" wrap="square" tIns="65700">
            <a:noAutofit/>
          </a:bodyPr>
          <a:lstStyle/>
          <a:p>
            <a:pPr indent="0" lvl="0" marL="0" rtl="0" algn="l">
              <a:spcBef>
                <a:spcPts val="0"/>
              </a:spcBef>
              <a:spcAft>
                <a:spcPts val="0"/>
              </a:spcAft>
              <a:buNone/>
            </a:pPr>
            <a:r>
              <a:t/>
            </a:r>
            <a:endParaRPr/>
          </a:p>
        </p:txBody>
      </p:sp>
      <p:pic>
        <p:nvPicPr>
          <p:cNvPr descr="preencoded.png" id="517" name="Google Shape;517;p20"/>
          <p:cNvPicPr preferRelativeResize="0"/>
          <p:nvPr/>
        </p:nvPicPr>
        <p:blipFill rotWithShape="1">
          <a:blip r:embed="rId7">
            <a:alphaModFix/>
          </a:blip>
          <a:srcRect b="0" l="0" r="0" t="0"/>
          <a:stretch/>
        </p:blipFill>
        <p:spPr>
          <a:xfrm>
            <a:off x="7206992" y="3296518"/>
            <a:ext cx="157755" cy="156159"/>
          </a:xfrm>
          <a:prstGeom prst="rect">
            <a:avLst/>
          </a:prstGeom>
          <a:noFill/>
          <a:ln>
            <a:noFill/>
          </a:ln>
        </p:spPr>
      </p:pic>
      <p:sp>
        <p:nvSpPr>
          <p:cNvPr id="518" name="Google Shape;518;p20"/>
          <p:cNvSpPr/>
          <p:nvPr/>
        </p:nvSpPr>
        <p:spPr>
          <a:xfrm>
            <a:off x="7548800" y="3211924"/>
            <a:ext cx="1149900" cy="3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935"/>
              <a:buFont typeface="Consolas"/>
              <a:buNone/>
            </a:pPr>
            <a:r>
              <a:rPr b="1" i="0" lang="en-US" sz="935" u="none" cap="none" strike="noStrike">
                <a:solidFill>
                  <a:srgbClr val="1A5276"/>
                </a:solidFill>
                <a:latin typeface="Consolas"/>
                <a:ea typeface="Consolas"/>
                <a:cs typeface="Consolas"/>
                <a:sym typeface="Consolas"/>
              </a:rPr>
              <a:t>hall_advice</a:t>
            </a:r>
            <a:endParaRPr b="0" i="0" sz="935"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21"/>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526" name="Google Shape;526;p21"/>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Der Retrieval-Prozess</a:t>
            </a:r>
            <a:endParaRPr b="0" i="0" sz="2800" u="none" cap="none" strike="noStrike">
              <a:solidFill>
                <a:schemeClr val="dk1"/>
              </a:solidFill>
              <a:latin typeface="Calibri"/>
              <a:ea typeface="Calibri"/>
              <a:cs typeface="Calibri"/>
              <a:sym typeface="Calibri"/>
            </a:endParaRPr>
          </a:p>
        </p:txBody>
      </p:sp>
      <p:sp>
        <p:nvSpPr>
          <p:cNvPr id="527" name="Google Shape;527;p21"/>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Von der Frage zur Antwort</a:t>
            </a:r>
            <a:endParaRPr b="0" i="0" sz="1200" u="none" cap="none" strike="noStrike">
              <a:solidFill>
                <a:schemeClr val="dk1"/>
              </a:solidFill>
              <a:latin typeface="Calibri"/>
              <a:ea typeface="Calibri"/>
              <a:cs typeface="Calibri"/>
              <a:sym typeface="Calibri"/>
            </a:endParaRPr>
          </a:p>
        </p:txBody>
      </p:sp>
      <p:sp>
        <p:nvSpPr>
          <p:cNvPr id="528" name="Google Shape;528;p21"/>
          <p:cNvSpPr/>
          <p:nvPr/>
        </p:nvSpPr>
        <p:spPr>
          <a:xfrm>
            <a:off x="274320" y="1188720"/>
            <a:ext cx="1554480" cy="1005840"/>
          </a:xfrm>
          <a:prstGeom prst="rect">
            <a:avLst/>
          </a:prstGeom>
          <a:solidFill>
            <a:srgbClr val="1A5276">
              <a:alpha val="7843"/>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
          <p:cNvSpPr/>
          <p:nvPr/>
        </p:nvSpPr>
        <p:spPr>
          <a:xfrm>
            <a:off x="274320" y="123444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Query</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Embedding</a:t>
            </a:r>
            <a:endParaRPr b="0" i="0" sz="1000" u="none" cap="none" strike="noStrike">
              <a:solidFill>
                <a:schemeClr val="dk1"/>
              </a:solidFill>
              <a:latin typeface="Calibri"/>
              <a:ea typeface="Calibri"/>
              <a:cs typeface="Calibri"/>
              <a:sym typeface="Calibri"/>
            </a:endParaRPr>
          </a:p>
        </p:txBody>
      </p:sp>
      <p:sp>
        <p:nvSpPr>
          <p:cNvPr id="530" name="Google Shape;530;p21"/>
          <p:cNvSpPr/>
          <p:nvPr/>
        </p:nvSpPr>
        <p:spPr>
          <a:xfrm>
            <a:off x="320040" y="1645920"/>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"Warum GraphQL?"</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 384D Vektor</a:t>
            </a:r>
            <a:endParaRPr b="0" i="0" sz="900" u="none" cap="none" strike="noStrike">
              <a:solidFill>
                <a:schemeClr val="dk1"/>
              </a:solidFill>
              <a:latin typeface="Calibri"/>
              <a:ea typeface="Calibri"/>
              <a:cs typeface="Calibri"/>
              <a:sym typeface="Calibri"/>
            </a:endParaRPr>
          </a:p>
        </p:txBody>
      </p:sp>
      <p:sp>
        <p:nvSpPr>
          <p:cNvPr id="531" name="Google Shape;531;p21"/>
          <p:cNvSpPr/>
          <p:nvPr/>
        </p:nvSpPr>
        <p:spPr>
          <a:xfrm>
            <a:off x="1783080" y="1371600"/>
            <a:ext cx="274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32" name="Google Shape;532;p21"/>
          <p:cNvSpPr/>
          <p:nvPr/>
        </p:nvSpPr>
        <p:spPr>
          <a:xfrm>
            <a:off x="2011680" y="1188720"/>
            <a:ext cx="1554480" cy="1005840"/>
          </a:xfrm>
          <a:prstGeom prst="rect">
            <a:avLst/>
          </a:prstGeom>
          <a:solidFill>
            <a:srgbClr val="1A5276">
              <a:alpha val="7843"/>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1"/>
          <p:cNvSpPr/>
          <p:nvPr/>
        </p:nvSpPr>
        <p:spPr>
          <a:xfrm>
            <a:off x="2011680" y="123444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ANN-Suche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(HNSW)</a:t>
            </a:r>
            <a:endParaRPr b="0" i="0" sz="1000" u="none" cap="none" strike="noStrike">
              <a:solidFill>
                <a:schemeClr val="dk1"/>
              </a:solidFill>
              <a:latin typeface="Calibri"/>
              <a:ea typeface="Calibri"/>
              <a:cs typeface="Calibri"/>
              <a:sym typeface="Calibri"/>
            </a:endParaRPr>
          </a:p>
        </p:txBody>
      </p:sp>
      <p:sp>
        <p:nvSpPr>
          <p:cNvPr id="534" name="Google Shape;534;p21"/>
          <p:cNvSpPr/>
          <p:nvPr/>
        </p:nvSpPr>
        <p:spPr>
          <a:xfrm>
            <a:off x="2057400" y="1645920"/>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Approximate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Nearest Neighbor</a:t>
            </a:r>
            <a:endParaRPr b="0" i="0" sz="900" u="none" cap="none" strike="noStrike">
              <a:solidFill>
                <a:schemeClr val="dk1"/>
              </a:solidFill>
              <a:latin typeface="Calibri"/>
              <a:ea typeface="Calibri"/>
              <a:cs typeface="Calibri"/>
              <a:sym typeface="Calibri"/>
            </a:endParaRPr>
          </a:p>
        </p:txBody>
      </p:sp>
      <p:sp>
        <p:nvSpPr>
          <p:cNvPr id="535" name="Google Shape;535;p21"/>
          <p:cNvSpPr/>
          <p:nvPr/>
        </p:nvSpPr>
        <p:spPr>
          <a:xfrm>
            <a:off x="3520440" y="1371600"/>
            <a:ext cx="274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36" name="Google Shape;536;p21"/>
          <p:cNvSpPr/>
          <p:nvPr/>
        </p:nvSpPr>
        <p:spPr>
          <a:xfrm>
            <a:off x="3749040" y="1188720"/>
            <a:ext cx="1554480" cy="1005840"/>
          </a:xfrm>
          <a:prstGeom prst="rect">
            <a:avLst/>
          </a:prstGeom>
          <a:solidFill>
            <a:srgbClr val="1A5276">
              <a:alpha val="7843"/>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3749040" y="123444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Metadata</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Filter</a:t>
            </a:r>
            <a:endParaRPr b="0" i="0" sz="1000" u="none" cap="none" strike="noStrike">
              <a:solidFill>
                <a:schemeClr val="dk1"/>
              </a:solidFill>
              <a:latin typeface="Calibri"/>
              <a:ea typeface="Calibri"/>
              <a:cs typeface="Calibri"/>
              <a:sym typeface="Calibri"/>
            </a:endParaRPr>
          </a:p>
        </p:txBody>
      </p:sp>
      <p:sp>
        <p:nvSpPr>
          <p:cNvPr id="538" name="Google Shape;538;p21"/>
          <p:cNvSpPr/>
          <p:nvPr/>
        </p:nvSpPr>
        <p:spPr>
          <a:xfrm>
            <a:off x="3794760" y="1645920"/>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wing + hall + room</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als WHERE-Clause</a:t>
            </a:r>
            <a:endParaRPr b="0" i="0" sz="900" u="none" cap="none" strike="noStrike">
              <a:solidFill>
                <a:schemeClr val="dk1"/>
              </a:solidFill>
              <a:latin typeface="Calibri"/>
              <a:ea typeface="Calibri"/>
              <a:cs typeface="Calibri"/>
              <a:sym typeface="Calibri"/>
            </a:endParaRPr>
          </a:p>
        </p:txBody>
      </p:sp>
      <p:sp>
        <p:nvSpPr>
          <p:cNvPr id="539" name="Google Shape;539;p21"/>
          <p:cNvSpPr/>
          <p:nvPr/>
        </p:nvSpPr>
        <p:spPr>
          <a:xfrm>
            <a:off x="5257800" y="1371600"/>
            <a:ext cx="274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40" name="Google Shape;540;p21"/>
          <p:cNvSpPr/>
          <p:nvPr/>
        </p:nvSpPr>
        <p:spPr>
          <a:xfrm>
            <a:off x="5486400" y="1188720"/>
            <a:ext cx="1554480" cy="1005840"/>
          </a:xfrm>
          <a:prstGeom prst="rect">
            <a:avLst/>
          </a:prstGeom>
          <a:solidFill>
            <a:srgbClr val="1A5276">
              <a:alpha val="7843"/>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5486400" y="123444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Top-K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Closets</a:t>
            </a:r>
            <a:endParaRPr b="0" i="0" sz="1000" u="none" cap="none" strike="noStrike">
              <a:solidFill>
                <a:schemeClr val="dk1"/>
              </a:solidFill>
              <a:latin typeface="Calibri"/>
              <a:ea typeface="Calibri"/>
              <a:cs typeface="Calibri"/>
              <a:sym typeface="Calibri"/>
            </a:endParaRPr>
          </a:p>
        </p:txBody>
      </p:sp>
      <p:sp>
        <p:nvSpPr>
          <p:cNvPr id="542" name="Google Shape;542;p21"/>
          <p:cNvSpPr/>
          <p:nvPr/>
        </p:nvSpPr>
        <p:spPr>
          <a:xfrm>
            <a:off x="5532120" y="1645920"/>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K ähnlichste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Summaries</a:t>
            </a:r>
            <a:endParaRPr b="0" i="0" sz="900" u="none" cap="none" strike="noStrike">
              <a:solidFill>
                <a:schemeClr val="dk1"/>
              </a:solidFill>
              <a:latin typeface="Calibri"/>
              <a:ea typeface="Calibri"/>
              <a:cs typeface="Calibri"/>
              <a:sym typeface="Calibri"/>
            </a:endParaRPr>
          </a:p>
        </p:txBody>
      </p:sp>
      <p:sp>
        <p:nvSpPr>
          <p:cNvPr id="543" name="Google Shape;543;p21"/>
          <p:cNvSpPr/>
          <p:nvPr/>
        </p:nvSpPr>
        <p:spPr>
          <a:xfrm>
            <a:off x="6995160" y="1371600"/>
            <a:ext cx="274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9E"/>
              </a:buClr>
              <a:buSzPts val="1400"/>
              <a:buFont typeface="Calibri"/>
              <a:buNone/>
            </a:pPr>
            <a:r>
              <a:rPr b="0" i="0" lang="en-US" sz="1400" u="none" cap="none" strike="noStrike">
                <a:solidFill>
                  <a:srgbClr val="85929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44" name="Google Shape;544;p21"/>
          <p:cNvSpPr/>
          <p:nvPr/>
        </p:nvSpPr>
        <p:spPr>
          <a:xfrm>
            <a:off x="7223760" y="1188720"/>
            <a:ext cx="1554480" cy="1005840"/>
          </a:xfrm>
          <a:prstGeom prst="rect">
            <a:avLst/>
          </a:prstGeom>
          <a:solidFill>
            <a:srgbClr val="1A5276">
              <a:alpha val="7843"/>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7223760" y="1234440"/>
            <a:ext cx="1554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Drawer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5276"/>
              </a:buClr>
              <a:buSzPts val="1000"/>
              <a:buFont typeface="Consolas"/>
              <a:buNone/>
            </a:pPr>
            <a:r>
              <a:rPr b="1" i="0" lang="en-US" sz="1000" u="none" cap="none" strike="noStrike">
                <a:solidFill>
                  <a:srgbClr val="1A5276"/>
                </a:solidFill>
                <a:latin typeface="Consolas"/>
                <a:ea typeface="Consolas"/>
                <a:cs typeface="Consolas"/>
                <a:sym typeface="Consolas"/>
              </a:rPr>
              <a:t>Lookup</a:t>
            </a:r>
            <a:endParaRPr b="0" i="0" sz="1000" u="none" cap="none" strike="noStrike">
              <a:solidFill>
                <a:schemeClr val="dk1"/>
              </a:solidFill>
              <a:latin typeface="Calibri"/>
              <a:ea typeface="Calibri"/>
              <a:cs typeface="Calibri"/>
              <a:sym typeface="Calibri"/>
            </a:endParaRPr>
          </a:p>
        </p:txBody>
      </p:sp>
      <p:sp>
        <p:nvSpPr>
          <p:cNvPr id="546" name="Google Shape;546;p21"/>
          <p:cNvSpPr/>
          <p:nvPr/>
        </p:nvSpPr>
        <p:spPr>
          <a:xfrm>
            <a:off x="7269480" y="1645920"/>
            <a:ext cx="1463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Closet → Pointer</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66573"/>
              </a:buClr>
              <a:buSzPts val="900"/>
              <a:buFont typeface="Calibri"/>
              <a:buNone/>
            </a:pPr>
            <a:r>
              <a:rPr b="0" i="0" lang="en-US" sz="900" u="none" cap="none" strike="noStrike">
                <a:solidFill>
                  <a:srgbClr val="566573"/>
                </a:solidFill>
                <a:latin typeface="Calibri"/>
                <a:ea typeface="Calibri"/>
                <a:cs typeface="Calibri"/>
                <a:sym typeface="Calibri"/>
              </a:rPr>
              <a:t>→ Originaltext</a:t>
            </a:r>
            <a:endParaRPr b="0" i="0" sz="900" u="none" cap="none" strike="noStrike">
              <a:solidFill>
                <a:schemeClr val="dk1"/>
              </a:solidFill>
              <a:latin typeface="Calibri"/>
              <a:ea typeface="Calibri"/>
              <a:cs typeface="Calibri"/>
              <a:sym typeface="Calibri"/>
            </a:endParaRPr>
          </a:p>
        </p:txBody>
      </p:sp>
      <p:sp>
        <p:nvSpPr>
          <p:cNvPr id="547" name="Google Shape;547;p21"/>
          <p:cNvSpPr/>
          <p:nvPr/>
        </p:nvSpPr>
        <p:spPr>
          <a:xfrm>
            <a:off x="457200" y="2560320"/>
            <a:ext cx="3931920" cy="2194560"/>
          </a:xfrm>
          <a:prstGeom prst="rect">
            <a:avLst/>
          </a:prstGeom>
          <a:solidFill>
            <a:srgbClr val="F4F6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64008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Georgia"/>
              <a:buNone/>
            </a:pPr>
            <a:r>
              <a:rPr b="1" i="0" lang="en-US" sz="1100" u="none" cap="none" strike="noStrike">
                <a:solidFill>
                  <a:srgbClr val="1A5276"/>
                </a:solidFill>
                <a:latin typeface="Georgia"/>
                <a:ea typeface="Georgia"/>
                <a:cs typeface="Georgia"/>
                <a:sym typeface="Georgia"/>
              </a:rPr>
              <a:t>HNSW (Hierarchical Navigable Small World)</a:t>
            </a:r>
            <a:endParaRPr b="0" i="0" sz="1100" u="none" cap="none" strike="noStrike">
              <a:solidFill>
                <a:schemeClr val="dk1"/>
              </a:solidFill>
              <a:latin typeface="Calibri"/>
              <a:ea typeface="Calibri"/>
              <a:cs typeface="Calibri"/>
              <a:sym typeface="Calibri"/>
            </a:endParaRPr>
          </a:p>
        </p:txBody>
      </p:sp>
      <p:sp>
        <p:nvSpPr>
          <p:cNvPr id="549" name="Google Shape;549;p21"/>
          <p:cNvSpPr/>
          <p:nvPr/>
        </p:nvSpPr>
        <p:spPr>
          <a:xfrm>
            <a:off x="640080" y="3017520"/>
            <a:ext cx="347472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Statt alle N Vektoren zu vergleichen </a:t>
            </a:r>
            <a:r>
              <a:rPr lang="en-US" sz="1000">
                <a:solidFill>
                  <a:srgbClr val="566573"/>
                </a:solidFill>
                <a:latin typeface="Consolas"/>
                <a:ea typeface="Consolas"/>
                <a:cs typeface="Consolas"/>
                <a:sym typeface="Consolas"/>
              </a:rPr>
              <a:t>mit </a:t>
            </a:r>
            <a:r>
              <a:rPr b="0" i="0" lang="en-US" sz="1000" u="none" cap="none" strike="noStrike">
                <a:solidFill>
                  <a:srgbClr val="566573"/>
                </a:solidFill>
                <a:latin typeface="Consolas"/>
                <a:ea typeface="Consolas"/>
                <a:cs typeface="Consolas"/>
                <a:sym typeface="Consolas"/>
              </a:rPr>
              <a:t>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baut HNSW einen mehrschichtigen Graphen: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Top Layer:  Wenige Knoten, grobe Navigation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Mid Layers: Zunehmend dichter</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Base Layer: Alle Vektoren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Suche: Start oben, spring zu nächstem</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Nachbarn, steige Layer ab, wiederhole.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Komplexität: O(log n) statt O(n)</a:t>
            </a:r>
            <a:endParaRPr b="0" i="0" sz="1000" u="none" cap="none" strike="noStrike">
              <a:solidFill>
                <a:schemeClr val="dk1"/>
              </a:solidFill>
              <a:latin typeface="Calibri"/>
              <a:ea typeface="Calibri"/>
              <a:cs typeface="Calibri"/>
              <a:sym typeface="Calibri"/>
            </a:endParaRPr>
          </a:p>
        </p:txBody>
      </p:sp>
      <p:sp>
        <p:nvSpPr>
          <p:cNvPr id="550" name="Google Shape;550;p21"/>
          <p:cNvSpPr/>
          <p:nvPr/>
        </p:nvSpPr>
        <p:spPr>
          <a:xfrm>
            <a:off x="4754880" y="2560320"/>
            <a:ext cx="3931920" cy="2194560"/>
          </a:xfrm>
          <a:prstGeom prst="rect">
            <a:avLst/>
          </a:prstGeom>
          <a:solidFill>
            <a:srgbClr val="F4F6F8"/>
          </a:solidFill>
          <a:ln cap="flat" cmpd="sng" w="9525">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493776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Georgia"/>
              <a:buNone/>
            </a:pPr>
            <a:r>
              <a:rPr b="1" i="0" lang="en-US" sz="1100" u="none" cap="none" strike="noStrike">
                <a:solidFill>
                  <a:srgbClr val="27AE60"/>
                </a:solidFill>
                <a:latin typeface="Georgia"/>
                <a:ea typeface="Georgia"/>
                <a:cs typeface="Georgia"/>
                <a:sym typeface="Georgia"/>
              </a:rPr>
              <a:t>Metadata-Filter Boost</a:t>
            </a:r>
            <a:endParaRPr b="0" i="0" sz="1100" u="none" cap="none" strike="noStrike">
              <a:solidFill>
                <a:schemeClr val="dk1"/>
              </a:solidFill>
              <a:latin typeface="Calibri"/>
              <a:ea typeface="Calibri"/>
              <a:cs typeface="Calibri"/>
              <a:sym typeface="Calibri"/>
            </a:endParaRPr>
          </a:p>
        </p:txBody>
      </p:sp>
      <p:sp>
        <p:nvSpPr>
          <p:cNvPr id="552" name="Google Shape;552;p21"/>
          <p:cNvSpPr/>
          <p:nvPr/>
        </p:nvSpPr>
        <p:spPr>
          <a:xfrm>
            <a:off x="4937760" y="3017520"/>
            <a:ext cx="347472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Ohne Filter (alle Closets):     60,9%</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Wing-Filter:                  73,1%  (+12%)</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Wing + Hall:                  84,8%  (+24%)</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 Wing + Hall + Room:           94,8%  (+34%)</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Der Filter reduziert den Suchraum</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VOR der Vektorsuche → weniger</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000"/>
              <a:buFont typeface="Consolas"/>
              <a:buNone/>
            </a:pPr>
            <a:r>
              <a:rPr b="0" i="0" lang="en-US" sz="1000" u="none" cap="none" strike="noStrike">
                <a:solidFill>
                  <a:srgbClr val="566573"/>
                </a:solidFill>
                <a:latin typeface="Consolas"/>
                <a:ea typeface="Consolas"/>
                <a:cs typeface="Consolas"/>
                <a:sym typeface="Consolas"/>
              </a:rPr>
              <a:t>irrelevante Ergebnisse, höherer Recall.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7" name="Shape 557"/>
        <p:cNvGrpSpPr/>
        <p:nvPr/>
      </p:nvGrpSpPr>
      <p:grpSpPr>
        <a:xfrm>
          <a:off x="0" y="0"/>
          <a:ext cx="0" cy="0"/>
          <a:chOff x="0" y="0"/>
          <a:chExt cx="0" cy="0"/>
        </a:xfrm>
      </p:grpSpPr>
      <p:sp>
        <p:nvSpPr>
          <p:cNvPr id="558" name="Google Shape;558;p22"/>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2"/>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560" name="Google Shape;560;p22"/>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AAAK-Kompression</a:t>
            </a:r>
            <a:endParaRPr b="0" i="0" sz="2800" u="none" cap="none" strike="noStrike">
              <a:solidFill>
                <a:schemeClr val="dk1"/>
              </a:solidFill>
              <a:latin typeface="Calibri"/>
              <a:ea typeface="Calibri"/>
              <a:cs typeface="Calibri"/>
              <a:sym typeface="Calibri"/>
            </a:endParaRPr>
          </a:p>
        </p:txBody>
      </p:sp>
      <p:sp>
        <p:nvSpPr>
          <p:cNvPr id="561" name="Google Shape;561;p22"/>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Experimentelle Token-Einsparung</a:t>
            </a:r>
            <a:endParaRPr b="0" i="0" sz="1200" u="none" cap="none" strike="noStrike">
              <a:solidFill>
                <a:schemeClr val="dk1"/>
              </a:solidFill>
              <a:latin typeface="Calibri"/>
              <a:ea typeface="Calibri"/>
              <a:cs typeface="Calibri"/>
              <a:sym typeface="Calibri"/>
            </a:endParaRPr>
          </a:p>
        </p:txBody>
      </p:sp>
      <p:sp>
        <p:nvSpPr>
          <p:cNvPr id="562" name="Google Shape;562;p22"/>
          <p:cNvSpPr/>
          <p:nvPr/>
        </p:nvSpPr>
        <p:spPr>
          <a:xfrm>
            <a:off x="457200" y="1097280"/>
            <a:ext cx="3931920" cy="1828800"/>
          </a:xfrm>
          <a:prstGeom prst="rect">
            <a:avLst/>
          </a:prstGeom>
          <a:solidFill>
            <a:srgbClr val="F4F6F8"/>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2"/>
          <p:cNvSpPr/>
          <p:nvPr/>
        </p:nvSpPr>
        <p:spPr>
          <a:xfrm>
            <a:off x="640080" y="1188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200"/>
              <a:buFont typeface="Georgia"/>
              <a:buNone/>
            </a:pPr>
            <a:r>
              <a:rPr b="1" i="0" lang="en-US" sz="1200" u="none" cap="none" strike="noStrike">
                <a:solidFill>
                  <a:srgbClr val="1A5276"/>
                </a:solidFill>
                <a:latin typeface="Georgia"/>
                <a:ea typeface="Georgia"/>
                <a:cs typeface="Georgia"/>
                <a:sym typeface="Georgia"/>
              </a:rPr>
              <a:t>Vorher (Englisch)</a:t>
            </a:r>
            <a:endParaRPr b="0" i="0" sz="1200" u="none" cap="none" strike="noStrike">
              <a:solidFill>
                <a:schemeClr val="dk1"/>
              </a:solidFill>
              <a:latin typeface="Calibri"/>
              <a:ea typeface="Calibri"/>
              <a:cs typeface="Calibri"/>
              <a:sym typeface="Calibri"/>
            </a:endParaRPr>
          </a:p>
        </p:txBody>
      </p:sp>
      <p:sp>
        <p:nvSpPr>
          <p:cNvPr id="564" name="Google Shape;564;p22"/>
          <p:cNvSpPr/>
          <p:nvPr/>
        </p:nvSpPr>
        <p:spPr>
          <a:xfrm>
            <a:off x="640080" y="150876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Kai debugged the OAuth token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refresh bug in the Driftwood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authentication migration project.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The team decided to use Clerk</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instead of Auth0.</a:t>
            </a:r>
            <a:endParaRPr b="0" i="0" sz="1000" u="none" cap="none" strike="noStrike">
              <a:solidFill>
                <a:schemeClr val="dk1"/>
              </a:solidFill>
              <a:latin typeface="Calibri"/>
              <a:ea typeface="Calibri"/>
              <a:cs typeface="Calibri"/>
              <a:sym typeface="Calibri"/>
            </a:endParaRPr>
          </a:p>
        </p:txBody>
      </p:sp>
      <p:sp>
        <p:nvSpPr>
          <p:cNvPr id="565" name="Google Shape;565;p22"/>
          <p:cNvSpPr/>
          <p:nvPr/>
        </p:nvSpPr>
        <p:spPr>
          <a:xfrm>
            <a:off x="4754880" y="1097280"/>
            <a:ext cx="3931920" cy="1828800"/>
          </a:xfrm>
          <a:prstGeom prst="rect">
            <a:avLst/>
          </a:prstGeom>
          <a:solidFill>
            <a:srgbClr val="F4F6F8"/>
          </a:solidFill>
          <a:ln cap="flat" cmpd="sng" w="9525">
            <a:solidFill>
              <a:srgbClr val="7D3C9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2"/>
          <p:cNvSpPr/>
          <p:nvPr/>
        </p:nvSpPr>
        <p:spPr>
          <a:xfrm>
            <a:off x="4937760" y="1188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200"/>
              <a:buFont typeface="Georgia"/>
              <a:buNone/>
            </a:pPr>
            <a:r>
              <a:rPr b="1" i="0" lang="en-US" sz="1200" u="none" cap="none" strike="noStrike">
                <a:solidFill>
                  <a:srgbClr val="7D3C98"/>
                </a:solidFill>
                <a:latin typeface="Georgia"/>
                <a:ea typeface="Georgia"/>
                <a:cs typeface="Georgia"/>
                <a:sym typeface="Georgia"/>
              </a:rPr>
              <a:t>Nachher (AAAK)</a:t>
            </a:r>
            <a:endParaRPr b="0" i="0" sz="1200" u="none" cap="none" strike="noStrike">
              <a:solidFill>
                <a:schemeClr val="dk1"/>
              </a:solidFill>
              <a:latin typeface="Calibri"/>
              <a:ea typeface="Calibri"/>
              <a:cs typeface="Calibri"/>
              <a:sym typeface="Calibri"/>
            </a:endParaRPr>
          </a:p>
        </p:txBody>
      </p:sp>
      <p:sp>
        <p:nvSpPr>
          <p:cNvPr id="567" name="Google Shape;567;p22"/>
          <p:cNvSpPr/>
          <p:nvPr/>
        </p:nvSpPr>
        <p:spPr>
          <a:xfrm>
            <a:off x="4937760" y="150876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K:dbg OAuth tok-refresh bug</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DW:auth-mig. TM:decided Clerk</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&gt;Auth0.</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Entitäten: K=Kai, DW=Driftwood,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onsolas"/>
              <a:buNone/>
            </a:pPr>
            <a:r>
              <a:rPr b="0" i="0" lang="en-US" sz="1000" u="none" cap="none" strike="noStrike">
                <a:solidFill>
                  <a:srgbClr val="1C2833"/>
                </a:solidFill>
                <a:latin typeface="Consolas"/>
                <a:ea typeface="Consolas"/>
                <a:cs typeface="Consolas"/>
                <a:sym typeface="Consolas"/>
              </a:rPr>
              <a:t>TM=Team</a:t>
            </a:r>
            <a:endParaRPr b="0" i="0" sz="1000" u="none" cap="none" strike="noStrike">
              <a:solidFill>
                <a:schemeClr val="dk1"/>
              </a:solidFill>
              <a:latin typeface="Calibri"/>
              <a:ea typeface="Calibri"/>
              <a:cs typeface="Calibri"/>
              <a:sym typeface="Calibri"/>
            </a:endParaRPr>
          </a:p>
        </p:txBody>
      </p:sp>
      <p:sp>
        <p:nvSpPr>
          <p:cNvPr id="568" name="Google Shape;568;p22"/>
          <p:cNvSpPr/>
          <p:nvPr/>
        </p:nvSpPr>
        <p:spPr>
          <a:xfrm>
            <a:off x="457200" y="3200400"/>
            <a:ext cx="8229600" cy="1645920"/>
          </a:xfrm>
          <a:prstGeom prst="rect">
            <a:avLst/>
          </a:prstGeom>
          <a:solidFill>
            <a:srgbClr val="F4F6F8"/>
          </a:solidFill>
          <a:ln cap="flat" cmpd="sng" w="9525">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9" name="Google Shape;569;p22"/>
          <p:cNvPicPr preferRelativeResize="0"/>
          <p:nvPr/>
        </p:nvPicPr>
        <p:blipFill rotWithShape="1">
          <a:blip r:embed="rId3">
            <a:alphaModFix/>
          </a:blip>
          <a:srcRect b="0" l="0" r="0" t="0"/>
          <a:stretch/>
        </p:blipFill>
        <p:spPr>
          <a:xfrm>
            <a:off x="640080" y="3291840"/>
            <a:ext cx="320040" cy="320040"/>
          </a:xfrm>
          <a:prstGeom prst="rect">
            <a:avLst/>
          </a:prstGeom>
          <a:noFill/>
          <a:ln>
            <a:noFill/>
          </a:ln>
        </p:spPr>
      </p:pic>
      <p:sp>
        <p:nvSpPr>
          <p:cNvPr id="570" name="Google Shape;570;p22"/>
          <p:cNvSpPr/>
          <p:nvPr/>
        </p:nvSpPr>
        <p:spPr>
          <a:xfrm>
            <a:off x="1051554" y="3291850"/>
            <a:ext cx="2262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Georgia"/>
              <a:buNone/>
            </a:pPr>
            <a:r>
              <a:rPr b="1" i="0" lang="en-US" sz="1400" u="none" cap="none" strike="noStrike">
                <a:solidFill>
                  <a:srgbClr val="E74C3C"/>
                </a:solidFill>
                <a:latin typeface="Georgia"/>
                <a:ea typeface="Georgia"/>
                <a:cs typeface="Georgia"/>
                <a:sym typeface="Georgia"/>
              </a:rPr>
              <a:t>Die Probleme mit AAAK</a:t>
            </a:r>
            <a:endParaRPr b="0" i="0" sz="1400" u="none" cap="none" strike="noStrike">
              <a:solidFill>
                <a:schemeClr val="dk1"/>
              </a:solidFill>
              <a:latin typeface="Calibri"/>
              <a:ea typeface="Calibri"/>
              <a:cs typeface="Calibri"/>
              <a:sym typeface="Calibri"/>
            </a:endParaRPr>
          </a:p>
        </p:txBody>
      </p:sp>
      <p:sp>
        <p:nvSpPr>
          <p:cNvPr id="571" name="Google Shape;571;p22"/>
          <p:cNvSpPr/>
          <p:nvPr/>
        </p:nvSpPr>
        <p:spPr>
          <a:xfrm>
            <a:off x="640080" y="374904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1. Verlustbehaftet (lossy), nicht lossless: AAAK-Mode regrediert auf 84,2% R@5 vs. 96,6% im Raw-Mode.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2. Token-Zählung war falsch: len(text)//3 statt echtem Tokenizer. AAAK-Output war tatsächlich LÄNGER (73 vs. 66 Tokens).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3. Decode = simples String-Splitting, keine echte Rekonstruktion.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4. Nützlich nur bei vielen wiederkehrenden Entitäten (großer Maßstab), nicht bei kurzen Texten.</a:t>
            </a:r>
            <a:endParaRPr b="0" i="0" sz="1000" u="none" cap="none" strike="noStrike">
              <a:solidFill>
                <a:schemeClr val="dk1"/>
              </a:solidFill>
              <a:latin typeface="Calibri"/>
              <a:ea typeface="Calibri"/>
              <a:cs typeface="Calibri"/>
              <a:sym typeface="Calibri"/>
            </a:endParaRPr>
          </a:p>
        </p:txBody>
      </p:sp>
      <p:sp>
        <p:nvSpPr>
          <p:cNvPr id="572" name="Google Shape;572;p22"/>
          <p:cNvSpPr txBox="1"/>
          <p:nvPr/>
        </p:nvSpPr>
        <p:spPr>
          <a:xfrm>
            <a:off x="3222400" y="3277767"/>
            <a:ext cx="4096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solidFill>
                  <a:schemeClr val="dk1"/>
                </a:solidFill>
              </a:rPr>
              <a:t>= </a:t>
            </a:r>
            <a:r>
              <a:rPr b="1" lang="en-US" sz="1100">
                <a:solidFill>
                  <a:schemeClr val="dk1"/>
                </a:solidFill>
              </a:rPr>
              <a:t>Compressed Symbolic Memory Language</a:t>
            </a:r>
            <a:r>
              <a:rPr lang="en-US" sz="1100">
                <a:solidFill>
                  <a:schemeClr val="dk1"/>
                </a:solidFill>
              </a:rPr>
              <a:t> </a:t>
            </a:r>
            <a:endParaRPr/>
          </a:p>
        </p:txBody>
      </p:sp>
      <p:sp>
        <p:nvSpPr>
          <p:cNvPr id="573" name="Google Shape;573;p22"/>
          <p:cNvSpPr txBox="1"/>
          <p:nvPr/>
        </p:nvSpPr>
        <p:spPr>
          <a:xfrm>
            <a:off x="2438400" y="16250"/>
            <a:ext cx="377100" cy="6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23"/>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3"/>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581" name="Google Shape;581;p23"/>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Der temporale Knowledge Graph</a:t>
            </a:r>
            <a:endParaRPr b="0" i="0" sz="2800" u="none" cap="none" strike="noStrike">
              <a:solidFill>
                <a:schemeClr val="dk1"/>
              </a:solidFill>
              <a:latin typeface="Calibri"/>
              <a:ea typeface="Calibri"/>
              <a:cs typeface="Calibri"/>
              <a:sym typeface="Calibri"/>
            </a:endParaRPr>
          </a:p>
        </p:txBody>
      </p:sp>
      <p:sp>
        <p:nvSpPr>
          <p:cNvPr id="582" name="Google Shape;582;p23"/>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SQLite-basierte Faktenverwaltung</a:t>
            </a:r>
            <a:endParaRPr b="0" i="0" sz="1200" u="none" cap="none" strike="noStrike">
              <a:solidFill>
                <a:schemeClr val="dk1"/>
              </a:solidFill>
              <a:latin typeface="Calibri"/>
              <a:ea typeface="Calibri"/>
              <a:cs typeface="Calibri"/>
              <a:sym typeface="Calibri"/>
            </a:endParaRPr>
          </a:p>
        </p:txBody>
      </p:sp>
      <p:sp>
        <p:nvSpPr>
          <p:cNvPr id="583" name="Google Shape;583;p23"/>
          <p:cNvSpPr/>
          <p:nvPr/>
        </p:nvSpPr>
        <p:spPr>
          <a:xfrm>
            <a:off x="457200" y="1097280"/>
            <a:ext cx="8229600" cy="1645920"/>
          </a:xfrm>
          <a:prstGeom prst="rect">
            <a:avLst/>
          </a:prstGeom>
          <a:solidFill>
            <a:srgbClr val="F4F6F8"/>
          </a:solidFill>
          <a:ln cap="flat" cmpd="sng" w="9525">
            <a:solidFill>
              <a:srgbClr val="0E8C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3"/>
          <p:cNvSpPr/>
          <p:nvPr/>
        </p:nvSpPr>
        <p:spPr>
          <a:xfrm>
            <a:off x="640080" y="118872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200"/>
              <a:buFont typeface="Georgia"/>
              <a:buNone/>
            </a:pPr>
            <a:r>
              <a:rPr b="1" i="0" lang="en-US" sz="1200" u="none" cap="none" strike="noStrike">
                <a:solidFill>
                  <a:srgbClr val="0E8C6B"/>
                </a:solidFill>
                <a:latin typeface="Georgia"/>
                <a:ea typeface="Georgia"/>
                <a:cs typeface="Georgia"/>
                <a:sym typeface="Georgia"/>
              </a:rPr>
              <a:t>Temporale Tripel: (Subjekt, Prädikat, Objekt, valid_from, valid_to)</a:t>
            </a:r>
            <a:endParaRPr b="0" i="0" sz="1200" u="none" cap="none" strike="noStrike">
              <a:solidFill>
                <a:schemeClr val="dk1"/>
              </a:solidFill>
              <a:latin typeface="Calibri"/>
              <a:ea typeface="Calibri"/>
              <a:cs typeface="Calibri"/>
              <a:sym typeface="Calibri"/>
            </a:endParaRPr>
          </a:p>
        </p:txBody>
      </p:sp>
      <p:sp>
        <p:nvSpPr>
          <p:cNvPr id="585" name="Google Shape;585;p23"/>
          <p:cNvSpPr/>
          <p:nvPr/>
        </p:nvSpPr>
        <p:spPr>
          <a:xfrm>
            <a:off x="64008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Subjekt</a:t>
            </a:r>
            <a:endParaRPr b="0" i="0" sz="900" u="none" cap="none" strike="noStrike">
              <a:solidFill>
                <a:schemeClr val="dk1"/>
              </a:solidFill>
              <a:latin typeface="Calibri"/>
              <a:ea typeface="Calibri"/>
              <a:cs typeface="Calibri"/>
              <a:sym typeface="Calibri"/>
            </a:endParaRPr>
          </a:p>
        </p:txBody>
      </p:sp>
      <p:sp>
        <p:nvSpPr>
          <p:cNvPr id="586" name="Google Shape;586;p23"/>
          <p:cNvSpPr/>
          <p:nvPr/>
        </p:nvSpPr>
        <p:spPr>
          <a:xfrm>
            <a:off x="196596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Prädikat</a:t>
            </a:r>
            <a:endParaRPr b="0" i="0" sz="900" u="none" cap="none" strike="noStrike">
              <a:solidFill>
                <a:schemeClr val="dk1"/>
              </a:solidFill>
              <a:latin typeface="Calibri"/>
              <a:ea typeface="Calibri"/>
              <a:cs typeface="Calibri"/>
              <a:sym typeface="Calibri"/>
            </a:endParaRPr>
          </a:p>
        </p:txBody>
      </p:sp>
      <p:sp>
        <p:nvSpPr>
          <p:cNvPr id="587" name="Google Shape;587;p23"/>
          <p:cNvSpPr/>
          <p:nvPr/>
        </p:nvSpPr>
        <p:spPr>
          <a:xfrm>
            <a:off x="329184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Objekt</a:t>
            </a:r>
            <a:endParaRPr b="0" i="0" sz="900" u="none" cap="none" strike="noStrike">
              <a:solidFill>
                <a:schemeClr val="dk1"/>
              </a:solidFill>
              <a:latin typeface="Calibri"/>
              <a:ea typeface="Calibri"/>
              <a:cs typeface="Calibri"/>
              <a:sym typeface="Calibri"/>
            </a:endParaRPr>
          </a:p>
        </p:txBody>
      </p:sp>
      <p:sp>
        <p:nvSpPr>
          <p:cNvPr id="588" name="Google Shape;588;p23"/>
          <p:cNvSpPr/>
          <p:nvPr/>
        </p:nvSpPr>
        <p:spPr>
          <a:xfrm>
            <a:off x="461772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Von</a:t>
            </a:r>
            <a:endParaRPr b="0" i="0" sz="900" u="none" cap="none" strike="noStrike">
              <a:solidFill>
                <a:schemeClr val="dk1"/>
              </a:solidFill>
              <a:latin typeface="Calibri"/>
              <a:ea typeface="Calibri"/>
              <a:cs typeface="Calibri"/>
              <a:sym typeface="Calibri"/>
            </a:endParaRPr>
          </a:p>
        </p:txBody>
      </p:sp>
      <p:sp>
        <p:nvSpPr>
          <p:cNvPr id="589" name="Google Shape;589;p23"/>
          <p:cNvSpPr/>
          <p:nvPr/>
        </p:nvSpPr>
        <p:spPr>
          <a:xfrm>
            <a:off x="594360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Bis</a:t>
            </a:r>
            <a:endParaRPr b="0" i="0" sz="900" u="none" cap="none" strike="noStrike">
              <a:solidFill>
                <a:schemeClr val="dk1"/>
              </a:solidFill>
              <a:latin typeface="Calibri"/>
              <a:ea typeface="Calibri"/>
              <a:cs typeface="Calibri"/>
              <a:sym typeface="Calibri"/>
            </a:endParaRPr>
          </a:p>
        </p:txBody>
      </p:sp>
      <p:sp>
        <p:nvSpPr>
          <p:cNvPr id="590" name="Google Shape;590;p23"/>
          <p:cNvSpPr/>
          <p:nvPr/>
        </p:nvSpPr>
        <p:spPr>
          <a:xfrm>
            <a:off x="7269480" y="1554480"/>
            <a:ext cx="1280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900"/>
              <a:buFont typeface="Consolas"/>
              <a:buNone/>
            </a:pPr>
            <a:r>
              <a:rPr b="1" i="0" lang="en-US" sz="900" u="none" cap="none" strike="noStrike">
                <a:solidFill>
                  <a:srgbClr val="85929E"/>
                </a:solidFill>
                <a:latin typeface="Consolas"/>
                <a:ea typeface="Consolas"/>
                <a:cs typeface="Consolas"/>
                <a:sym typeface="Consolas"/>
              </a:rPr>
              <a:t>Status</a:t>
            </a:r>
            <a:endParaRPr b="0" i="0" sz="900" u="none" cap="none" strike="noStrike">
              <a:solidFill>
                <a:schemeClr val="dk1"/>
              </a:solidFill>
              <a:latin typeface="Calibri"/>
              <a:ea typeface="Calibri"/>
              <a:cs typeface="Calibri"/>
              <a:sym typeface="Calibri"/>
            </a:endParaRPr>
          </a:p>
        </p:txBody>
      </p:sp>
      <p:sp>
        <p:nvSpPr>
          <p:cNvPr id="591" name="Google Shape;591;p23"/>
          <p:cNvSpPr/>
          <p:nvPr/>
        </p:nvSpPr>
        <p:spPr>
          <a:xfrm>
            <a:off x="64008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a:t>
            </a:r>
            <a:endParaRPr b="0" i="0" sz="900" u="none" cap="none" strike="noStrike">
              <a:solidFill>
                <a:schemeClr val="dk1"/>
              </a:solidFill>
              <a:latin typeface="Calibri"/>
              <a:ea typeface="Calibri"/>
              <a:cs typeface="Calibri"/>
              <a:sym typeface="Calibri"/>
            </a:endParaRPr>
          </a:p>
        </p:txBody>
      </p:sp>
      <p:sp>
        <p:nvSpPr>
          <p:cNvPr id="592" name="Google Shape;592;p23"/>
          <p:cNvSpPr/>
          <p:nvPr/>
        </p:nvSpPr>
        <p:spPr>
          <a:xfrm>
            <a:off x="196596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arbeitet_an</a:t>
            </a:r>
            <a:endParaRPr b="0" i="0" sz="900" u="none" cap="none" strike="noStrike">
              <a:solidFill>
                <a:schemeClr val="dk1"/>
              </a:solidFill>
              <a:latin typeface="Calibri"/>
              <a:ea typeface="Calibri"/>
              <a:cs typeface="Calibri"/>
              <a:sym typeface="Calibri"/>
            </a:endParaRPr>
          </a:p>
        </p:txBody>
      </p:sp>
      <p:sp>
        <p:nvSpPr>
          <p:cNvPr id="593" name="Google Shape;593;p23"/>
          <p:cNvSpPr/>
          <p:nvPr/>
        </p:nvSpPr>
        <p:spPr>
          <a:xfrm>
            <a:off x="329184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Orion</a:t>
            </a:r>
            <a:endParaRPr b="0" i="0" sz="900" u="none" cap="none" strike="noStrike">
              <a:solidFill>
                <a:schemeClr val="dk1"/>
              </a:solidFill>
              <a:latin typeface="Calibri"/>
              <a:ea typeface="Calibri"/>
              <a:cs typeface="Calibri"/>
              <a:sym typeface="Calibri"/>
            </a:endParaRPr>
          </a:p>
        </p:txBody>
      </p:sp>
      <p:sp>
        <p:nvSpPr>
          <p:cNvPr id="594" name="Google Shape;594;p23"/>
          <p:cNvSpPr/>
          <p:nvPr/>
        </p:nvSpPr>
        <p:spPr>
          <a:xfrm>
            <a:off x="461772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2025-06</a:t>
            </a:r>
            <a:endParaRPr b="0" i="0" sz="900" u="none" cap="none" strike="noStrike">
              <a:solidFill>
                <a:schemeClr val="dk1"/>
              </a:solidFill>
              <a:latin typeface="Calibri"/>
              <a:ea typeface="Calibri"/>
              <a:cs typeface="Calibri"/>
              <a:sym typeface="Calibri"/>
            </a:endParaRPr>
          </a:p>
        </p:txBody>
      </p:sp>
      <p:sp>
        <p:nvSpPr>
          <p:cNvPr id="595" name="Google Shape;595;p23"/>
          <p:cNvSpPr/>
          <p:nvPr/>
        </p:nvSpPr>
        <p:spPr>
          <a:xfrm>
            <a:off x="594360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2026-03</a:t>
            </a:r>
            <a:endParaRPr b="0" i="0" sz="900" u="none" cap="none" strike="noStrike">
              <a:solidFill>
                <a:schemeClr val="dk1"/>
              </a:solidFill>
              <a:latin typeface="Calibri"/>
              <a:ea typeface="Calibri"/>
              <a:cs typeface="Calibri"/>
              <a:sym typeface="Calibri"/>
            </a:endParaRPr>
          </a:p>
        </p:txBody>
      </p:sp>
      <p:sp>
        <p:nvSpPr>
          <p:cNvPr id="596" name="Google Shape;596;p23"/>
          <p:cNvSpPr/>
          <p:nvPr/>
        </p:nvSpPr>
        <p:spPr>
          <a:xfrm>
            <a:off x="7269480" y="18288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900"/>
              <a:buFont typeface="Consolas"/>
              <a:buNone/>
            </a:pPr>
            <a:r>
              <a:rPr b="0" i="0" lang="en-US" sz="900" u="none" cap="none" strike="noStrike">
                <a:solidFill>
                  <a:srgbClr val="E74C3C"/>
                </a:solidFill>
                <a:latin typeface="Consolas"/>
                <a:ea typeface="Consolas"/>
                <a:cs typeface="Consolas"/>
                <a:sym typeface="Consolas"/>
              </a:rPr>
              <a:t>Abgelaufen</a:t>
            </a:r>
            <a:endParaRPr b="0" i="0" sz="900" u="none" cap="none" strike="noStrike">
              <a:solidFill>
                <a:schemeClr val="dk1"/>
              </a:solidFill>
              <a:latin typeface="Calibri"/>
              <a:ea typeface="Calibri"/>
              <a:cs typeface="Calibri"/>
              <a:sym typeface="Calibri"/>
            </a:endParaRPr>
          </a:p>
        </p:txBody>
      </p:sp>
      <p:sp>
        <p:nvSpPr>
          <p:cNvPr id="597" name="Google Shape;597;p23"/>
          <p:cNvSpPr/>
          <p:nvPr/>
        </p:nvSpPr>
        <p:spPr>
          <a:xfrm>
            <a:off x="64008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Kai</a:t>
            </a:r>
            <a:endParaRPr b="0" i="0" sz="900" u="none" cap="none" strike="noStrike">
              <a:solidFill>
                <a:schemeClr val="dk1"/>
              </a:solidFill>
              <a:latin typeface="Calibri"/>
              <a:ea typeface="Calibri"/>
              <a:cs typeface="Calibri"/>
              <a:sym typeface="Calibri"/>
            </a:endParaRPr>
          </a:p>
        </p:txBody>
      </p:sp>
      <p:sp>
        <p:nvSpPr>
          <p:cNvPr id="598" name="Google Shape;598;p23"/>
          <p:cNvSpPr/>
          <p:nvPr/>
        </p:nvSpPr>
        <p:spPr>
          <a:xfrm>
            <a:off x="196596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arbeitet_an</a:t>
            </a:r>
            <a:endParaRPr b="0" i="0" sz="900" u="none" cap="none" strike="noStrike">
              <a:solidFill>
                <a:schemeClr val="dk1"/>
              </a:solidFill>
              <a:latin typeface="Calibri"/>
              <a:ea typeface="Calibri"/>
              <a:cs typeface="Calibri"/>
              <a:sym typeface="Calibri"/>
            </a:endParaRPr>
          </a:p>
        </p:txBody>
      </p:sp>
      <p:sp>
        <p:nvSpPr>
          <p:cNvPr id="599" name="Google Shape;599;p23"/>
          <p:cNvSpPr/>
          <p:nvPr/>
        </p:nvSpPr>
        <p:spPr>
          <a:xfrm>
            <a:off x="329184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Nebula</a:t>
            </a:r>
            <a:endParaRPr b="0" i="0" sz="900" u="none" cap="none" strike="noStrike">
              <a:solidFill>
                <a:schemeClr val="dk1"/>
              </a:solidFill>
              <a:latin typeface="Calibri"/>
              <a:ea typeface="Calibri"/>
              <a:cs typeface="Calibri"/>
              <a:sym typeface="Calibri"/>
            </a:endParaRPr>
          </a:p>
        </p:txBody>
      </p:sp>
      <p:sp>
        <p:nvSpPr>
          <p:cNvPr id="600" name="Google Shape;600;p23"/>
          <p:cNvSpPr/>
          <p:nvPr/>
        </p:nvSpPr>
        <p:spPr>
          <a:xfrm>
            <a:off x="461772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2026-04</a:t>
            </a:r>
            <a:endParaRPr b="0" i="0" sz="900" u="none" cap="none" strike="noStrike">
              <a:solidFill>
                <a:schemeClr val="dk1"/>
              </a:solidFill>
              <a:latin typeface="Calibri"/>
              <a:ea typeface="Calibri"/>
              <a:cs typeface="Calibri"/>
              <a:sym typeface="Calibri"/>
            </a:endParaRPr>
          </a:p>
        </p:txBody>
      </p:sp>
      <p:sp>
        <p:nvSpPr>
          <p:cNvPr id="601" name="Google Shape;601;p23"/>
          <p:cNvSpPr/>
          <p:nvPr/>
        </p:nvSpPr>
        <p:spPr>
          <a:xfrm>
            <a:off x="594360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NULL</a:t>
            </a:r>
            <a:endParaRPr b="0" i="0" sz="900" u="none" cap="none" strike="noStrike">
              <a:solidFill>
                <a:schemeClr val="dk1"/>
              </a:solidFill>
              <a:latin typeface="Calibri"/>
              <a:ea typeface="Calibri"/>
              <a:cs typeface="Calibri"/>
              <a:sym typeface="Calibri"/>
            </a:endParaRPr>
          </a:p>
        </p:txBody>
      </p:sp>
      <p:sp>
        <p:nvSpPr>
          <p:cNvPr id="602" name="Google Shape;602;p23"/>
          <p:cNvSpPr/>
          <p:nvPr/>
        </p:nvSpPr>
        <p:spPr>
          <a:xfrm>
            <a:off x="7269480" y="20574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Aktiv</a:t>
            </a:r>
            <a:endParaRPr b="0" i="0" sz="900" u="none" cap="none" strike="noStrike">
              <a:solidFill>
                <a:schemeClr val="dk1"/>
              </a:solidFill>
              <a:latin typeface="Calibri"/>
              <a:ea typeface="Calibri"/>
              <a:cs typeface="Calibri"/>
              <a:sym typeface="Calibri"/>
            </a:endParaRPr>
          </a:p>
        </p:txBody>
      </p:sp>
      <p:sp>
        <p:nvSpPr>
          <p:cNvPr id="603" name="Google Shape;603;p23"/>
          <p:cNvSpPr/>
          <p:nvPr/>
        </p:nvSpPr>
        <p:spPr>
          <a:xfrm>
            <a:off x="64008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Team</a:t>
            </a:r>
            <a:endParaRPr b="0" i="0" sz="900" u="none" cap="none" strike="noStrike">
              <a:solidFill>
                <a:schemeClr val="dk1"/>
              </a:solidFill>
              <a:latin typeface="Calibri"/>
              <a:ea typeface="Calibri"/>
              <a:cs typeface="Calibri"/>
              <a:sym typeface="Calibri"/>
            </a:endParaRPr>
          </a:p>
        </p:txBody>
      </p:sp>
      <p:sp>
        <p:nvSpPr>
          <p:cNvPr id="604" name="Google Shape;604;p23"/>
          <p:cNvSpPr/>
          <p:nvPr/>
        </p:nvSpPr>
        <p:spPr>
          <a:xfrm>
            <a:off x="196596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nutzt</a:t>
            </a:r>
            <a:endParaRPr b="0" i="0" sz="900" u="none" cap="none" strike="noStrike">
              <a:solidFill>
                <a:schemeClr val="dk1"/>
              </a:solidFill>
              <a:latin typeface="Calibri"/>
              <a:ea typeface="Calibri"/>
              <a:cs typeface="Calibri"/>
              <a:sym typeface="Calibri"/>
            </a:endParaRPr>
          </a:p>
        </p:txBody>
      </p:sp>
      <p:sp>
        <p:nvSpPr>
          <p:cNvPr id="605" name="Google Shape;605;p23"/>
          <p:cNvSpPr/>
          <p:nvPr/>
        </p:nvSpPr>
        <p:spPr>
          <a:xfrm>
            <a:off x="329184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Postgres</a:t>
            </a:r>
            <a:endParaRPr b="0" i="0" sz="900" u="none" cap="none" strike="noStrike">
              <a:solidFill>
                <a:schemeClr val="dk1"/>
              </a:solidFill>
              <a:latin typeface="Calibri"/>
              <a:ea typeface="Calibri"/>
              <a:cs typeface="Calibri"/>
              <a:sym typeface="Calibri"/>
            </a:endParaRPr>
          </a:p>
        </p:txBody>
      </p:sp>
      <p:sp>
        <p:nvSpPr>
          <p:cNvPr id="606" name="Google Shape;606;p23"/>
          <p:cNvSpPr/>
          <p:nvPr/>
        </p:nvSpPr>
        <p:spPr>
          <a:xfrm>
            <a:off x="461772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2025-01</a:t>
            </a:r>
            <a:endParaRPr b="0" i="0" sz="900" u="none" cap="none" strike="noStrike">
              <a:solidFill>
                <a:schemeClr val="dk1"/>
              </a:solidFill>
              <a:latin typeface="Calibri"/>
              <a:ea typeface="Calibri"/>
              <a:cs typeface="Calibri"/>
              <a:sym typeface="Calibri"/>
            </a:endParaRPr>
          </a:p>
        </p:txBody>
      </p:sp>
      <p:sp>
        <p:nvSpPr>
          <p:cNvPr id="607" name="Google Shape;607;p23"/>
          <p:cNvSpPr/>
          <p:nvPr/>
        </p:nvSpPr>
        <p:spPr>
          <a:xfrm>
            <a:off x="594360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NULL</a:t>
            </a:r>
            <a:endParaRPr b="0" i="0" sz="900" u="none" cap="none" strike="noStrike">
              <a:solidFill>
                <a:schemeClr val="dk1"/>
              </a:solidFill>
              <a:latin typeface="Calibri"/>
              <a:ea typeface="Calibri"/>
              <a:cs typeface="Calibri"/>
              <a:sym typeface="Calibri"/>
            </a:endParaRPr>
          </a:p>
        </p:txBody>
      </p:sp>
      <p:sp>
        <p:nvSpPr>
          <p:cNvPr id="608" name="Google Shape;608;p23"/>
          <p:cNvSpPr/>
          <p:nvPr/>
        </p:nvSpPr>
        <p:spPr>
          <a:xfrm>
            <a:off x="7269480" y="22860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Aktiv</a:t>
            </a:r>
            <a:endParaRPr b="0" i="0" sz="900" u="none" cap="none" strike="noStrike">
              <a:solidFill>
                <a:schemeClr val="dk1"/>
              </a:solidFill>
              <a:latin typeface="Calibri"/>
              <a:ea typeface="Calibri"/>
              <a:cs typeface="Calibri"/>
              <a:sym typeface="Calibri"/>
            </a:endParaRPr>
          </a:p>
        </p:txBody>
      </p:sp>
      <p:sp>
        <p:nvSpPr>
          <p:cNvPr id="609" name="Google Shape;609;p23"/>
          <p:cNvSpPr/>
          <p:nvPr/>
        </p:nvSpPr>
        <p:spPr>
          <a:xfrm>
            <a:off x="64008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Marc</a:t>
            </a:r>
            <a:endParaRPr b="0" i="0" sz="900" u="none" cap="none" strike="noStrike">
              <a:solidFill>
                <a:schemeClr val="dk1"/>
              </a:solidFill>
              <a:latin typeface="Calibri"/>
              <a:ea typeface="Calibri"/>
              <a:cs typeface="Calibri"/>
              <a:sym typeface="Calibri"/>
            </a:endParaRPr>
          </a:p>
        </p:txBody>
      </p:sp>
      <p:sp>
        <p:nvSpPr>
          <p:cNvPr id="610" name="Google Shape;610;p23"/>
          <p:cNvSpPr/>
          <p:nvPr/>
        </p:nvSpPr>
        <p:spPr>
          <a:xfrm>
            <a:off x="196596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bevorzugt</a:t>
            </a:r>
            <a:endParaRPr b="0" i="0" sz="900" u="none" cap="none" strike="noStrike">
              <a:solidFill>
                <a:schemeClr val="dk1"/>
              </a:solidFill>
              <a:latin typeface="Calibri"/>
              <a:ea typeface="Calibri"/>
              <a:cs typeface="Calibri"/>
              <a:sym typeface="Calibri"/>
            </a:endParaRPr>
          </a:p>
        </p:txBody>
      </p:sp>
      <p:sp>
        <p:nvSpPr>
          <p:cNvPr id="611" name="Google Shape;611;p23"/>
          <p:cNvSpPr/>
          <p:nvPr/>
        </p:nvSpPr>
        <p:spPr>
          <a:xfrm>
            <a:off x="329184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NoSQL</a:t>
            </a:r>
            <a:endParaRPr b="0" i="0" sz="900" u="none" cap="none" strike="noStrike">
              <a:solidFill>
                <a:schemeClr val="dk1"/>
              </a:solidFill>
              <a:latin typeface="Calibri"/>
              <a:ea typeface="Calibri"/>
              <a:cs typeface="Calibri"/>
              <a:sym typeface="Calibri"/>
            </a:endParaRPr>
          </a:p>
        </p:txBody>
      </p:sp>
      <p:sp>
        <p:nvSpPr>
          <p:cNvPr id="612" name="Google Shape;612;p23"/>
          <p:cNvSpPr/>
          <p:nvPr/>
        </p:nvSpPr>
        <p:spPr>
          <a:xfrm>
            <a:off x="461772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2025-01</a:t>
            </a:r>
            <a:endParaRPr b="0" i="0" sz="900" u="none" cap="none" strike="noStrike">
              <a:solidFill>
                <a:schemeClr val="dk1"/>
              </a:solidFill>
              <a:latin typeface="Calibri"/>
              <a:ea typeface="Calibri"/>
              <a:cs typeface="Calibri"/>
              <a:sym typeface="Calibri"/>
            </a:endParaRPr>
          </a:p>
        </p:txBody>
      </p:sp>
      <p:sp>
        <p:nvSpPr>
          <p:cNvPr id="613" name="Google Shape;613;p23"/>
          <p:cNvSpPr/>
          <p:nvPr/>
        </p:nvSpPr>
        <p:spPr>
          <a:xfrm>
            <a:off x="594360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900"/>
              <a:buFont typeface="Consolas"/>
              <a:buNone/>
            </a:pPr>
            <a:r>
              <a:rPr b="0" i="0" lang="en-US" sz="900" u="none" cap="none" strike="noStrike">
                <a:solidFill>
                  <a:srgbClr val="1C2833"/>
                </a:solidFill>
                <a:latin typeface="Consolas"/>
                <a:ea typeface="Consolas"/>
                <a:cs typeface="Consolas"/>
                <a:sym typeface="Consolas"/>
              </a:rPr>
              <a:t>NULL</a:t>
            </a:r>
            <a:endParaRPr b="0" i="0" sz="900" u="none" cap="none" strike="noStrike">
              <a:solidFill>
                <a:schemeClr val="dk1"/>
              </a:solidFill>
              <a:latin typeface="Calibri"/>
              <a:ea typeface="Calibri"/>
              <a:cs typeface="Calibri"/>
              <a:sym typeface="Calibri"/>
            </a:endParaRPr>
          </a:p>
        </p:txBody>
      </p:sp>
      <p:sp>
        <p:nvSpPr>
          <p:cNvPr id="614" name="Google Shape;614;p23"/>
          <p:cNvSpPr/>
          <p:nvPr/>
        </p:nvSpPr>
        <p:spPr>
          <a:xfrm>
            <a:off x="7269480" y="2514600"/>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Aktiv</a:t>
            </a:r>
            <a:endParaRPr b="0" i="0" sz="900" u="none" cap="none" strike="noStrike">
              <a:solidFill>
                <a:schemeClr val="dk1"/>
              </a:solidFill>
              <a:latin typeface="Calibri"/>
              <a:ea typeface="Calibri"/>
              <a:cs typeface="Calibri"/>
              <a:sym typeface="Calibri"/>
            </a:endParaRPr>
          </a:p>
        </p:txBody>
      </p:sp>
      <p:sp>
        <p:nvSpPr>
          <p:cNvPr id="615" name="Google Shape;615;p23"/>
          <p:cNvSpPr/>
          <p:nvPr/>
        </p:nvSpPr>
        <p:spPr>
          <a:xfrm>
            <a:off x="457200" y="3017520"/>
            <a:ext cx="3931920" cy="18288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3"/>
          <p:cNvSpPr/>
          <p:nvPr/>
        </p:nvSpPr>
        <p:spPr>
          <a:xfrm>
            <a:off x="64008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300"/>
              <a:buFont typeface="Georgia"/>
              <a:buNone/>
            </a:pPr>
            <a:r>
              <a:rPr b="1" i="0" lang="en-US" sz="1300" u="none" cap="none" strike="noStrike">
                <a:solidFill>
                  <a:srgbClr val="27AE60"/>
                </a:solidFill>
                <a:latin typeface="Georgia"/>
                <a:ea typeface="Georgia"/>
                <a:cs typeface="Georgia"/>
                <a:sym typeface="Georgia"/>
              </a:rPr>
              <a:t>Vorteile</a:t>
            </a:r>
            <a:endParaRPr b="0" i="0" sz="1300" u="none" cap="none" strike="noStrike">
              <a:solidFill>
                <a:schemeClr val="dk1"/>
              </a:solidFill>
              <a:latin typeface="Calibri"/>
              <a:ea typeface="Calibri"/>
              <a:cs typeface="Calibri"/>
              <a:sym typeface="Calibri"/>
            </a:endParaRPr>
          </a:p>
        </p:txBody>
      </p:sp>
      <p:sp>
        <p:nvSpPr>
          <p:cNvPr id="617" name="Google Shape;617;p23"/>
          <p:cNvSpPr/>
          <p:nvPr/>
        </p:nvSpPr>
        <p:spPr>
          <a:xfrm>
            <a:off x="640080" y="347472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Historische Abfragen möglich: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'Was war im Januar der Projektstatus?'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Fakten können ablaufen/invalidiert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werden ohne gelöscht zu werden.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Komplett lokal auf SQLite.</a:t>
            </a:r>
            <a:endParaRPr b="0" i="0" sz="1100" u="none" cap="none" strike="noStrike">
              <a:solidFill>
                <a:schemeClr val="dk1"/>
              </a:solidFill>
              <a:latin typeface="Calibri"/>
              <a:ea typeface="Calibri"/>
              <a:cs typeface="Calibri"/>
              <a:sym typeface="Calibri"/>
            </a:endParaRPr>
          </a:p>
        </p:txBody>
      </p:sp>
      <p:sp>
        <p:nvSpPr>
          <p:cNvPr id="618" name="Google Shape;618;p23"/>
          <p:cNvSpPr/>
          <p:nvPr/>
        </p:nvSpPr>
        <p:spPr>
          <a:xfrm>
            <a:off x="4754880" y="3017520"/>
            <a:ext cx="3931920" cy="18288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3"/>
          <p:cNvSpPr/>
          <p:nvPr/>
        </p:nvSpPr>
        <p:spPr>
          <a:xfrm>
            <a:off x="493776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3C98"/>
              </a:buClr>
              <a:buSzPts val="1300"/>
              <a:buFont typeface="Georgia"/>
              <a:buNone/>
            </a:pPr>
            <a:r>
              <a:rPr b="1" i="0" lang="en-US" sz="1300" u="none" cap="none" strike="noStrike">
                <a:solidFill>
                  <a:srgbClr val="7D3C98"/>
                </a:solidFill>
                <a:latin typeface="Georgia"/>
                <a:ea typeface="Georgia"/>
                <a:cs typeface="Georgia"/>
                <a:sym typeface="Georgia"/>
              </a:rPr>
              <a:t>Vergleich: Zeps Graphiti</a:t>
            </a:r>
            <a:endParaRPr b="0" i="0" sz="1300" u="none" cap="none" strike="noStrike">
              <a:solidFill>
                <a:schemeClr val="dk1"/>
              </a:solidFill>
              <a:latin typeface="Calibri"/>
              <a:ea typeface="Calibri"/>
              <a:cs typeface="Calibri"/>
              <a:sym typeface="Calibri"/>
            </a:endParaRPr>
          </a:p>
        </p:txBody>
      </p:sp>
      <p:sp>
        <p:nvSpPr>
          <p:cNvPr id="620" name="Google Shape;620;p23"/>
          <p:cNvSpPr/>
          <p:nvPr/>
        </p:nvSpPr>
        <p:spPr>
          <a:xfrm>
            <a:off x="4937760" y="347472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Zep nutzt Neo4j (Cloud, kostenpflichtig)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mit nativer Graph-Traversierung.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MemPalace: SQLite = lokal + kostenlos,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aber keine native Graph-Queries.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fact_checker.py existiert, ist aber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573"/>
              </a:buClr>
              <a:buSzPts val="1100"/>
              <a:buFont typeface="Calibri"/>
              <a:buNone/>
            </a:pPr>
            <a:r>
              <a:rPr b="0" i="0" lang="en-US" sz="1100" u="none" cap="none" strike="noStrike">
                <a:solidFill>
                  <a:srgbClr val="566573"/>
                </a:solidFill>
                <a:latin typeface="Calibri"/>
                <a:ea typeface="Calibri"/>
                <a:cs typeface="Calibri"/>
                <a:sym typeface="Calibri"/>
              </a:rPr>
              <a:t>noch nicht eingebunden.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24"/>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4"/>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628" name="Google Shape;628;p24"/>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Vergleich: Mem0 vs. Zep vs. MemPalace</a:t>
            </a:r>
            <a:endParaRPr b="0" i="0" sz="2800" u="none" cap="none" strike="noStrike">
              <a:solidFill>
                <a:schemeClr val="dk1"/>
              </a:solidFill>
              <a:latin typeface="Calibri"/>
              <a:ea typeface="Calibri"/>
              <a:cs typeface="Calibri"/>
              <a:sym typeface="Calibri"/>
            </a:endParaRPr>
          </a:p>
        </p:txBody>
      </p:sp>
      <p:sp>
        <p:nvSpPr>
          <p:cNvPr id="629" name="Google Shape;629;p24"/>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Drei Philosophien, drei Trade-offs</a:t>
            </a:r>
            <a:endParaRPr b="0" i="0" sz="1200" u="none" cap="none" strike="noStrike">
              <a:solidFill>
                <a:schemeClr val="dk1"/>
              </a:solidFill>
              <a:latin typeface="Calibri"/>
              <a:ea typeface="Calibri"/>
              <a:cs typeface="Calibri"/>
              <a:sym typeface="Calibri"/>
            </a:endParaRPr>
          </a:p>
        </p:txBody>
      </p:sp>
      <p:sp>
        <p:nvSpPr>
          <p:cNvPr id="630" name="Google Shape;630;p24"/>
          <p:cNvSpPr/>
          <p:nvPr/>
        </p:nvSpPr>
        <p:spPr>
          <a:xfrm>
            <a:off x="457200" y="1005840"/>
            <a:ext cx="1828800" cy="365760"/>
          </a:xfrm>
          <a:prstGeom prst="rect">
            <a:avLst/>
          </a:prstGeom>
          <a:solidFill>
            <a:srgbClr val="1A5276"/>
          </a:solid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Eigenschaft</a:t>
            </a:r>
            <a:endParaRPr b="0" i="0" sz="1000" u="none" cap="none" strike="noStrike">
              <a:solidFill>
                <a:schemeClr val="dk1"/>
              </a:solidFill>
              <a:latin typeface="Calibri"/>
              <a:ea typeface="Calibri"/>
              <a:cs typeface="Calibri"/>
              <a:sym typeface="Calibri"/>
            </a:endParaRPr>
          </a:p>
        </p:txBody>
      </p:sp>
      <p:sp>
        <p:nvSpPr>
          <p:cNvPr id="631" name="Google Shape;631;p24"/>
          <p:cNvSpPr/>
          <p:nvPr/>
        </p:nvSpPr>
        <p:spPr>
          <a:xfrm>
            <a:off x="2286000" y="1005840"/>
            <a:ext cx="2011680" cy="365760"/>
          </a:xfrm>
          <a:prstGeom prst="rect">
            <a:avLst/>
          </a:prstGeom>
          <a:solidFill>
            <a:srgbClr val="1A5276"/>
          </a:solid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Mem0</a:t>
            </a:r>
            <a:endParaRPr b="0" i="0" sz="1000" u="none" cap="none" strike="noStrike">
              <a:solidFill>
                <a:schemeClr val="dk1"/>
              </a:solidFill>
              <a:latin typeface="Calibri"/>
              <a:ea typeface="Calibri"/>
              <a:cs typeface="Calibri"/>
              <a:sym typeface="Calibri"/>
            </a:endParaRPr>
          </a:p>
        </p:txBody>
      </p:sp>
      <p:sp>
        <p:nvSpPr>
          <p:cNvPr id="632" name="Google Shape;632;p24"/>
          <p:cNvSpPr/>
          <p:nvPr/>
        </p:nvSpPr>
        <p:spPr>
          <a:xfrm>
            <a:off x="4297680" y="1005840"/>
            <a:ext cx="2011680" cy="365760"/>
          </a:xfrm>
          <a:prstGeom prst="rect">
            <a:avLst/>
          </a:prstGeom>
          <a:solidFill>
            <a:srgbClr val="1A5276"/>
          </a:solid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Zep/Graphiti</a:t>
            </a:r>
            <a:endParaRPr b="0" i="0" sz="1000" u="none" cap="none" strike="noStrike">
              <a:solidFill>
                <a:schemeClr val="dk1"/>
              </a:solidFill>
              <a:latin typeface="Calibri"/>
              <a:ea typeface="Calibri"/>
              <a:cs typeface="Calibri"/>
              <a:sym typeface="Calibri"/>
            </a:endParaRPr>
          </a:p>
        </p:txBody>
      </p:sp>
      <p:sp>
        <p:nvSpPr>
          <p:cNvPr id="633" name="Google Shape;633;p24"/>
          <p:cNvSpPr/>
          <p:nvPr/>
        </p:nvSpPr>
        <p:spPr>
          <a:xfrm>
            <a:off x="6309360" y="1005840"/>
            <a:ext cx="2194560" cy="365760"/>
          </a:xfrm>
          <a:prstGeom prst="rect">
            <a:avLst/>
          </a:prstGeom>
          <a:solidFill>
            <a:srgbClr val="1A5276"/>
          </a:solid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MemPalace</a:t>
            </a:r>
            <a:endParaRPr b="0" i="0" sz="1000" u="none" cap="none" strike="noStrike">
              <a:solidFill>
                <a:schemeClr val="dk1"/>
              </a:solidFill>
              <a:latin typeface="Calibri"/>
              <a:ea typeface="Calibri"/>
              <a:cs typeface="Calibri"/>
              <a:sym typeface="Calibri"/>
            </a:endParaRPr>
          </a:p>
        </p:txBody>
      </p:sp>
      <p:sp>
        <p:nvSpPr>
          <p:cNvPr id="634" name="Google Shape;634;p24"/>
          <p:cNvSpPr/>
          <p:nvPr/>
        </p:nvSpPr>
        <p:spPr>
          <a:xfrm>
            <a:off x="457200" y="1371600"/>
            <a:ext cx="8046720" cy="384048"/>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457200" y="1371600"/>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Ansatz</a:t>
            </a:r>
            <a:endParaRPr b="0" i="0" sz="1000" u="none" cap="none" strike="noStrike">
              <a:solidFill>
                <a:schemeClr val="dk1"/>
              </a:solidFill>
              <a:latin typeface="Calibri"/>
              <a:ea typeface="Calibri"/>
              <a:cs typeface="Calibri"/>
              <a:sym typeface="Calibri"/>
            </a:endParaRPr>
          </a:p>
        </p:txBody>
      </p:sp>
      <p:sp>
        <p:nvSpPr>
          <p:cNvPr id="636" name="Google Shape;636;p24"/>
          <p:cNvSpPr/>
          <p:nvPr/>
        </p:nvSpPr>
        <p:spPr>
          <a:xfrm>
            <a:off x="2286000" y="1371600"/>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LLM-Extraktion</a:t>
            </a:r>
            <a:endParaRPr b="0" i="0" sz="900" u="none" cap="none" strike="noStrike">
              <a:solidFill>
                <a:schemeClr val="dk1"/>
              </a:solidFill>
              <a:latin typeface="Calibri"/>
              <a:ea typeface="Calibri"/>
              <a:cs typeface="Calibri"/>
              <a:sym typeface="Calibri"/>
            </a:endParaRPr>
          </a:p>
        </p:txBody>
      </p:sp>
      <p:sp>
        <p:nvSpPr>
          <p:cNvPr id="637" name="Google Shape;637;p24"/>
          <p:cNvSpPr/>
          <p:nvPr/>
        </p:nvSpPr>
        <p:spPr>
          <a:xfrm>
            <a:off x="4297680" y="1371600"/>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Temporaler KG</a:t>
            </a:r>
            <a:endParaRPr b="0" i="0" sz="900" u="none" cap="none" strike="noStrike">
              <a:solidFill>
                <a:schemeClr val="dk1"/>
              </a:solidFill>
              <a:latin typeface="Calibri"/>
              <a:ea typeface="Calibri"/>
              <a:cs typeface="Calibri"/>
              <a:sym typeface="Calibri"/>
            </a:endParaRPr>
          </a:p>
        </p:txBody>
      </p:sp>
      <p:sp>
        <p:nvSpPr>
          <p:cNvPr id="638" name="Google Shape;638;p24"/>
          <p:cNvSpPr/>
          <p:nvPr/>
        </p:nvSpPr>
        <p:spPr>
          <a:xfrm>
            <a:off x="6309360" y="1371600"/>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Verbatim + Metadaten</a:t>
            </a:r>
            <a:endParaRPr b="0" i="0" sz="900" u="none" cap="none" strike="noStrike">
              <a:solidFill>
                <a:schemeClr val="dk1"/>
              </a:solidFill>
              <a:latin typeface="Calibri"/>
              <a:ea typeface="Calibri"/>
              <a:cs typeface="Calibri"/>
              <a:sym typeface="Calibri"/>
            </a:endParaRPr>
          </a:p>
        </p:txBody>
      </p:sp>
      <p:sp>
        <p:nvSpPr>
          <p:cNvPr id="639" name="Google Shape;639;p24"/>
          <p:cNvSpPr/>
          <p:nvPr/>
        </p:nvSpPr>
        <p:spPr>
          <a:xfrm>
            <a:off x="457200" y="1755648"/>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Datenbank</a:t>
            </a:r>
            <a:endParaRPr b="0" i="0" sz="1000" u="none" cap="none" strike="noStrike">
              <a:solidFill>
                <a:schemeClr val="dk1"/>
              </a:solidFill>
              <a:latin typeface="Calibri"/>
              <a:ea typeface="Calibri"/>
              <a:cs typeface="Calibri"/>
              <a:sym typeface="Calibri"/>
            </a:endParaRPr>
          </a:p>
        </p:txBody>
      </p:sp>
      <p:sp>
        <p:nvSpPr>
          <p:cNvPr id="640" name="Google Shape;640;p24"/>
          <p:cNvSpPr/>
          <p:nvPr/>
        </p:nvSpPr>
        <p:spPr>
          <a:xfrm>
            <a:off x="2286000" y="1755648"/>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Qdrant + Neo4j/Kuzu</a:t>
            </a:r>
            <a:endParaRPr b="0" i="0" sz="900" u="none" cap="none" strike="noStrike">
              <a:solidFill>
                <a:schemeClr val="dk1"/>
              </a:solidFill>
              <a:latin typeface="Calibri"/>
              <a:ea typeface="Calibri"/>
              <a:cs typeface="Calibri"/>
              <a:sym typeface="Calibri"/>
            </a:endParaRPr>
          </a:p>
        </p:txBody>
      </p:sp>
      <p:sp>
        <p:nvSpPr>
          <p:cNvPr id="641" name="Google Shape;641;p24"/>
          <p:cNvSpPr/>
          <p:nvPr/>
        </p:nvSpPr>
        <p:spPr>
          <a:xfrm>
            <a:off x="4297680" y="1755648"/>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Neo4j (Cloud)</a:t>
            </a:r>
            <a:endParaRPr b="0" i="0" sz="900" u="none" cap="none" strike="noStrike">
              <a:solidFill>
                <a:schemeClr val="dk1"/>
              </a:solidFill>
              <a:latin typeface="Calibri"/>
              <a:ea typeface="Calibri"/>
              <a:cs typeface="Calibri"/>
              <a:sym typeface="Calibri"/>
            </a:endParaRPr>
          </a:p>
        </p:txBody>
      </p:sp>
      <p:sp>
        <p:nvSpPr>
          <p:cNvPr id="642" name="Google Shape;642;p24"/>
          <p:cNvSpPr/>
          <p:nvPr/>
        </p:nvSpPr>
        <p:spPr>
          <a:xfrm>
            <a:off x="6309360" y="1755648"/>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ChromaDB + SQLite</a:t>
            </a:r>
            <a:endParaRPr b="0" i="0" sz="900" u="none" cap="none" strike="noStrike">
              <a:solidFill>
                <a:schemeClr val="dk1"/>
              </a:solidFill>
              <a:latin typeface="Calibri"/>
              <a:ea typeface="Calibri"/>
              <a:cs typeface="Calibri"/>
              <a:sym typeface="Calibri"/>
            </a:endParaRPr>
          </a:p>
        </p:txBody>
      </p:sp>
      <p:sp>
        <p:nvSpPr>
          <p:cNvPr id="643" name="Google Shape;643;p24"/>
          <p:cNvSpPr/>
          <p:nvPr/>
        </p:nvSpPr>
        <p:spPr>
          <a:xfrm>
            <a:off x="457200" y="2523744"/>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API nötig?</a:t>
            </a:r>
            <a:endParaRPr b="0" i="0" sz="1000" u="none" cap="none" strike="noStrike">
              <a:solidFill>
                <a:schemeClr val="dk1"/>
              </a:solidFill>
              <a:latin typeface="Calibri"/>
              <a:ea typeface="Calibri"/>
              <a:cs typeface="Calibri"/>
              <a:sym typeface="Calibri"/>
            </a:endParaRPr>
          </a:p>
        </p:txBody>
      </p:sp>
      <p:sp>
        <p:nvSpPr>
          <p:cNvPr id="644" name="Google Shape;644;p24"/>
          <p:cNvSpPr/>
          <p:nvPr/>
        </p:nvSpPr>
        <p:spPr>
          <a:xfrm>
            <a:off x="2286000" y="2523744"/>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Ja (LLM + Cloud)</a:t>
            </a:r>
            <a:endParaRPr b="0" i="0" sz="900" u="none" cap="none" strike="noStrike">
              <a:solidFill>
                <a:schemeClr val="dk1"/>
              </a:solidFill>
              <a:latin typeface="Calibri"/>
              <a:ea typeface="Calibri"/>
              <a:cs typeface="Calibri"/>
              <a:sym typeface="Calibri"/>
            </a:endParaRPr>
          </a:p>
        </p:txBody>
      </p:sp>
      <p:sp>
        <p:nvSpPr>
          <p:cNvPr id="645" name="Google Shape;645;p24"/>
          <p:cNvSpPr/>
          <p:nvPr/>
        </p:nvSpPr>
        <p:spPr>
          <a:xfrm>
            <a:off x="4297680" y="2523744"/>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Ja (Neo4j Cloud)</a:t>
            </a:r>
            <a:endParaRPr b="0" i="0" sz="900" u="none" cap="none" strike="noStrike">
              <a:solidFill>
                <a:schemeClr val="dk1"/>
              </a:solidFill>
              <a:latin typeface="Calibri"/>
              <a:ea typeface="Calibri"/>
              <a:cs typeface="Calibri"/>
              <a:sym typeface="Calibri"/>
            </a:endParaRPr>
          </a:p>
        </p:txBody>
      </p:sp>
      <p:sp>
        <p:nvSpPr>
          <p:cNvPr id="646" name="Google Shape;646;p24"/>
          <p:cNvSpPr/>
          <p:nvPr/>
        </p:nvSpPr>
        <p:spPr>
          <a:xfrm>
            <a:off x="6309360" y="2523744"/>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Nein</a:t>
            </a:r>
            <a:endParaRPr b="0" i="0" sz="900" u="none" cap="none" strike="noStrike">
              <a:solidFill>
                <a:schemeClr val="dk1"/>
              </a:solidFill>
              <a:latin typeface="Calibri"/>
              <a:ea typeface="Calibri"/>
              <a:cs typeface="Calibri"/>
              <a:sym typeface="Calibri"/>
            </a:endParaRPr>
          </a:p>
        </p:txBody>
      </p:sp>
      <p:sp>
        <p:nvSpPr>
          <p:cNvPr id="647" name="Google Shape;647;p24"/>
          <p:cNvSpPr/>
          <p:nvPr/>
        </p:nvSpPr>
        <p:spPr>
          <a:xfrm>
            <a:off x="457200" y="2907792"/>
            <a:ext cx="8046720" cy="384048"/>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4"/>
          <p:cNvSpPr/>
          <p:nvPr/>
        </p:nvSpPr>
        <p:spPr>
          <a:xfrm>
            <a:off x="457200" y="2907792"/>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Kosten</a:t>
            </a:r>
            <a:endParaRPr b="0" i="0" sz="1000" u="none" cap="none" strike="noStrike">
              <a:solidFill>
                <a:schemeClr val="dk1"/>
              </a:solidFill>
              <a:latin typeface="Calibri"/>
              <a:ea typeface="Calibri"/>
              <a:cs typeface="Calibri"/>
              <a:sym typeface="Calibri"/>
            </a:endParaRPr>
          </a:p>
        </p:txBody>
      </p:sp>
      <p:sp>
        <p:nvSpPr>
          <p:cNvPr id="649" name="Google Shape;649;p24"/>
          <p:cNvSpPr/>
          <p:nvPr/>
        </p:nvSpPr>
        <p:spPr>
          <a:xfrm>
            <a:off x="2286000" y="2907792"/>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$19–249/Monat</a:t>
            </a:r>
            <a:endParaRPr b="0" i="0" sz="900" u="none" cap="none" strike="noStrike">
              <a:solidFill>
                <a:schemeClr val="dk1"/>
              </a:solidFill>
              <a:latin typeface="Calibri"/>
              <a:ea typeface="Calibri"/>
              <a:cs typeface="Calibri"/>
              <a:sym typeface="Calibri"/>
            </a:endParaRPr>
          </a:p>
        </p:txBody>
      </p:sp>
      <p:sp>
        <p:nvSpPr>
          <p:cNvPr id="650" name="Google Shape;650;p24"/>
          <p:cNvSpPr/>
          <p:nvPr/>
        </p:nvSpPr>
        <p:spPr>
          <a:xfrm>
            <a:off x="4297680" y="2907792"/>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$25/Monat+</a:t>
            </a:r>
            <a:endParaRPr b="0" i="0" sz="900" u="none" cap="none" strike="noStrike">
              <a:solidFill>
                <a:schemeClr val="dk1"/>
              </a:solidFill>
              <a:latin typeface="Calibri"/>
              <a:ea typeface="Calibri"/>
              <a:cs typeface="Calibri"/>
              <a:sym typeface="Calibri"/>
            </a:endParaRPr>
          </a:p>
        </p:txBody>
      </p:sp>
      <p:sp>
        <p:nvSpPr>
          <p:cNvPr id="651" name="Google Shape;651;p24"/>
          <p:cNvSpPr/>
          <p:nvPr/>
        </p:nvSpPr>
        <p:spPr>
          <a:xfrm>
            <a:off x="6309360" y="2907792"/>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$0</a:t>
            </a:r>
            <a:endParaRPr b="0" i="0" sz="900" u="none" cap="none" strike="noStrike">
              <a:solidFill>
                <a:schemeClr val="dk1"/>
              </a:solidFill>
              <a:latin typeface="Calibri"/>
              <a:ea typeface="Calibri"/>
              <a:cs typeface="Calibri"/>
              <a:sym typeface="Calibri"/>
            </a:endParaRPr>
          </a:p>
        </p:txBody>
      </p:sp>
      <p:sp>
        <p:nvSpPr>
          <p:cNvPr id="652" name="Google Shape;652;p24"/>
          <p:cNvSpPr/>
          <p:nvPr/>
        </p:nvSpPr>
        <p:spPr>
          <a:xfrm>
            <a:off x="457200" y="3291840"/>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Lokal/Privacy</a:t>
            </a:r>
            <a:endParaRPr b="0" i="0" sz="1000" u="none" cap="none" strike="noStrike">
              <a:solidFill>
                <a:schemeClr val="dk1"/>
              </a:solidFill>
              <a:latin typeface="Calibri"/>
              <a:ea typeface="Calibri"/>
              <a:cs typeface="Calibri"/>
              <a:sym typeface="Calibri"/>
            </a:endParaRPr>
          </a:p>
        </p:txBody>
      </p:sp>
      <p:sp>
        <p:nvSpPr>
          <p:cNvPr id="653" name="Google Shape;653;p24"/>
          <p:cNvSpPr/>
          <p:nvPr/>
        </p:nvSpPr>
        <p:spPr>
          <a:xfrm>
            <a:off x="2286000" y="3291840"/>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Self-Hosting mögl.</a:t>
            </a:r>
            <a:endParaRPr b="0" i="0" sz="900" u="none" cap="none" strike="noStrike">
              <a:solidFill>
                <a:schemeClr val="dk1"/>
              </a:solidFill>
              <a:latin typeface="Calibri"/>
              <a:ea typeface="Calibri"/>
              <a:cs typeface="Calibri"/>
              <a:sym typeface="Calibri"/>
            </a:endParaRPr>
          </a:p>
        </p:txBody>
      </p:sp>
      <p:sp>
        <p:nvSpPr>
          <p:cNvPr id="654" name="Google Shape;654;p24"/>
          <p:cNvSpPr/>
          <p:nvPr/>
        </p:nvSpPr>
        <p:spPr>
          <a:xfrm>
            <a:off x="4297680" y="3291840"/>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Enterprise only</a:t>
            </a:r>
            <a:endParaRPr b="0" i="0" sz="900" u="none" cap="none" strike="noStrike">
              <a:solidFill>
                <a:schemeClr val="dk1"/>
              </a:solidFill>
              <a:latin typeface="Calibri"/>
              <a:ea typeface="Calibri"/>
              <a:cs typeface="Calibri"/>
              <a:sym typeface="Calibri"/>
            </a:endParaRPr>
          </a:p>
        </p:txBody>
      </p:sp>
      <p:sp>
        <p:nvSpPr>
          <p:cNvPr id="655" name="Google Shape;655;p24"/>
          <p:cNvSpPr/>
          <p:nvPr/>
        </p:nvSpPr>
        <p:spPr>
          <a:xfrm>
            <a:off x="6309360" y="3291840"/>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100% lokal</a:t>
            </a:r>
            <a:endParaRPr b="0" i="0" sz="900" u="none" cap="none" strike="noStrike">
              <a:solidFill>
                <a:schemeClr val="dk1"/>
              </a:solidFill>
              <a:latin typeface="Calibri"/>
              <a:ea typeface="Calibri"/>
              <a:cs typeface="Calibri"/>
              <a:sym typeface="Calibri"/>
            </a:endParaRPr>
          </a:p>
        </p:txBody>
      </p:sp>
      <p:sp>
        <p:nvSpPr>
          <p:cNvPr id="656" name="Google Shape;656;p24"/>
          <p:cNvSpPr/>
          <p:nvPr/>
        </p:nvSpPr>
        <p:spPr>
          <a:xfrm>
            <a:off x="457200" y="3675888"/>
            <a:ext cx="8046720" cy="384048"/>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4"/>
          <p:cNvSpPr/>
          <p:nvPr/>
        </p:nvSpPr>
        <p:spPr>
          <a:xfrm>
            <a:off x="457200" y="3675888"/>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Lizenz</a:t>
            </a:r>
            <a:endParaRPr b="0" i="0" sz="1000" u="none" cap="none" strike="noStrike">
              <a:solidFill>
                <a:schemeClr val="dk1"/>
              </a:solidFill>
              <a:latin typeface="Calibri"/>
              <a:ea typeface="Calibri"/>
              <a:cs typeface="Calibri"/>
              <a:sym typeface="Calibri"/>
            </a:endParaRPr>
          </a:p>
        </p:txBody>
      </p:sp>
      <p:sp>
        <p:nvSpPr>
          <p:cNvPr id="658" name="Google Shape;658;p24"/>
          <p:cNvSpPr/>
          <p:nvPr/>
        </p:nvSpPr>
        <p:spPr>
          <a:xfrm>
            <a:off x="2286000" y="3675888"/>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Apache 2.0</a:t>
            </a:r>
            <a:endParaRPr b="0" i="0" sz="900" u="none" cap="none" strike="noStrike">
              <a:solidFill>
                <a:schemeClr val="dk1"/>
              </a:solidFill>
              <a:latin typeface="Calibri"/>
              <a:ea typeface="Calibri"/>
              <a:cs typeface="Calibri"/>
              <a:sym typeface="Calibri"/>
            </a:endParaRPr>
          </a:p>
        </p:txBody>
      </p:sp>
      <p:sp>
        <p:nvSpPr>
          <p:cNvPr id="659" name="Google Shape;659;p24"/>
          <p:cNvSpPr/>
          <p:nvPr/>
        </p:nvSpPr>
        <p:spPr>
          <a:xfrm>
            <a:off x="4297680" y="3675888"/>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Teilw. proprietär</a:t>
            </a:r>
            <a:endParaRPr b="0" i="0" sz="900" u="none" cap="none" strike="noStrike">
              <a:solidFill>
                <a:schemeClr val="dk1"/>
              </a:solidFill>
              <a:latin typeface="Calibri"/>
              <a:ea typeface="Calibri"/>
              <a:cs typeface="Calibri"/>
              <a:sym typeface="Calibri"/>
            </a:endParaRPr>
          </a:p>
        </p:txBody>
      </p:sp>
      <p:sp>
        <p:nvSpPr>
          <p:cNvPr id="660" name="Google Shape;660;p24"/>
          <p:cNvSpPr/>
          <p:nvPr/>
        </p:nvSpPr>
        <p:spPr>
          <a:xfrm>
            <a:off x="6309360" y="3675888"/>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MIT</a:t>
            </a:r>
            <a:endParaRPr b="0" i="0" sz="900" u="none" cap="none" strike="noStrike">
              <a:solidFill>
                <a:schemeClr val="dk1"/>
              </a:solidFill>
              <a:latin typeface="Calibri"/>
              <a:ea typeface="Calibri"/>
              <a:cs typeface="Calibri"/>
              <a:sym typeface="Calibri"/>
            </a:endParaRPr>
          </a:p>
        </p:txBody>
      </p:sp>
      <p:sp>
        <p:nvSpPr>
          <p:cNvPr id="661" name="Google Shape;661;p24"/>
          <p:cNvSpPr/>
          <p:nvPr/>
        </p:nvSpPr>
        <p:spPr>
          <a:xfrm>
            <a:off x="457200" y="4059936"/>
            <a:ext cx="182880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Stärke</a:t>
            </a:r>
            <a:endParaRPr b="0" i="0" sz="1000" u="none" cap="none" strike="noStrike">
              <a:solidFill>
                <a:schemeClr val="dk1"/>
              </a:solidFill>
              <a:latin typeface="Calibri"/>
              <a:ea typeface="Calibri"/>
              <a:cs typeface="Calibri"/>
              <a:sym typeface="Calibri"/>
            </a:endParaRPr>
          </a:p>
        </p:txBody>
      </p:sp>
      <p:sp>
        <p:nvSpPr>
          <p:cNvPr id="662" name="Google Shape;662;p24"/>
          <p:cNvSpPr/>
          <p:nvPr/>
        </p:nvSpPr>
        <p:spPr>
          <a:xfrm>
            <a:off x="2286000" y="4059936"/>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Kompakt, skalierbar</a:t>
            </a:r>
            <a:endParaRPr b="0" i="0" sz="900" u="none" cap="none" strike="noStrike">
              <a:solidFill>
                <a:schemeClr val="dk1"/>
              </a:solidFill>
              <a:latin typeface="Calibri"/>
              <a:ea typeface="Calibri"/>
              <a:cs typeface="Calibri"/>
              <a:sym typeface="Calibri"/>
            </a:endParaRPr>
          </a:p>
        </p:txBody>
      </p:sp>
      <p:sp>
        <p:nvSpPr>
          <p:cNvPr id="663" name="Google Shape;663;p24"/>
          <p:cNvSpPr/>
          <p:nvPr/>
        </p:nvSpPr>
        <p:spPr>
          <a:xfrm>
            <a:off x="4297680" y="4059936"/>
            <a:ext cx="201168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Temporal, Enterprise</a:t>
            </a:r>
            <a:endParaRPr b="0" i="0" sz="900" u="none" cap="none" strike="noStrike">
              <a:solidFill>
                <a:schemeClr val="dk1"/>
              </a:solidFill>
              <a:latin typeface="Calibri"/>
              <a:ea typeface="Calibri"/>
              <a:cs typeface="Calibri"/>
              <a:sym typeface="Calibri"/>
            </a:endParaRPr>
          </a:p>
        </p:txBody>
      </p:sp>
      <p:sp>
        <p:nvSpPr>
          <p:cNvPr id="664" name="Google Shape;664;p24"/>
          <p:cNvSpPr/>
          <p:nvPr/>
        </p:nvSpPr>
        <p:spPr>
          <a:xfrm>
            <a:off x="6309360" y="4059936"/>
            <a:ext cx="2194560" cy="38404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Verbatim, kostenlos</a:t>
            </a:r>
            <a:endParaRPr b="0" i="0" sz="900" u="none" cap="none" strike="noStrike">
              <a:solidFill>
                <a:schemeClr val="dk1"/>
              </a:solidFill>
              <a:latin typeface="Calibri"/>
              <a:ea typeface="Calibri"/>
              <a:cs typeface="Calibri"/>
              <a:sym typeface="Calibri"/>
            </a:endParaRPr>
          </a:p>
        </p:txBody>
      </p:sp>
      <p:sp>
        <p:nvSpPr>
          <p:cNvPr id="665" name="Google Shape;665;p24"/>
          <p:cNvSpPr/>
          <p:nvPr/>
        </p:nvSpPr>
        <p:spPr>
          <a:xfrm>
            <a:off x="457200" y="2139709"/>
            <a:ext cx="8046600" cy="384000"/>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a:off x="457200" y="2139709"/>
            <a:ext cx="1828800" cy="384000"/>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A5276"/>
              </a:buClr>
              <a:buSzPts val="1000"/>
              <a:buFont typeface="Calibri"/>
              <a:buNone/>
            </a:pPr>
            <a:r>
              <a:rPr b="1" i="0" lang="en-US" sz="1000" u="none" cap="none" strike="noStrike">
                <a:solidFill>
                  <a:srgbClr val="1A5276"/>
                </a:solidFill>
                <a:latin typeface="Calibri"/>
                <a:ea typeface="Calibri"/>
                <a:cs typeface="Calibri"/>
                <a:sym typeface="Calibri"/>
              </a:rPr>
              <a:t>Schwäche</a:t>
            </a:r>
            <a:endParaRPr b="0" i="0" sz="1000" u="none" cap="none" strike="noStrike">
              <a:solidFill>
                <a:schemeClr val="dk1"/>
              </a:solidFill>
              <a:latin typeface="Calibri"/>
              <a:ea typeface="Calibri"/>
              <a:cs typeface="Calibri"/>
              <a:sym typeface="Calibri"/>
            </a:endParaRPr>
          </a:p>
        </p:txBody>
      </p:sp>
      <p:sp>
        <p:nvSpPr>
          <p:cNvPr id="667" name="Google Shape;667;p24"/>
          <p:cNvSpPr/>
          <p:nvPr/>
        </p:nvSpPr>
        <p:spPr>
          <a:xfrm>
            <a:off x="2286000" y="2139709"/>
            <a:ext cx="2011800" cy="384000"/>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Info-Verlust</a:t>
            </a:r>
            <a:endParaRPr b="0" i="0" sz="900" u="none" cap="none" strike="noStrike">
              <a:solidFill>
                <a:schemeClr val="dk1"/>
              </a:solidFill>
              <a:latin typeface="Calibri"/>
              <a:ea typeface="Calibri"/>
              <a:cs typeface="Calibri"/>
              <a:sym typeface="Calibri"/>
            </a:endParaRPr>
          </a:p>
        </p:txBody>
      </p:sp>
      <p:sp>
        <p:nvSpPr>
          <p:cNvPr id="668" name="Google Shape;668;p24"/>
          <p:cNvSpPr/>
          <p:nvPr/>
        </p:nvSpPr>
        <p:spPr>
          <a:xfrm>
            <a:off x="4297680" y="2139709"/>
            <a:ext cx="2011800" cy="384000"/>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Cloud-abhängig</a:t>
            </a:r>
            <a:endParaRPr b="0" i="0" sz="900" u="none" cap="none" strike="noStrike">
              <a:solidFill>
                <a:schemeClr val="dk1"/>
              </a:solidFill>
              <a:latin typeface="Calibri"/>
              <a:ea typeface="Calibri"/>
              <a:cs typeface="Calibri"/>
              <a:sym typeface="Calibri"/>
            </a:endParaRPr>
          </a:p>
        </p:txBody>
      </p:sp>
      <p:sp>
        <p:nvSpPr>
          <p:cNvPr id="669" name="Google Shape;669;p24"/>
          <p:cNvSpPr/>
          <p:nvPr/>
        </p:nvSpPr>
        <p:spPr>
          <a:xfrm>
            <a:off x="6309360" y="2139709"/>
            <a:ext cx="2194500" cy="384000"/>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1C2833"/>
              </a:buClr>
              <a:buSzPts val="900"/>
              <a:buFont typeface="Calibri"/>
              <a:buNone/>
            </a:pPr>
            <a:r>
              <a:rPr b="0" i="0" lang="en-US" sz="900" u="none" cap="none" strike="noStrike">
                <a:solidFill>
                  <a:srgbClr val="1C2833"/>
                </a:solidFill>
                <a:latin typeface="Calibri"/>
                <a:ea typeface="Calibri"/>
                <a:cs typeface="Calibri"/>
                <a:sym typeface="Calibri"/>
              </a:rPr>
              <a:t>Skalierbarkeit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4" name="Shape 674"/>
        <p:cNvGrpSpPr/>
        <p:nvPr/>
      </p:nvGrpSpPr>
      <p:grpSpPr>
        <a:xfrm>
          <a:off x="0" y="0"/>
          <a:ext cx="0" cy="0"/>
          <a:chOff x="0" y="0"/>
          <a:chExt cx="0" cy="0"/>
        </a:xfrm>
      </p:grpSpPr>
      <p:sp>
        <p:nvSpPr>
          <p:cNvPr id="675" name="Google Shape;675;p25"/>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5"/>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677" name="Google Shape;677;p25"/>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Live: Memory Palace bauen</a:t>
            </a:r>
            <a:endParaRPr b="0" i="0" sz="2800" u="none" cap="none" strike="noStrike">
              <a:solidFill>
                <a:schemeClr val="dk1"/>
              </a:solidFill>
              <a:latin typeface="Calibri"/>
              <a:ea typeface="Calibri"/>
              <a:cs typeface="Calibri"/>
              <a:sym typeface="Calibri"/>
            </a:endParaRPr>
          </a:p>
        </p:txBody>
      </p:sp>
      <p:sp>
        <p:nvSpPr>
          <p:cNvPr id="678" name="Google Shape;678;p25"/>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15 Min Gruppenarbeit + Retrieval-Übung</a:t>
            </a:r>
            <a:endParaRPr b="0" i="0" sz="1200" u="none" cap="none" strike="noStrike">
              <a:solidFill>
                <a:schemeClr val="dk1"/>
              </a:solidFill>
              <a:latin typeface="Calibri"/>
              <a:ea typeface="Calibri"/>
              <a:cs typeface="Calibri"/>
              <a:sym typeface="Calibri"/>
            </a:endParaRPr>
          </a:p>
        </p:txBody>
      </p:sp>
      <p:sp>
        <p:nvSpPr>
          <p:cNvPr id="679" name="Google Shape;679;p25"/>
          <p:cNvSpPr/>
          <p:nvPr/>
        </p:nvSpPr>
        <p:spPr>
          <a:xfrm>
            <a:off x="457200" y="1097280"/>
            <a:ext cx="8229600" cy="2103120"/>
          </a:xfrm>
          <a:prstGeom prst="rect">
            <a:avLst/>
          </a:prstGeom>
          <a:solidFill>
            <a:srgbClr val="EEF2F7"/>
          </a:solidFill>
          <a:ln cap="flat" cmpd="sng" w="9525">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5"/>
          <p:cNvSpPr/>
          <p:nvPr/>
        </p:nvSpPr>
        <p:spPr>
          <a:xfrm>
            <a:off x="640080" y="1188720"/>
            <a:ext cx="1188720" cy="256032"/>
          </a:xfrm>
          <a:prstGeom prst="rect">
            <a:avLst/>
          </a:prstGeom>
          <a:solidFill>
            <a:srgbClr val="1A5276"/>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SZENARIO</a:t>
            </a:r>
            <a:endParaRPr b="0" i="0" sz="1000" u="none" cap="none" strike="noStrike">
              <a:solidFill>
                <a:schemeClr val="dk1"/>
              </a:solidFill>
              <a:latin typeface="Calibri"/>
              <a:ea typeface="Calibri"/>
              <a:cs typeface="Calibri"/>
              <a:sym typeface="Calibri"/>
            </a:endParaRPr>
          </a:p>
        </p:txBody>
      </p:sp>
      <p:sp>
        <p:nvSpPr>
          <p:cNvPr id="681" name="Google Shape;681;p25"/>
          <p:cNvSpPr/>
          <p:nvPr/>
        </p:nvSpPr>
        <p:spPr>
          <a:xfrm>
            <a:off x="640080" y="1554480"/>
            <a:ext cx="77724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Team: Lisa, Marc, Chen  ·  Produkt: "Orion" (SaaS)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Lisa hat OAuth gedebuggt (Token-Refresh Bug)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Marc schlug ScyllaDB statt Postgres vor (abgelehnt)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Chen hat CI/CD auf GitHub Actions umgestellt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Team entschied sich für Clerk statt Auth0</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Marc bevorzugt generell NoSQL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  März: 4h Downtime (Memory Leak)</a:t>
            </a:r>
            <a:endParaRPr b="0" i="0" sz="1100" u="none" cap="none" strike="noStrike">
              <a:solidFill>
                <a:schemeClr val="dk1"/>
              </a:solidFill>
              <a:latin typeface="Calibri"/>
              <a:ea typeface="Calibri"/>
              <a:cs typeface="Calibri"/>
              <a:sym typeface="Calibri"/>
            </a:endParaRPr>
          </a:p>
        </p:txBody>
      </p:sp>
      <p:sp>
        <p:nvSpPr>
          <p:cNvPr id="682" name="Google Shape;682;p25"/>
          <p:cNvSpPr/>
          <p:nvPr/>
        </p:nvSpPr>
        <p:spPr>
          <a:xfrm>
            <a:off x="457200" y="3383280"/>
            <a:ext cx="5029200" cy="13716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5"/>
          <p:cNvSpPr/>
          <p:nvPr/>
        </p:nvSpPr>
        <p:spPr>
          <a:xfrm>
            <a:off x="640080" y="34747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100"/>
              <a:buFont typeface="Consolas"/>
              <a:buNone/>
            </a:pPr>
            <a:r>
              <a:rPr b="1" i="0" lang="en-US" sz="1100" u="none" cap="none" strike="noStrike">
                <a:solidFill>
                  <a:srgbClr val="1A5276"/>
                </a:solidFill>
                <a:latin typeface="Consolas"/>
                <a:ea typeface="Consolas"/>
                <a:cs typeface="Consolas"/>
                <a:sym typeface="Consolas"/>
              </a:rPr>
              <a:t>Teil 1: Palace bauen (10 min)</a:t>
            </a:r>
            <a:endParaRPr b="0" i="0" sz="1100" u="none" cap="none" strike="noStrike">
              <a:solidFill>
                <a:schemeClr val="dk1"/>
              </a:solidFill>
              <a:latin typeface="Calibri"/>
              <a:ea typeface="Calibri"/>
              <a:cs typeface="Calibri"/>
              <a:sym typeface="Calibri"/>
            </a:endParaRPr>
          </a:p>
        </p:txBody>
      </p:sp>
      <p:sp>
        <p:nvSpPr>
          <p:cNvPr id="684" name="Google Shape;684;p25"/>
          <p:cNvSpPr/>
          <p:nvPr/>
        </p:nvSpPr>
        <p:spPr>
          <a:xfrm>
            <a:off x="640080" y="3794760"/>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1. Wings definieren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2. Jedes Ereignis → Wing + Hall + Room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3. Mind. 2 Tunnels identifizieren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4. Auf Flipchart skizzieren</a:t>
            </a:r>
            <a:endParaRPr b="0" i="0" sz="1100" u="none" cap="none" strike="noStrike">
              <a:solidFill>
                <a:schemeClr val="dk1"/>
              </a:solidFill>
              <a:latin typeface="Calibri"/>
              <a:ea typeface="Calibri"/>
              <a:cs typeface="Calibri"/>
              <a:sym typeface="Calibri"/>
            </a:endParaRPr>
          </a:p>
        </p:txBody>
      </p:sp>
      <p:sp>
        <p:nvSpPr>
          <p:cNvPr id="685" name="Google Shape;685;p25"/>
          <p:cNvSpPr/>
          <p:nvPr/>
        </p:nvSpPr>
        <p:spPr>
          <a:xfrm>
            <a:off x="5669280" y="3383280"/>
            <a:ext cx="3017520" cy="137160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5"/>
          <p:cNvSpPr/>
          <p:nvPr/>
        </p:nvSpPr>
        <p:spPr>
          <a:xfrm>
            <a:off x="5852160" y="34747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6B"/>
              </a:buClr>
              <a:buSzPts val="1100"/>
              <a:buFont typeface="Consolas"/>
              <a:buNone/>
            </a:pPr>
            <a:r>
              <a:rPr b="1" i="0" lang="en-US" sz="1100" u="none" cap="none" strike="noStrike">
                <a:solidFill>
                  <a:srgbClr val="0E8C6B"/>
                </a:solidFill>
                <a:latin typeface="Consolas"/>
                <a:ea typeface="Consolas"/>
                <a:cs typeface="Consolas"/>
                <a:sym typeface="Consolas"/>
              </a:rPr>
              <a:t>Teil 2: Retrieval (5 min)</a:t>
            </a:r>
            <a:endParaRPr b="0" i="0" sz="1100" u="none" cap="none" strike="noStrike">
              <a:solidFill>
                <a:schemeClr val="dk1"/>
              </a:solidFill>
              <a:latin typeface="Calibri"/>
              <a:ea typeface="Calibri"/>
              <a:cs typeface="Calibri"/>
              <a:sym typeface="Calibri"/>
            </a:endParaRPr>
          </a:p>
        </p:txBody>
      </p:sp>
      <p:sp>
        <p:nvSpPr>
          <p:cNvPr id="687" name="Google Shape;687;p25"/>
          <p:cNvSpPr/>
          <p:nvPr/>
        </p:nvSpPr>
        <p:spPr>
          <a:xfrm>
            <a:off x="5852160" y="3794760"/>
            <a:ext cx="2743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Frage: "Warum nutzen wir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noch Postgres?"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Welcher Wing? Welcher Hall?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Welcher Room?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Was kommt zurück?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26"/>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6"/>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695" name="Google Shape;695;p26"/>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Benchmark-Ergebnisse</a:t>
            </a:r>
            <a:endParaRPr b="0" i="0" sz="2800" u="none" cap="none" strike="noStrike">
              <a:solidFill>
                <a:schemeClr val="dk1"/>
              </a:solidFill>
              <a:latin typeface="Calibri"/>
              <a:ea typeface="Calibri"/>
              <a:cs typeface="Calibri"/>
              <a:sym typeface="Calibri"/>
            </a:endParaRPr>
          </a:p>
        </p:txBody>
      </p:sp>
      <p:sp>
        <p:nvSpPr>
          <p:cNvPr id="696" name="Google Shape;696;p26"/>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lang="en-US" sz="1200">
                <a:solidFill>
                  <a:srgbClr val="85929E"/>
                </a:solidFill>
                <a:latin typeface="Calibri"/>
                <a:ea typeface="Calibri"/>
                <a:cs typeface="Calibri"/>
                <a:sym typeface="Calibri"/>
              </a:rPr>
              <a:t>R@5 </a:t>
            </a:r>
            <a:r>
              <a:rPr b="0" i="0" lang="en-US" sz="1200" u="none" cap="none" strike="noStrike">
                <a:solidFill>
                  <a:srgbClr val="85929E"/>
                </a:solidFill>
                <a:latin typeface="Calibri"/>
                <a:ea typeface="Calibri"/>
                <a:cs typeface="Calibri"/>
                <a:sym typeface="Calibri"/>
              </a:rPr>
              <a:t>LongMemEval, Struktur-Boost</a:t>
            </a:r>
            <a:endParaRPr b="0" i="0" sz="1200" u="none" cap="none" strike="noStrike">
              <a:solidFill>
                <a:schemeClr val="dk1"/>
              </a:solidFill>
              <a:latin typeface="Calibri"/>
              <a:ea typeface="Calibri"/>
              <a:cs typeface="Calibri"/>
              <a:sym typeface="Calibri"/>
            </a:endParaRPr>
          </a:p>
        </p:txBody>
      </p:sp>
      <p:pic>
        <p:nvPicPr>
          <p:cNvPr id="697" name="Google Shape;697;p26"/>
          <p:cNvPicPr preferRelativeResize="0"/>
          <p:nvPr/>
        </p:nvPicPr>
        <p:blipFill rotWithShape="1">
          <a:blip r:embed="rId3">
            <a:alphaModFix/>
          </a:blip>
          <a:srcRect b="0" l="0" r="0" t="0"/>
          <a:stretch/>
        </p:blipFill>
        <p:spPr>
          <a:xfrm>
            <a:off x="457200" y="1097280"/>
            <a:ext cx="5029200" cy="3291840"/>
          </a:xfrm>
          <a:prstGeom prst="rect">
            <a:avLst/>
          </a:prstGeom>
          <a:noFill/>
          <a:ln>
            <a:noFill/>
          </a:ln>
        </p:spPr>
      </p:pic>
      <p:sp>
        <p:nvSpPr>
          <p:cNvPr id="698" name="Google Shape;698;p26"/>
          <p:cNvSpPr/>
          <p:nvPr/>
        </p:nvSpPr>
        <p:spPr>
          <a:xfrm>
            <a:off x="5760720" y="1097280"/>
            <a:ext cx="2926080" cy="329184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p:nvPr/>
        </p:nvSpPr>
        <p:spPr>
          <a:xfrm>
            <a:off x="5943600" y="1234440"/>
            <a:ext cx="25603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400"/>
              <a:buFont typeface="Georgia"/>
              <a:buNone/>
            </a:pPr>
            <a:r>
              <a:rPr b="1" i="0" lang="en-US" sz="1400" u="none" cap="none" strike="noStrike">
                <a:solidFill>
                  <a:srgbClr val="1C2833"/>
                </a:solidFill>
                <a:latin typeface="Georgia"/>
                <a:ea typeface="Georgia"/>
                <a:cs typeface="Georgia"/>
                <a:sym typeface="Georgia"/>
              </a:rPr>
              <a:t>Struktur-Boost</a:t>
            </a:r>
            <a:endParaRPr b="0" i="0" sz="1400" u="none" cap="none" strike="noStrike">
              <a:solidFill>
                <a:schemeClr val="dk1"/>
              </a:solidFill>
              <a:latin typeface="Calibri"/>
              <a:ea typeface="Calibri"/>
              <a:cs typeface="Calibri"/>
              <a:sym typeface="Calibri"/>
            </a:endParaRPr>
          </a:p>
        </p:txBody>
      </p:sp>
      <p:sp>
        <p:nvSpPr>
          <p:cNvPr id="700" name="Google Shape;700;p26"/>
          <p:cNvSpPr/>
          <p:nvPr/>
        </p:nvSpPr>
        <p:spPr>
          <a:xfrm>
            <a:off x="5943600" y="1737360"/>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All closets</a:t>
            </a:r>
            <a:endParaRPr b="0" i="0" sz="1000" u="none" cap="none" strike="noStrike">
              <a:solidFill>
                <a:schemeClr val="dk1"/>
              </a:solidFill>
              <a:latin typeface="Calibri"/>
              <a:ea typeface="Calibri"/>
              <a:cs typeface="Calibri"/>
              <a:sym typeface="Calibri"/>
            </a:endParaRPr>
          </a:p>
        </p:txBody>
      </p:sp>
      <p:sp>
        <p:nvSpPr>
          <p:cNvPr id="701" name="Google Shape;701;p26"/>
          <p:cNvSpPr/>
          <p:nvPr/>
        </p:nvSpPr>
        <p:spPr>
          <a:xfrm>
            <a:off x="7589520" y="1737360"/>
            <a:ext cx="6400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833"/>
              </a:buClr>
              <a:buSzPts val="1100"/>
              <a:buFont typeface="Consolas"/>
              <a:buNone/>
            </a:pPr>
            <a:r>
              <a:rPr b="1" i="0" lang="en-US" sz="1100" u="none" cap="none" strike="noStrike">
                <a:solidFill>
                  <a:srgbClr val="1C2833"/>
                </a:solidFill>
                <a:latin typeface="Consolas"/>
                <a:ea typeface="Consolas"/>
                <a:cs typeface="Consolas"/>
                <a:sym typeface="Consolas"/>
              </a:rPr>
              <a:t>60,9%</a:t>
            </a:r>
            <a:endParaRPr b="0" i="0" sz="1100" u="none" cap="none" strike="noStrike">
              <a:solidFill>
                <a:schemeClr val="dk1"/>
              </a:solidFill>
              <a:latin typeface="Calibri"/>
              <a:ea typeface="Calibri"/>
              <a:cs typeface="Calibri"/>
              <a:sym typeface="Calibri"/>
            </a:endParaRPr>
          </a:p>
        </p:txBody>
      </p:sp>
      <p:sp>
        <p:nvSpPr>
          <p:cNvPr id="702" name="Google Shape;702;p26"/>
          <p:cNvSpPr/>
          <p:nvPr/>
        </p:nvSpPr>
        <p:spPr>
          <a:xfrm>
            <a:off x="5943600" y="2286000"/>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Within wing</a:t>
            </a:r>
            <a:endParaRPr b="0" i="0" sz="1000" u="none" cap="none" strike="noStrike">
              <a:solidFill>
                <a:schemeClr val="dk1"/>
              </a:solidFill>
              <a:latin typeface="Calibri"/>
              <a:ea typeface="Calibri"/>
              <a:cs typeface="Calibri"/>
              <a:sym typeface="Calibri"/>
            </a:endParaRPr>
          </a:p>
        </p:txBody>
      </p:sp>
      <p:sp>
        <p:nvSpPr>
          <p:cNvPr id="703" name="Google Shape;703;p26"/>
          <p:cNvSpPr/>
          <p:nvPr/>
        </p:nvSpPr>
        <p:spPr>
          <a:xfrm>
            <a:off x="7589520" y="2286000"/>
            <a:ext cx="6400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833"/>
              </a:buClr>
              <a:buSzPts val="1100"/>
              <a:buFont typeface="Consolas"/>
              <a:buNone/>
            </a:pPr>
            <a:r>
              <a:rPr b="1" i="0" lang="en-US" sz="1100" u="none" cap="none" strike="noStrike">
                <a:solidFill>
                  <a:srgbClr val="1C2833"/>
                </a:solidFill>
                <a:latin typeface="Consolas"/>
                <a:ea typeface="Consolas"/>
                <a:cs typeface="Consolas"/>
                <a:sym typeface="Consolas"/>
              </a:rPr>
              <a:t>73,1%</a:t>
            </a:r>
            <a:endParaRPr b="0" i="0" sz="1100" u="none" cap="none" strike="noStrike">
              <a:solidFill>
                <a:schemeClr val="dk1"/>
              </a:solidFill>
              <a:latin typeface="Calibri"/>
              <a:ea typeface="Calibri"/>
              <a:cs typeface="Calibri"/>
              <a:sym typeface="Calibri"/>
            </a:endParaRPr>
          </a:p>
        </p:txBody>
      </p:sp>
      <p:sp>
        <p:nvSpPr>
          <p:cNvPr id="704" name="Google Shape;704;p26"/>
          <p:cNvSpPr/>
          <p:nvPr/>
        </p:nvSpPr>
        <p:spPr>
          <a:xfrm>
            <a:off x="7589520" y="2514600"/>
            <a:ext cx="64008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+12%</a:t>
            </a:r>
            <a:endParaRPr b="0" i="0" sz="900" u="none" cap="none" strike="noStrike">
              <a:solidFill>
                <a:schemeClr val="dk1"/>
              </a:solidFill>
              <a:latin typeface="Calibri"/>
              <a:ea typeface="Calibri"/>
              <a:cs typeface="Calibri"/>
              <a:sym typeface="Calibri"/>
            </a:endParaRPr>
          </a:p>
        </p:txBody>
      </p:sp>
      <p:sp>
        <p:nvSpPr>
          <p:cNvPr id="705" name="Google Shape;705;p26"/>
          <p:cNvSpPr/>
          <p:nvPr/>
        </p:nvSpPr>
        <p:spPr>
          <a:xfrm>
            <a:off x="5943600" y="2834640"/>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Wing + hall</a:t>
            </a:r>
            <a:endParaRPr b="0" i="0" sz="1000" u="none" cap="none" strike="noStrike">
              <a:solidFill>
                <a:schemeClr val="dk1"/>
              </a:solidFill>
              <a:latin typeface="Calibri"/>
              <a:ea typeface="Calibri"/>
              <a:cs typeface="Calibri"/>
              <a:sym typeface="Calibri"/>
            </a:endParaRPr>
          </a:p>
        </p:txBody>
      </p:sp>
      <p:sp>
        <p:nvSpPr>
          <p:cNvPr id="706" name="Google Shape;706;p26"/>
          <p:cNvSpPr/>
          <p:nvPr/>
        </p:nvSpPr>
        <p:spPr>
          <a:xfrm>
            <a:off x="7589520" y="2834640"/>
            <a:ext cx="6400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833"/>
              </a:buClr>
              <a:buSzPts val="1100"/>
              <a:buFont typeface="Consolas"/>
              <a:buNone/>
            </a:pPr>
            <a:r>
              <a:rPr b="1" i="0" lang="en-US" sz="1100" u="none" cap="none" strike="noStrike">
                <a:solidFill>
                  <a:srgbClr val="1C2833"/>
                </a:solidFill>
                <a:latin typeface="Consolas"/>
                <a:ea typeface="Consolas"/>
                <a:cs typeface="Consolas"/>
                <a:sym typeface="Consolas"/>
              </a:rPr>
              <a:t>84,8%</a:t>
            </a:r>
            <a:endParaRPr b="0" i="0" sz="1100" u="none" cap="none" strike="noStrike">
              <a:solidFill>
                <a:schemeClr val="dk1"/>
              </a:solidFill>
              <a:latin typeface="Calibri"/>
              <a:ea typeface="Calibri"/>
              <a:cs typeface="Calibri"/>
              <a:sym typeface="Calibri"/>
            </a:endParaRPr>
          </a:p>
        </p:txBody>
      </p:sp>
      <p:sp>
        <p:nvSpPr>
          <p:cNvPr id="707" name="Google Shape;707;p26"/>
          <p:cNvSpPr/>
          <p:nvPr/>
        </p:nvSpPr>
        <p:spPr>
          <a:xfrm>
            <a:off x="7589520" y="3063240"/>
            <a:ext cx="64008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+24%</a:t>
            </a:r>
            <a:endParaRPr b="0" i="0" sz="900" u="none" cap="none" strike="noStrike">
              <a:solidFill>
                <a:schemeClr val="dk1"/>
              </a:solidFill>
              <a:latin typeface="Calibri"/>
              <a:ea typeface="Calibri"/>
              <a:cs typeface="Calibri"/>
              <a:sym typeface="Calibri"/>
            </a:endParaRPr>
          </a:p>
        </p:txBody>
      </p:sp>
      <p:sp>
        <p:nvSpPr>
          <p:cNvPr id="708" name="Google Shape;708;p26"/>
          <p:cNvSpPr/>
          <p:nvPr/>
        </p:nvSpPr>
        <p:spPr>
          <a:xfrm>
            <a:off x="5943600" y="3383280"/>
            <a:ext cx="16459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000"/>
              <a:buFont typeface="Consolas"/>
              <a:buNone/>
            </a:pPr>
            <a:r>
              <a:rPr b="0" i="0" lang="en-US" sz="1000" u="none" cap="none" strike="noStrike">
                <a:solidFill>
                  <a:srgbClr val="85929E"/>
                </a:solidFill>
                <a:latin typeface="Consolas"/>
                <a:ea typeface="Consolas"/>
                <a:cs typeface="Consolas"/>
                <a:sym typeface="Consolas"/>
              </a:rPr>
              <a:t>Wing + room</a:t>
            </a:r>
            <a:endParaRPr b="0" i="0" sz="1000" u="none" cap="none" strike="noStrike">
              <a:solidFill>
                <a:schemeClr val="dk1"/>
              </a:solidFill>
              <a:latin typeface="Calibri"/>
              <a:ea typeface="Calibri"/>
              <a:cs typeface="Calibri"/>
              <a:sym typeface="Calibri"/>
            </a:endParaRPr>
          </a:p>
        </p:txBody>
      </p:sp>
      <p:sp>
        <p:nvSpPr>
          <p:cNvPr id="709" name="Google Shape;709;p26"/>
          <p:cNvSpPr/>
          <p:nvPr/>
        </p:nvSpPr>
        <p:spPr>
          <a:xfrm>
            <a:off x="7589520" y="3383280"/>
            <a:ext cx="6400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833"/>
              </a:buClr>
              <a:buSzPts val="1100"/>
              <a:buFont typeface="Consolas"/>
              <a:buNone/>
            </a:pPr>
            <a:r>
              <a:rPr b="1" i="0" lang="en-US" sz="1100" u="none" cap="none" strike="noStrike">
                <a:solidFill>
                  <a:srgbClr val="1C2833"/>
                </a:solidFill>
                <a:latin typeface="Consolas"/>
                <a:ea typeface="Consolas"/>
                <a:cs typeface="Consolas"/>
                <a:sym typeface="Consolas"/>
              </a:rPr>
              <a:t>94,8%</a:t>
            </a:r>
            <a:endParaRPr b="0" i="0" sz="1100" u="none" cap="none" strike="noStrike">
              <a:solidFill>
                <a:schemeClr val="dk1"/>
              </a:solidFill>
              <a:latin typeface="Calibri"/>
              <a:ea typeface="Calibri"/>
              <a:cs typeface="Calibri"/>
              <a:sym typeface="Calibri"/>
            </a:endParaRPr>
          </a:p>
        </p:txBody>
      </p:sp>
      <p:sp>
        <p:nvSpPr>
          <p:cNvPr id="710" name="Google Shape;710;p26"/>
          <p:cNvSpPr/>
          <p:nvPr/>
        </p:nvSpPr>
        <p:spPr>
          <a:xfrm>
            <a:off x="7589520" y="3611880"/>
            <a:ext cx="64008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00"/>
              <a:buFont typeface="Consolas"/>
              <a:buNone/>
            </a:pPr>
            <a:r>
              <a:rPr b="0" i="0" lang="en-US" sz="900" u="none" cap="none" strike="noStrike">
                <a:solidFill>
                  <a:srgbClr val="27AE60"/>
                </a:solidFill>
                <a:latin typeface="Consolas"/>
                <a:ea typeface="Consolas"/>
                <a:cs typeface="Consolas"/>
                <a:sym typeface="Consolas"/>
              </a:rPr>
              <a:t>+34%</a:t>
            </a:r>
            <a:endParaRPr b="0" i="0" sz="900" u="none" cap="none" strike="noStrike">
              <a:solidFill>
                <a:schemeClr val="dk1"/>
              </a:solidFill>
              <a:latin typeface="Calibri"/>
              <a:ea typeface="Calibri"/>
              <a:cs typeface="Calibri"/>
              <a:sym typeface="Calibri"/>
            </a:endParaRPr>
          </a:p>
        </p:txBody>
      </p:sp>
      <p:sp>
        <p:nvSpPr>
          <p:cNvPr id="711" name="Google Shape;711;p26"/>
          <p:cNvSpPr txBox="1"/>
          <p:nvPr/>
        </p:nvSpPr>
        <p:spPr>
          <a:xfrm>
            <a:off x="81700" y="4754875"/>
            <a:ext cx="662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accent3"/>
                </a:solidFill>
              </a:rPr>
              <a:t>1.MemPalace, 2.MemPalace (AAAK), 3. Observational Memory, 4. Zep, 5. Mem0, 6.RAG</a:t>
            </a:r>
            <a:endParaRPr sz="900">
              <a:solidFill>
                <a:schemeClr val="accent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id="717" name="Google Shape;717;p27"/>
          <p:cNvPicPr preferRelativeResize="0"/>
          <p:nvPr/>
        </p:nvPicPr>
        <p:blipFill>
          <a:blip r:embed="rId3">
            <a:alphaModFix/>
          </a:blip>
          <a:stretch>
            <a:fillRect/>
          </a:stretch>
        </p:blipFill>
        <p:spPr>
          <a:xfrm>
            <a:off x="1887499" y="792925"/>
            <a:ext cx="4971550" cy="2462500"/>
          </a:xfrm>
          <a:prstGeom prst="rect">
            <a:avLst/>
          </a:prstGeom>
          <a:noFill/>
          <a:ln>
            <a:noFill/>
          </a:ln>
        </p:spPr>
      </p:pic>
      <p:pic>
        <p:nvPicPr>
          <p:cNvPr id="718" name="Google Shape;718;p27"/>
          <p:cNvPicPr preferRelativeResize="0"/>
          <p:nvPr/>
        </p:nvPicPr>
        <p:blipFill>
          <a:blip r:embed="rId4">
            <a:alphaModFix/>
          </a:blip>
          <a:stretch>
            <a:fillRect/>
          </a:stretch>
        </p:blipFill>
        <p:spPr>
          <a:xfrm>
            <a:off x="1849900" y="3316892"/>
            <a:ext cx="5046750" cy="1632783"/>
          </a:xfrm>
          <a:prstGeom prst="rect">
            <a:avLst/>
          </a:prstGeom>
          <a:noFill/>
          <a:ln>
            <a:noFill/>
          </a:ln>
        </p:spPr>
      </p:pic>
      <p:sp>
        <p:nvSpPr>
          <p:cNvPr id="719" name="Google Shape;719;p27"/>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7"/>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721" name="Google Shape;721;p27"/>
          <p:cNvSpPr/>
          <p:nvPr/>
        </p:nvSpPr>
        <p:spPr>
          <a:xfrm>
            <a:off x="1005840" y="13716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Die Kontroverse</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6" name="Shape 726"/>
        <p:cNvGrpSpPr/>
        <p:nvPr/>
      </p:nvGrpSpPr>
      <p:grpSpPr>
        <a:xfrm>
          <a:off x="0" y="0"/>
          <a:ext cx="0" cy="0"/>
          <a:chOff x="0" y="0"/>
          <a:chExt cx="0" cy="0"/>
        </a:xfrm>
      </p:grpSpPr>
      <p:sp>
        <p:nvSpPr>
          <p:cNvPr id="727" name="Google Shape;727;p28"/>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8"/>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729" name="Google Shape;729;p28"/>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Die Kontroverse</a:t>
            </a:r>
            <a:endParaRPr b="0" i="0" sz="2800" u="none" cap="none" strike="noStrike">
              <a:solidFill>
                <a:schemeClr val="dk1"/>
              </a:solidFill>
              <a:latin typeface="Calibri"/>
              <a:ea typeface="Calibri"/>
              <a:cs typeface="Calibri"/>
              <a:sym typeface="Calibri"/>
            </a:endParaRPr>
          </a:p>
        </p:txBody>
      </p:sp>
      <p:sp>
        <p:nvSpPr>
          <p:cNvPr id="730" name="Google Shape;730;p28"/>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"Note from Milla &amp; Ben" — 7. April 2026</a:t>
            </a:r>
            <a:endParaRPr b="0" i="0" sz="1200" u="none" cap="none" strike="noStrike">
              <a:solidFill>
                <a:schemeClr val="dk1"/>
              </a:solidFill>
              <a:latin typeface="Calibri"/>
              <a:ea typeface="Calibri"/>
              <a:cs typeface="Calibri"/>
              <a:sym typeface="Calibri"/>
            </a:endParaRPr>
          </a:p>
        </p:txBody>
      </p:sp>
      <p:sp>
        <p:nvSpPr>
          <p:cNvPr id="731" name="Google Shape;731;p28"/>
          <p:cNvSpPr/>
          <p:nvPr/>
        </p:nvSpPr>
        <p:spPr>
          <a:xfrm>
            <a:off x="457200" y="1097280"/>
            <a:ext cx="3931920" cy="3474720"/>
          </a:xfrm>
          <a:prstGeom prst="rect">
            <a:avLst/>
          </a:prstGeom>
          <a:solidFill>
            <a:srgbClr val="F4F6F8"/>
          </a:solidFill>
          <a:ln cap="flat" cmpd="sng" w="9525">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2" name="Google Shape;732;p28"/>
          <p:cNvPicPr preferRelativeResize="0"/>
          <p:nvPr/>
        </p:nvPicPr>
        <p:blipFill rotWithShape="1">
          <a:blip r:embed="rId3">
            <a:alphaModFix/>
          </a:blip>
          <a:srcRect b="0" l="0" r="0" t="0"/>
          <a:stretch/>
        </p:blipFill>
        <p:spPr>
          <a:xfrm>
            <a:off x="640080" y="1234440"/>
            <a:ext cx="274320" cy="274320"/>
          </a:xfrm>
          <a:prstGeom prst="rect">
            <a:avLst/>
          </a:prstGeom>
          <a:noFill/>
          <a:ln>
            <a:noFill/>
          </a:ln>
        </p:spPr>
      </p:pic>
      <p:sp>
        <p:nvSpPr>
          <p:cNvPr id="733" name="Google Shape;733;p28"/>
          <p:cNvSpPr/>
          <p:nvPr/>
        </p:nvSpPr>
        <p:spPr>
          <a:xfrm>
            <a:off x="1005840" y="123444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Georgia"/>
              <a:buNone/>
            </a:pPr>
            <a:r>
              <a:rPr b="1" i="0" lang="en-US" sz="1400" u="none" cap="none" strike="noStrike">
                <a:solidFill>
                  <a:srgbClr val="E74C3C"/>
                </a:solidFill>
                <a:latin typeface="Georgia"/>
                <a:ea typeface="Georgia"/>
                <a:cs typeface="Georgia"/>
                <a:sym typeface="Georgia"/>
              </a:rPr>
              <a:t>Was falsch war</a:t>
            </a:r>
            <a:endParaRPr b="0" i="0" sz="1400" u="none" cap="none" strike="noStrike">
              <a:solidFill>
                <a:schemeClr val="dk1"/>
              </a:solidFill>
              <a:latin typeface="Calibri"/>
              <a:ea typeface="Calibri"/>
              <a:cs typeface="Calibri"/>
              <a:sym typeface="Calibri"/>
            </a:endParaRPr>
          </a:p>
        </p:txBody>
      </p:sp>
      <p:sp>
        <p:nvSpPr>
          <p:cNvPr id="734" name="Google Shape;734;p28"/>
          <p:cNvSpPr/>
          <p:nvPr/>
        </p:nvSpPr>
        <p:spPr>
          <a:xfrm>
            <a:off x="640080" y="164592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"30x lossless" → tatsächlich lossy (84,2% vs. 96,6%)</a:t>
            </a:r>
            <a:endParaRPr b="0" i="0" sz="1000" u="none" cap="none" strike="noStrike">
              <a:solidFill>
                <a:schemeClr val="dk1"/>
              </a:solidFill>
              <a:latin typeface="Calibri"/>
              <a:ea typeface="Calibri"/>
              <a:cs typeface="Calibri"/>
              <a:sym typeface="Calibri"/>
            </a:endParaRPr>
          </a:p>
        </p:txBody>
      </p:sp>
      <p:sp>
        <p:nvSpPr>
          <p:cNvPr id="735" name="Google Shape;735;p28"/>
          <p:cNvSpPr/>
          <p:nvPr/>
        </p:nvSpPr>
        <p:spPr>
          <a:xfrm>
            <a:off x="640080" y="214884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Token-Zählung: len(text)//3 statt Tokenizer</a:t>
            </a:r>
            <a:endParaRPr b="0" i="0" sz="1000" u="none" cap="none" strike="noStrike">
              <a:solidFill>
                <a:schemeClr val="dk1"/>
              </a:solidFill>
              <a:latin typeface="Calibri"/>
              <a:ea typeface="Calibri"/>
              <a:cs typeface="Calibri"/>
              <a:sym typeface="Calibri"/>
            </a:endParaRPr>
          </a:p>
        </p:txBody>
      </p:sp>
      <p:sp>
        <p:nvSpPr>
          <p:cNvPr id="736" name="Google Shape;736;p28"/>
          <p:cNvSpPr/>
          <p:nvPr/>
        </p:nvSpPr>
        <p:spPr>
          <a:xfrm>
            <a:off x="640080" y="265176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"+34% Palace Boost" → Standard Metadata-Filtering</a:t>
            </a:r>
            <a:endParaRPr b="0" i="0" sz="1000" u="none" cap="none" strike="noStrike">
              <a:solidFill>
                <a:schemeClr val="dk1"/>
              </a:solidFill>
              <a:latin typeface="Calibri"/>
              <a:ea typeface="Calibri"/>
              <a:cs typeface="Calibri"/>
              <a:sym typeface="Calibri"/>
            </a:endParaRPr>
          </a:p>
        </p:txBody>
      </p:sp>
      <p:sp>
        <p:nvSpPr>
          <p:cNvPr id="737" name="Google Shape;737;p28"/>
          <p:cNvSpPr/>
          <p:nvPr/>
        </p:nvSpPr>
        <p:spPr>
          <a:xfrm>
            <a:off x="640080" y="315468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Contradiction Detection nicht eingebunden</a:t>
            </a:r>
            <a:endParaRPr b="0" i="0" sz="1000" u="none" cap="none" strike="noStrike">
              <a:solidFill>
                <a:schemeClr val="dk1"/>
              </a:solidFill>
              <a:latin typeface="Calibri"/>
              <a:ea typeface="Calibri"/>
              <a:cs typeface="Calibri"/>
              <a:sym typeface="Calibri"/>
            </a:endParaRPr>
          </a:p>
        </p:txBody>
      </p:sp>
      <p:sp>
        <p:nvSpPr>
          <p:cNvPr id="738" name="Google Shape;738;p28"/>
          <p:cNvSpPr/>
          <p:nvPr/>
        </p:nvSpPr>
        <p:spPr>
          <a:xfrm>
            <a:off x="640080" y="365760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100% Rerank nicht in Public Scripts</a:t>
            </a:r>
            <a:endParaRPr b="0" i="0" sz="1000" u="none" cap="none" strike="noStrike">
              <a:solidFill>
                <a:schemeClr val="dk1"/>
              </a:solidFill>
              <a:latin typeface="Calibri"/>
              <a:ea typeface="Calibri"/>
              <a:cs typeface="Calibri"/>
              <a:sym typeface="Calibri"/>
            </a:endParaRPr>
          </a:p>
        </p:txBody>
      </p:sp>
      <p:sp>
        <p:nvSpPr>
          <p:cNvPr id="739" name="Google Shape;739;p28"/>
          <p:cNvSpPr/>
          <p:nvPr/>
        </p:nvSpPr>
        <p:spPr>
          <a:xfrm>
            <a:off x="4754880" y="1097280"/>
            <a:ext cx="3931920" cy="3474720"/>
          </a:xfrm>
          <a:prstGeom prst="rect">
            <a:avLst/>
          </a:prstGeom>
          <a:solidFill>
            <a:srgbClr val="F4F6F8"/>
          </a:solidFill>
          <a:ln cap="flat" cmpd="sng" w="9525">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0" name="Google Shape;740;p28"/>
          <p:cNvPicPr preferRelativeResize="0"/>
          <p:nvPr/>
        </p:nvPicPr>
        <p:blipFill rotWithShape="1">
          <a:blip r:embed="rId4">
            <a:alphaModFix/>
          </a:blip>
          <a:srcRect b="0" l="0" r="0" t="0"/>
          <a:stretch/>
        </p:blipFill>
        <p:spPr>
          <a:xfrm>
            <a:off x="4937760" y="1234440"/>
            <a:ext cx="274320" cy="274320"/>
          </a:xfrm>
          <a:prstGeom prst="rect">
            <a:avLst/>
          </a:prstGeom>
          <a:noFill/>
          <a:ln>
            <a:noFill/>
          </a:ln>
        </p:spPr>
      </p:pic>
      <p:sp>
        <p:nvSpPr>
          <p:cNvPr id="741" name="Google Shape;741;p28"/>
          <p:cNvSpPr/>
          <p:nvPr/>
        </p:nvSpPr>
        <p:spPr>
          <a:xfrm>
            <a:off x="5303520" y="123444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Georgia"/>
              <a:buNone/>
            </a:pPr>
            <a:r>
              <a:rPr b="1" i="0" lang="en-US" sz="1400" u="none" cap="none" strike="noStrike">
                <a:solidFill>
                  <a:srgbClr val="27AE60"/>
                </a:solidFill>
                <a:latin typeface="Georgia"/>
                <a:ea typeface="Georgia"/>
                <a:cs typeface="Georgia"/>
                <a:sym typeface="Georgia"/>
              </a:rPr>
              <a:t>Was stimmt</a:t>
            </a:r>
            <a:endParaRPr b="0" i="0" sz="1400" u="none" cap="none" strike="noStrike">
              <a:solidFill>
                <a:schemeClr val="dk1"/>
              </a:solidFill>
              <a:latin typeface="Calibri"/>
              <a:ea typeface="Calibri"/>
              <a:cs typeface="Calibri"/>
              <a:sym typeface="Calibri"/>
            </a:endParaRPr>
          </a:p>
        </p:txBody>
      </p:sp>
      <p:sp>
        <p:nvSpPr>
          <p:cNvPr id="742" name="Google Shape;742;p28"/>
          <p:cNvSpPr/>
          <p:nvPr/>
        </p:nvSpPr>
        <p:spPr>
          <a:xfrm>
            <a:off x="4937760" y="164592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96,6% R@5, 500 Fragen, zero API calls</a:t>
            </a:r>
            <a:endParaRPr b="0" i="0" sz="1000" u="none" cap="none" strike="noStrike">
              <a:solidFill>
                <a:schemeClr val="dk1"/>
              </a:solidFill>
              <a:latin typeface="Calibri"/>
              <a:ea typeface="Calibri"/>
              <a:cs typeface="Calibri"/>
              <a:sym typeface="Calibri"/>
            </a:endParaRPr>
          </a:p>
        </p:txBody>
      </p:sp>
      <p:sp>
        <p:nvSpPr>
          <p:cNvPr id="743" name="Google Shape;743;p28"/>
          <p:cNvSpPr/>
          <p:nvPr/>
        </p:nvSpPr>
        <p:spPr>
          <a:xfrm>
            <a:off x="4937760" y="214884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Unabhängig reproduziert (M2 Ultra, &lt;5 min)</a:t>
            </a:r>
            <a:endParaRPr b="0" i="0" sz="1000" u="none" cap="none" strike="noStrike">
              <a:solidFill>
                <a:schemeClr val="dk1"/>
              </a:solidFill>
              <a:latin typeface="Calibri"/>
              <a:ea typeface="Calibri"/>
              <a:cs typeface="Calibri"/>
              <a:sym typeface="Calibri"/>
            </a:endParaRPr>
          </a:p>
        </p:txBody>
      </p:sp>
      <p:sp>
        <p:nvSpPr>
          <p:cNvPr id="744" name="Google Shape;744;p28"/>
          <p:cNvSpPr/>
          <p:nvPr/>
        </p:nvSpPr>
        <p:spPr>
          <a:xfrm>
            <a:off x="4937760" y="265176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100% lokal, kostenlos, keine Cloud</a:t>
            </a:r>
            <a:endParaRPr b="0" i="0" sz="1000" u="none" cap="none" strike="noStrike">
              <a:solidFill>
                <a:schemeClr val="dk1"/>
              </a:solidFill>
              <a:latin typeface="Calibri"/>
              <a:ea typeface="Calibri"/>
              <a:cs typeface="Calibri"/>
              <a:sym typeface="Calibri"/>
            </a:endParaRPr>
          </a:p>
        </p:txBody>
      </p:sp>
      <p:sp>
        <p:nvSpPr>
          <p:cNvPr id="745" name="Google Shape;745;p28"/>
          <p:cNvSpPr/>
          <p:nvPr/>
        </p:nvSpPr>
        <p:spPr>
          <a:xfrm>
            <a:off x="4937760" y="315468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Architektur real und funktional</a:t>
            </a:r>
            <a:endParaRPr b="0" i="0" sz="1000" u="none" cap="none" strike="noStrike">
              <a:solidFill>
                <a:schemeClr val="dk1"/>
              </a:solidFill>
              <a:latin typeface="Calibri"/>
              <a:ea typeface="Calibri"/>
              <a:cs typeface="Calibri"/>
              <a:sym typeface="Calibri"/>
            </a:endParaRPr>
          </a:p>
        </p:txBody>
      </p:sp>
      <p:sp>
        <p:nvSpPr>
          <p:cNvPr id="746" name="Google Shape;746;p28"/>
          <p:cNvSpPr/>
          <p:nvPr/>
        </p:nvSpPr>
        <p:spPr>
          <a:xfrm>
            <a:off x="4937760" y="365760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000"/>
              <a:buFont typeface="Calibri"/>
              <a:buNone/>
            </a:pPr>
            <a:r>
              <a:rPr b="0" i="0" lang="en-US" sz="1000" u="none" cap="none" strike="noStrike">
                <a:solidFill>
                  <a:srgbClr val="1C2833"/>
                </a:solidFill>
                <a:latin typeface="Calibri"/>
                <a:ea typeface="Calibri"/>
                <a:cs typeface="Calibri"/>
                <a:sym typeface="Calibri"/>
              </a:rPr>
              <a:t>Öffentliche Selbstkorrektur nach 48h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1" name="Shape 751"/>
        <p:cNvGrpSpPr/>
        <p:nvPr/>
      </p:nvGrpSpPr>
      <p:grpSpPr>
        <a:xfrm>
          <a:off x="0" y="0"/>
          <a:ext cx="0" cy="0"/>
          <a:chOff x="0" y="0"/>
          <a:chExt cx="0" cy="0"/>
        </a:xfrm>
      </p:grpSpPr>
      <p:sp>
        <p:nvSpPr>
          <p:cNvPr id="752" name="Google Shape;752;p29"/>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9"/>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754" name="Google Shape;754;p29"/>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Debatte</a:t>
            </a:r>
            <a:endParaRPr b="0" i="0" sz="2800" u="none" cap="none" strike="noStrike">
              <a:solidFill>
                <a:schemeClr val="dk1"/>
              </a:solidFill>
              <a:latin typeface="Calibri"/>
              <a:ea typeface="Calibri"/>
              <a:cs typeface="Calibri"/>
              <a:sym typeface="Calibri"/>
            </a:endParaRPr>
          </a:p>
        </p:txBody>
      </p:sp>
      <p:sp>
        <p:nvSpPr>
          <p:cNvPr id="755" name="Google Shape;755;p29"/>
          <p:cNvSpPr/>
          <p:nvPr/>
        </p:nvSpPr>
        <p:spPr>
          <a:xfrm>
            <a:off x="1005840" y="73152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5929E"/>
              </a:buClr>
              <a:buSzPts val="1200"/>
              <a:buFont typeface="Calibri"/>
              <a:buNone/>
            </a:pPr>
            <a:r>
              <a:rPr b="0" i="0" lang="en-US" sz="1200" u="none" cap="none" strike="noStrike">
                <a:solidFill>
                  <a:srgbClr val="85929E"/>
                </a:solidFill>
                <a:latin typeface="Calibri"/>
                <a:ea typeface="Calibri"/>
                <a:cs typeface="Calibri"/>
                <a:sym typeface="Calibri"/>
              </a:rPr>
              <a:t>Raum teilen: Seite A vs. Seite B</a:t>
            </a:r>
            <a:endParaRPr b="0" i="0" sz="1200" u="none" cap="none" strike="noStrike">
              <a:solidFill>
                <a:schemeClr val="dk1"/>
              </a:solidFill>
              <a:latin typeface="Calibri"/>
              <a:ea typeface="Calibri"/>
              <a:cs typeface="Calibri"/>
              <a:sym typeface="Calibri"/>
            </a:endParaRPr>
          </a:p>
        </p:txBody>
      </p:sp>
      <p:sp>
        <p:nvSpPr>
          <p:cNvPr id="756" name="Google Shape;756;p29"/>
          <p:cNvSpPr/>
          <p:nvPr/>
        </p:nvSpPr>
        <p:spPr>
          <a:xfrm>
            <a:off x="457200" y="1097280"/>
            <a:ext cx="3931920" cy="2560320"/>
          </a:xfrm>
          <a:prstGeom prst="rect">
            <a:avLst/>
          </a:prstGeom>
          <a:solidFill>
            <a:srgbClr val="E74C3C">
              <a:alpha val="5882"/>
            </a:srgbClr>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9"/>
          <p:cNvSpPr/>
          <p:nvPr/>
        </p:nvSpPr>
        <p:spPr>
          <a:xfrm>
            <a:off x="640080" y="1188720"/>
            <a:ext cx="914400" cy="256032"/>
          </a:xfrm>
          <a:prstGeom prst="rect">
            <a:avLst/>
          </a:prstGeom>
          <a:solidFill>
            <a:srgbClr val="E74C3C"/>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SEITE A</a:t>
            </a:r>
            <a:endParaRPr b="0" i="0" sz="1000" u="none" cap="none" strike="noStrike">
              <a:solidFill>
                <a:schemeClr val="dk1"/>
              </a:solidFill>
              <a:latin typeface="Calibri"/>
              <a:ea typeface="Calibri"/>
              <a:cs typeface="Calibri"/>
              <a:sym typeface="Calibri"/>
            </a:endParaRPr>
          </a:p>
        </p:txBody>
      </p:sp>
      <p:sp>
        <p:nvSpPr>
          <p:cNvPr id="758" name="Google Shape;758;p29"/>
          <p:cNvSpPr/>
          <p:nvPr/>
        </p:nvSpPr>
        <p:spPr>
          <a:xfrm>
            <a:off x="640080" y="16459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Georgia"/>
              <a:buNone/>
            </a:pPr>
            <a:r>
              <a:rPr b="1" i="0" lang="en-US" sz="1400" u="none" cap="none" strike="noStrike">
                <a:solidFill>
                  <a:srgbClr val="E74C3C"/>
                </a:solidFill>
                <a:latin typeface="Georgia"/>
                <a:ea typeface="Georgia"/>
                <a:cs typeface="Georgia"/>
                <a:sym typeface="Georgia"/>
              </a:rPr>
              <a:t>"Die Claims waren SOTA-Betrug"</a:t>
            </a:r>
            <a:endParaRPr b="0" i="0" sz="1400" u="none" cap="none" strike="noStrike">
              <a:solidFill>
                <a:schemeClr val="dk1"/>
              </a:solidFill>
              <a:latin typeface="Calibri"/>
              <a:ea typeface="Calibri"/>
              <a:cs typeface="Calibri"/>
              <a:sym typeface="Calibri"/>
            </a:endParaRPr>
          </a:p>
        </p:txBody>
      </p:sp>
      <p:sp>
        <p:nvSpPr>
          <p:cNvPr id="759" name="Google Shape;759;p29"/>
          <p:cNvSpPr/>
          <p:nvPr/>
        </p:nvSpPr>
        <p:spPr>
          <a:xfrm>
            <a:off x="640080" y="210312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Die Übertreibung im README disqualifiziert die wissenschaftliche Aussage. Prominente Namen machen es schlimmer — normale Forscher müssten sich dafür rechtfertigen.</a:t>
            </a:r>
            <a:endParaRPr b="0" i="0" sz="1100" u="none" cap="none" strike="noStrike">
              <a:solidFill>
                <a:schemeClr val="dk1"/>
              </a:solidFill>
              <a:latin typeface="Calibri"/>
              <a:ea typeface="Calibri"/>
              <a:cs typeface="Calibri"/>
              <a:sym typeface="Calibri"/>
            </a:endParaRPr>
          </a:p>
        </p:txBody>
      </p:sp>
      <p:sp>
        <p:nvSpPr>
          <p:cNvPr id="760" name="Google Shape;760;p29"/>
          <p:cNvSpPr/>
          <p:nvPr/>
        </p:nvSpPr>
        <p:spPr>
          <a:xfrm>
            <a:off x="4754880" y="1097280"/>
            <a:ext cx="3931920" cy="2560320"/>
          </a:xfrm>
          <a:prstGeom prst="rect">
            <a:avLst/>
          </a:prstGeom>
          <a:solidFill>
            <a:srgbClr val="27AE60">
              <a:alpha val="5882"/>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9"/>
          <p:cNvSpPr/>
          <p:nvPr/>
        </p:nvSpPr>
        <p:spPr>
          <a:xfrm>
            <a:off x="4937760" y="1188720"/>
            <a:ext cx="914400" cy="256032"/>
          </a:xfrm>
          <a:prstGeom prst="rect">
            <a:avLst/>
          </a:prstGeom>
          <a:solidFill>
            <a:srgbClr val="27AE6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onsolas"/>
              <a:buNone/>
            </a:pPr>
            <a:r>
              <a:rPr b="1" i="0" lang="en-US" sz="1000" u="none" cap="none" strike="noStrike">
                <a:solidFill>
                  <a:srgbClr val="FFFFFF"/>
                </a:solidFill>
                <a:latin typeface="Consolas"/>
                <a:ea typeface="Consolas"/>
                <a:cs typeface="Consolas"/>
                <a:sym typeface="Consolas"/>
              </a:rPr>
              <a:t>SEITE B</a:t>
            </a:r>
            <a:endParaRPr b="0" i="0" sz="1000" u="none" cap="none" strike="noStrike">
              <a:solidFill>
                <a:schemeClr val="dk1"/>
              </a:solidFill>
              <a:latin typeface="Calibri"/>
              <a:ea typeface="Calibri"/>
              <a:cs typeface="Calibri"/>
              <a:sym typeface="Calibri"/>
            </a:endParaRPr>
          </a:p>
        </p:txBody>
      </p:sp>
      <p:sp>
        <p:nvSpPr>
          <p:cNvPr id="762" name="Google Shape;762;p29"/>
          <p:cNvSpPr/>
          <p:nvPr/>
        </p:nvSpPr>
        <p:spPr>
          <a:xfrm>
            <a:off x="4937760" y="16459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Georgia"/>
              <a:buNone/>
            </a:pPr>
            <a:r>
              <a:rPr b="1" i="0" lang="en-US" sz="1400" u="none" cap="none" strike="noStrike">
                <a:solidFill>
                  <a:srgbClr val="27AE60"/>
                </a:solidFill>
                <a:latin typeface="Georgia"/>
                <a:ea typeface="Georgia"/>
                <a:cs typeface="Georgia"/>
                <a:sym typeface="Georgia"/>
              </a:rPr>
              <a:t>"Open Science in Echtzeit"</a:t>
            </a:r>
            <a:endParaRPr b="0" i="0" sz="1400" u="none" cap="none" strike="noStrike">
              <a:solidFill>
                <a:schemeClr val="dk1"/>
              </a:solidFill>
              <a:latin typeface="Calibri"/>
              <a:ea typeface="Calibri"/>
              <a:cs typeface="Calibri"/>
              <a:sym typeface="Calibri"/>
            </a:endParaRPr>
          </a:p>
        </p:txBody>
      </p:sp>
      <p:sp>
        <p:nvSpPr>
          <p:cNvPr id="763" name="Google Shape;763;p29"/>
          <p:cNvSpPr/>
          <p:nvPr/>
        </p:nvSpPr>
        <p:spPr>
          <a:xfrm>
            <a:off x="4937760" y="210312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Community hat Issues gefiled, Autoren haben in 48h korrigiert. Schneller als Peer Review. Der 96,6%-Score ist reproduzierbar.</a:t>
            </a:r>
            <a:endParaRPr b="0" i="0" sz="1100" u="none" cap="none" strike="noStrike">
              <a:solidFill>
                <a:schemeClr val="dk1"/>
              </a:solidFill>
              <a:latin typeface="Calibri"/>
              <a:ea typeface="Calibri"/>
              <a:cs typeface="Calibri"/>
              <a:sym typeface="Calibri"/>
            </a:endParaRPr>
          </a:p>
        </p:txBody>
      </p:sp>
      <p:sp>
        <p:nvSpPr>
          <p:cNvPr id="764" name="Google Shape;764;p29"/>
          <p:cNvSpPr/>
          <p:nvPr/>
        </p:nvSpPr>
        <p:spPr>
          <a:xfrm>
            <a:off x="457200" y="3931920"/>
            <a:ext cx="8229600" cy="640080"/>
          </a:xfrm>
          <a:prstGeom prst="rect">
            <a:avLst/>
          </a:prstGeom>
          <a:solidFill>
            <a:srgbClr val="EEF2F7"/>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9"/>
          <p:cNvSpPr/>
          <p:nvPr/>
        </p:nvSpPr>
        <p:spPr>
          <a:xfrm>
            <a:off x="731520" y="4023360"/>
            <a:ext cx="7772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833"/>
              </a:buClr>
              <a:buSzPts val="1300"/>
              <a:buFont typeface="Georgia"/>
              <a:buNone/>
            </a:pPr>
            <a:r>
              <a:rPr b="0" i="0" lang="en-US" sz="1300" u="none" cap="none" strike="noStrike">
                <a:solidFill>
                  <a:srgbClr val="1C2833"/>
                </a:solidFill>
                <a:latin typeface="Georgia"/>
                <a:ea typeface="Georgia"/>
                <a:cs typeface="Georgia"/>
                <a:sym typeface="Georgia"/>
              </a:rPr>
              <a:t>5 min Diskussion in den Hälften  →  5 min Austausch im Plenum</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0" name="Shape 770"/>
        <p:cNvGrpSpPr/>
        <p:nvPr/>
      </p:nvGrpSpPr>
      <p:grpSpPr>
        <a:xfrm>
          <a:off x="0" y="0"/>
          <a:ext cx="0" cy="0"/>
          <a:chOff x="0" y="0"/>
          <a:chExt cx="0" cy="0"/>
        </a:xfrm>
      </p:grpSpPr>
      <p:sp>
        <p:nvSpPr>
          <p:cNvPr id="771" name="Google Shape;771;p30"/>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0"/>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Q</a:t>
            </a:r>
            <a:endParaRPr b="0" i="0" sz="1600" u="none" cap="none" strike="noStrike">
              <a:solidFill>
                <a:schemeClr val="dk1"/>
              </a:solidFill>
              <a:latin typeface="Calibri"/>
              <a:ea typeface="Calibri"/>
              <a:cs typeface="Calibri"/>
              <a:sym typeface="Calibri"/>
            </a:endParaRPr>
          </a:p>
        </p:txBody>
      </p:sp>
      <p:sp>
        <p:nvSpPr>
          <p:cNvPr id="773" name="Google Shape;773;p30"/>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Quiz: 10 Fragen</a:t>
            </a:r>
            <a:endParaRPr b="0" i="0" sz="2800" u="none" cap="none" strike="noStrike">
              <a:solidFill>
                <a:schemeClr val="dk1"/>
              </a:solidFill>
              <a:latin typeface="Calibri"/>
              <a:ea typeface="Calibri"/>
              <a:cs typeface="Calibri"/>
              <a:sym typeface="Calibri"/>
            </a:endParaRPr>
          </a:p>
        </p:txBody>
      </p:sp>
      <p:sp>
        <p:nvSpPr>
          <p:cNvPr id="774" name="Google Shape;774;p30"/>
          <p:cNvSpPr/>
          <p:nvPr/>
        </p:nvSpPr>
        <p:spPr>
          <a:xfrm>
            <a:off x="457200" y="114300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775" name="Google Shape;775;p30"/>
          <p:cNvSpPr/>
          <p:nvPr/>
        </p:nvSpPr>
        <p:spPr>
          <a:xfrm>
            <a:off x="914400" y="114300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Welche Datenbank für Verbatim-Storage?</a:t>
            </a:r>
            <a:endParaRPr b="0" i="0" sz="1100" u="none" cap="none" strike="noStrike">
              <a:solidFill>
                <a:schemeClr val="dk1"/>
              </a:solidFill>
              <a:latin typeface="Calibri"/>
              <a:ea typeface="Calibri"/>
              <a:cs typeface="Calibri"/>
              <a:sym typeface="Calibri"/>
            </a:endParaRPr>
          </a:p>
        </p:txBody>
      </p:sp>
      <p:sp>
        <p:nvSpPr>
          <p:cNvPr id="776" name="Google Shape;776;p30"/>
          <p:cNvSpPr/>
          <p:nvPr/>
        </p:nvSpPr>
        <p:spPr>
          <a:xfrm>
            <a:off x="457200" y="18745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777" name="Google Shape;777;p30"/>
          <p:cNvSpPr/>
          <p:nvPr/>
        </p:nvSpPr>
        <p:spPr>
          <a:xfrm>
            <a:off x="914400" y="18745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Hall vs. Tunnel — Unterschied?</a:t>
            </a:r>
            <a:endParaRPr b="0" i="0" sz="1100" u="none" cap="none" strike="noStrike">
              <a:solidFill>
                <a:schemeClr val="dk1"/>
              </a:solidFill>
              <a:latin typeface="Calibri"/>
              <a:ea typeface="Calibri"/>
              <a:cs typeface="Calibri"/>
              <a:sym typeface="Calibri"/>
            </a:endParaRPr>
          </a:p>
        </p:txBody>
      </p:sp>
      <p:sp>
        <p:nvSpPr>
          <p:cNvPr id="778" name="Google Shape;778;p30"/>
          <p:cNvSpPr/>
          <p:nvPr/>
        </p:nvSpPr>
        <p:spPr>
          <a:xfrm>
            <a:off x="457200" y="26060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779" name="Google Shape;779;p30"/>
          <p:cNvSpPr/>
          <p:nvPr/>
        </p:nvSpPr>
        <p:spPr>
          <a:xfrm>
            <a:off x="914400" y="260604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Wie viele Tokens beim Wake-up (L0+L1)?</a:t>
            </a:r>
            <a:endParaRPr b="0" i="0" sz="1100" u="none" cap="none" strike="noStrike">
              <a:solidFill>
                <a:schemeClr val="dk1"/>
              </a:solidFill>
              <a:latin typeface="Calibri"/>
              <a:ea typeface="Calibri"/>
              <a:cs typeface="Calibri"/>
              <a:sym typeface="Calibri"/>
            </a:endParaRPr>
          </a:p>
        </p:txBody>
      </p:sp>
      <p:sp>
        <p:nvSpPr>
          <p:cNvPr id="780" name="Google Shape;780;p30"/>
          <p:cNvSpPr/>
          <p:nvPr/>
        </p:nvSpPr>
        <p:spPr>
          <a:xfrm>
            <a:off x="457200" y="33375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781" name="Google Shape;781;p30"/>
          <p:cNvSpPr/>
          <p:nvPr/>
        </p:nvSpPr>
        <p:spPr>
          <a:xfrm>
            <a:off x="914400" y="333756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MemPalace Raw-Score auf LongMemEval R@5?</a:t>
            </a:r>
            <a:endParaRPr b="0" i="0" sz="1100" u="none" cap="none" strike="noStrike">
              <a:solidFill>
                <a:schemeClr val="dk1"/>
              </a:solidFill>
              <a:latin typeface="Calibri"/>
              <a:ea typeface="Calibri"/>
              <a:cs typeface="Calibri"/>
              <a:sym typeface="Calibri"/>
            </a:endParaRPr>
          </a:p>
        </p:txBody>
      </p:sp>
      <p:sp>
        <p:nvSpPr>
          <p:cNvPr id="782" name="Google Shape;782;p30"/>
          <p:cNvSpPr/>
          <p:nvPr/>
        </p:nvSpPr>
        <p:spPr>
          <a:xfrm>
            <a:off x="457200" y="40690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783" name="Google Shape;783;p30"/>
          <p:cNvSpPr/>
          <p:nvPr/>
        </p:nvSpPr>
        <p:spPr>
          <a:xfrm>
            <a:off x="914400" y="406908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Welcher Claim wurde am 7.4. zurückgezogen?</a:t>
            </a:r>
            <a:endParaRPr b="0" i="0" sz="1100" u="none" cap="none" strike="noStrike">
              <a:solidFill>
                <a:schemeClr val="dk1"/>
              </a:solidFill>
              <a:latin typeface="Calibri"/>
              <a:ea typeface="Calibri"/>
              <a:cs typeface="Calibri"/>
              <a:sym typeface="Calibri"/>
            </a:endParaRPr>
          </a:p>
        </p:txBody>
      </p:sp>
      <p:sp>
        <p:nvSpPr>
          <p:cNvPr id="784" name="Google Shape;784;p30"/>
          <p:cNvSpPr/>
          <p:nvPr/>
        </p:nvSpPr>
        <p:spPr>
          <a:xfrm>
            <a:off x="4754880" y="114300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6</a:t>
            </a:r>
            <a:endParaRPr b="0" i="0" sz="1400" u="none" cap="none" strike="noStrike">
              <a:solidFill>
                <a:schemeClr val="dk1"/>
              </a:solidFill>
              <a:latin typeface="Calibri"/>
              <a:ea typeface="Calibri"/>
              <a:cs typeface="Calibri"/>
              <a:sym typeface="Calibri"/>
            </a:endParaRPr>
          </a:p>
        </p:txBody>
      </p:sp>
      <p:sp>
        <p:nvSpPr>
          <p:cNvPr id="785" name="Google Shape;785;p30"/>
          <p:cNvSpPr/>
          <p:nvPr/>
        </p:nvSpPr>
        <p:spPr>
          <a:xfrm>
            <a:off x="5212080" y="114300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Wer hat MemPalace implementiert?</a:t>
            </a:r>
            <a:endParaRPr b="0" i="0" sz="1100" u="none" cap="none" strike="noStrike">
              <a:solidFill>
                <a:schemeClr val="dk1"/>
              </a:solidFill>
              <a:latin typeface="Calibri"/>
              <a:ea typeface="Calibri"/>
              <a:cs typeface="Calibri"/>
              <a:sym typeface="Calibri"/>
            </a:endParaRPr>
          </a:p>
        </p:txBody>
      </p:sp>
      <p:sp>
        <p:nvSpPr>
          <p:cNvPr id="786" name="Google Shape;786;p30"/>
          <p:cNvSpPr/>
          <p:nvPr/>
        </p:nvSpPr>
        <p:spPr>
          <a:xfrm>
            <a:off x="4754880" y="18745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7</a:t>
            </a:r>
            <a:endParaRPr b="0" i="0" sz="1400" u="none" cap="none" strike="noStrike">
              <a:solidFill>
                <a:schemeClr val="dk1"/>
              </a:solidFill>
              <a:latin typeface="Calibri"/>
              <a:ea typeface="Calibri"/>
              <a:cs typeface="Calibri"/>
              <a:sym typeface="Calibri"/>
            </a:endParaRPr>
          </a:p>
        </p:txBody>
      </p:sp>
      <p:sp>
        <p:nvSpPr>
          <p:cNvPr id="787" name="Google Shape;787;p30"/>
          <p:cNvSpPr/>
          <p:nvPr/>
        </p:nvSpPr>
        <p:spPr>
          <a:xfrm>
            <a:off x="5212080" y="187452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Wie viele MCP Tools?</a:t>
            </a:r>
            <a:endParaRPr b="0" i="0" sz="1100" u="none" cap="none" strike="noStrike">
              <a:solidFill>
                <a:schemeClr val="dk1"/>
              </a:solidFill>
              <a:latin typeface="Calibri"/>
              <a:ea typeface="Calibri"/>
              <a:cs typeface="Calibri"/>
              <a:sym typeface="Calibri"/>
            </a:endParaRPr>
          </a:p>
        </p:txBody>
      </p:sp>
      <p:sp>
        <p:nvSpPr>
          <p:cNvPr id="788" name="Google Shape;788;p30"/>
          <p:cNvSpPr/>
          <p:nvPr/>
        </p:nvSpPr>
        <p:spPr>
          <a:xfrm>
            <a:off x="4754880" y="26060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8</a:t>
            </a:r>
            <a:endParaRPr b="0" i="0" sz="1400" u="none" cap="none" strike="noStrike">
              <a:solidFill>
                <a:schemeClr val="dk1"/>
              </a:solidFill>
              <a:latin typeface="Calibri"/>
              <a:ea typeface="Calibri"/>
              <a:cs typeface="Calibri"/>
              <a:sym typeface="Calibri"/>
            </a:endParaRPr>
          </a:p>
        </p:txBody>
      </p:sp>
      <p:sp>
        <p:nvSpPr>
          <p:cNvPr id="789" name="Google Shape;789;p30"/>
          <p:cNvSpPr/>
          <p:nvPr/>
        </p:nvSpPr>
        <p:spPr>
          <a:xfrm>
            <a:off x="5212080" y="260604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Was misst Cosine Similarity?</a:t>
            </a:r>
            <a:endParaRPr b="0" i="0" sz="1100" u="none" cap="none" strike="noStrike">
              <a:solidFill>
                <a:schemeClr val="dk1"/>
              </a:solidFill>
              <a:latin typeface="Calibri"/>
              <a:ea typeface="Calibri"/>
              <a:cs typeface="Calibri"/>
              <a:sym typeface="Calibri"/>
            </a:endParaRPr>
          </a:p>
        </p:txBody>
      </p:sp>
      <p:sp>
        <p:nvSpPr>
          <p:cNvPr id="790" name="Google Shape;790;p30"/>
          <p:cNvSpPr/>
          <p:nvPr/>
        </p:nvSpPr>
        <p:spPr>
          <a:xfrm>
            <a:off x="4754880" y="33375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9</a:t>
            </a:r>
            <a:endParaRPr b="0" i="0" sz="1400" u="none" cap="none" strike="noStrike">
              <a:solidFill>
                <a:schemeClr val="dk1"/>
              </a:solidFill>
              <a:latin typeface="Calibri"/>
              <a:ea typeface="Calibri"/>
              <a:cs typeface="Calibri"/>
              <a:sym typeface="Calibri"/>
            </a:endParaRPr>
          </a:p>
        </p:txBody>
      </p:sp>
      <p:sp>
        <p:nvSpPr>
          <p:cNvPr id="791" name="Google Shape;791;p30"/>
          <p:cNvSpPr/>
          <p:nvPr/>
        </p:nvSpPr>
        <p:spPr>
          <a:xfrm>
            <a:off x="5212080" y="333756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Welche 5 Hall-Typen existieren?</a:t>
            </a:r>
            <a:endParaRPr b="0" i="0" sz="1100" u="none" cap="none" strike="noStrike">
              <a:solidFill>
                <a:schemeClr val="dk1"/>
              </a:solidFill>
              <a:latin typeface="Calibri"/>
              <a:ea typeface="Calibri"/>
              <a:cs typeface="Calibri"/>
              <a:sym typeface="Calibri"/>
            </a:endParaRPr>
          </a:p>
        </p:txBody>
      </p:sp>
      <p:sp>
        <p:nvSpPr>
          <p:cNvPr id="792" name="Google Shape;792;p30"/>
          <p:cNvSpPr/>
          <p:nvPr/>
        </p:nvSpPr>
        <p:spPr>
          <a:xfrm>
            <a:off x="4754880" y="40690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276"/>
              </a:buClr>
              <a:buSzPts val="1400"/>
              <a:buFont typeface="Georgia"/>
              <a:buNone/>
            </a:pPr>
            <a:r>
              <a:rPr b="1" i="0" lang="en-US" sz="1400" u="none" cap="none" strike="noStrike">
                <a:solidFill>
                  <a:srgbClr val="1A5276"/>
                </a:solidFill>
                <a:latin typeface="Georgia"/>
                <a:ea typeface="Georgia"/>
                <a:cs typeface="Georgia"/>
                <a:sym typeface="Georgia"/>
              </a:rPr>
              <a:t>10</a:t>
            </a:r>
            <a:endParaRPr b="0" i="0" sz="1400" u="none" cap="none" strike="noStrike">
              <a:solidFill>
                <a:schemeClr val="dk1"/>
              </a:solidFill>
              <a:latin typeface="Calibri"/>
              <a:ea typeface="Calibri"/>
              <a:cs typeface="Calibri"/>
              <a:sym typeface="Calibri"/>
            </a:endParaRPr>
          </a:p>
        </p:txBody>
      </p:sp>
      <p:sp>
        <p:nvSpPr>
          <p:cNvPr id="793" name="Google Shape;793;p30"/>
          <p:cNvSpPr/>
          <p:nvPr/>
        </p:nvSpPr>
        <p:spPr>
          <a:xfrm>
            <a:off x="5212080" y="4069080"/>
            <a:ext cx="3474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100"/>
              <a:buFont typeface="Calibri"/>
              <a:buNone/>
            </a:pPr>
            <a:r>
              <a:rPr b="0" i="0" lang="en-US" sz="1100" u="none" cap="none" strike="noStrike">
                <a:solidFill>
                  <a:srgbClr val="1C2833"/>
                </a:solidFill>
                <a:latin typeface="Calibri"/>
                <a:ea typeface="Calibri"/>
                <a:cs typeface="Calibri"/>
                <a:sym typeface="Calibri"/>
              </a:rPr>
              <a:t>Retrieval-Boost durch Wing+Room-Filtering?</a:t>
            </a:r>
            <a:endParaRPr b="0" i="0" sz="1100" u="none" cap="none" strike="noStrike">
              <a:solidFill>
                <a:schemeClr val="dk1"/>
              </a:solidFill>
              <a:latin typeface="Calibri"/>
              <a:ea typeface="Calibri"/>
              <a:cs typeface="Calibri"/>
              <a:sym typeface="Calibri"/>
            </a:endParaRPr>
          </a:p>
        </p:txBody>
      </p:sp>
      <p:sp>
        <p:nvSpPr>
          <p:cNvPr id="794" name="Google Shape;794;p30"/>
          <p:cNvSpPr/>
          <p:nvPr/>
        </p:nvSpPr>
        <p:spPr>
          <a:xfrm>
            <a:off x="914400" y="1371633"/>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ChromaDB</a:t>
            </a:r>
            <a:endParaRPr b="0" i="0" sz="1200" u="none" cap="none" strike="noStrike">
              <a:solidFill>
                <a:schemeClr val="dk1"/>
              </a:solidFill>
              <a:latin typeface="Calibri"/>
              <a:ea typeface="Calibri"/>
              <a:cs typeface="Calibri"/>
              <a:sym typeface="Calibri"/>
            </a:endParaRPr>
          </a:p>
        </p:txBody>
      </p:sp>
      <p:sp>
        <p:nvSpPr>
          <p:cNvPr id="795" name="Google Shape;795;p30"/>
          <p:cNvSpPr/>
          <p:nvPr/>
        </p:nvSpPr>
        <p:spPr>
          <a:xfrm>
            <a:off x="914388" y="2131723"/>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Halls = </a:t>
            </a:r>
            <a:r>
              <a:rPr b="1" lang="en-US" sz="1200">
                <a:solidFill>
                  <a:srgbClr val="27AE60"/>
                </a:solidFill>
                <a:latin typeface="Calibri"/>
                <a:ea typeface="Calibri"/>
                <a:cs typeface="Calibri"/>
                <a:sym typeface="Calibri"/>
              </a:rPr>
              <a:t>Enums</a:t>
            </a:r>
            <a:r>
              <a:rPr b="1" i="0" lang="en-US" sz="1200" u="none" cap="none" strike="noStrike">
                <a:solidFill>
                  <a:srgbClr val="27AE60"/>
                </a:solidFill>
                <a:latin typeface="Calibri"/>
                <a:ea typeface="Calibri"/>
                <a:cs typeface="Calibri"/>
                <a:sym typeface="Calibri"/>
              </a:rPr>
              <a:t>, Tunnels = </a:t>
            </a:r>
            <a:r>
              <a:rPr b="1" lang="en-US" sz="1200">
                <a:solidFill>
                  <a:srgbClr val="27AE60"/>
                </a:solidFill>
                <a:latin typeface="Calibri"/>
                <a:ea typeface="Calibri"/>
                <a:cs typeface="Calibri"/>
                <a:sym typeface="Calibri"/>
              </a:rPr>
              <a:t>Filter-Type</a:t>
            </a:r>
            <a:endParaRPr b="0" i="0" sz="1200" u="none" cap="none" strike="noStrike">
              <a:solidFill>
                <a:schemeClr val="dk1"/>
              </a:solidFill>
              <a:latin typeface="Calibri"/>
              <a:ea typeface="Calibri"/>
              <a:cs typeface="Calibri"/>
              <a:sym typeface="Calibri"/>
            </a:endParaRPr>
          </a:p>
        </p:txBody>
      </p:sp>
      <p:sp>
        <p:nvSpPr>
          <p:cNvPr id="796" name="Google Shape;796;p30"/>
          <p:cNvSpPr/>
          <p:nvPr/>
        </p:nvSpPr>
        <p:spPr>
          <a:xfrm>
            <a:off x="914400" y="2891800"/>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~170 Tokens</a:t>
            </a:r>
            <a:endParaRPr b="0" i="0" sz="1200" u="none" cap="none" strike="noStrike">
              <a:solidFill>
                <a:schemeClr val="dk1"/>
              </a:solidFill>
              <a:latin typeface="Calibri"/>
              <a:ea typeface="Calibri"/>
              <a:cs typeface="Calibri"/>
              <a:sym typeface="Calibri"/>
            </a:endParaRPr>
          </a:p>
        </p:txBody>
      </p:sp>
      <p:sp>
        <p:nvSpPr>
          <p:cNvPr id="797" name="Google Shape;797;p30"/>
          <p:cNvSpPr/>
          <p:nvPr/>
        </p:nvSpPr>
        <p:spPr>
          <a:xfrm>
            <a:off x="914400" y="3611890"/>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96,6%</a:t>
            </a:r>
            <a:endParaRPr b="0" i="0" sz="1200" u="none" cap="none" strike="noStrike">
              <a:solidFill>
                <a:schemeClr val="dk1"/>
              </a:solidFill>
              <a:latin typeface="Calibri"/>
              <a:ea typeface="Calibri"/>
              <a:cs typeface="Calibri"/>
              <a:sym typeface="Calibri"/>
            </a:endParaRPr>
          </a:p>
        </p:txBody>
      </p:sp>
      <p:sp>
        <p:nvSpPr>
          <p:cNvPr id="798" name="Google Shape;798;p30"/>
          <p:cNvSpPr/>
          <p:nvPr/>
        </p:nvSpPr>
        <p:spPr>
          <a:xfrm>
            <a:off x="914388" y="4309130"/>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"30x lossless compression" (AAAK)</a:t>
            </a:r>
            <a:endParaRPr b="0" i="0" sz="1200" u="none" cap="none" strike="noStrike">
              <a:solidFill>
                <a:schemeClr val="dk1"/>
              </a:solidFill>
              <a:latin typeface="Calibri"/>
              <a:ea typeface="Calibri"/>
              <a:cs typeface="Calibri"/>
              <a:sym typeface="Calibri"/>
            </a:endParaRPr>
          </a:p>
        </p:txBody>
      </p:sp>
      <p:sp>
        <p:nvSpPr>
          <p:cNvPr id="799" name="Google Shape;799;p30"/>
          <p:cNvSpPr/>
          <p:nvPr/>
        </p:nvSpPr>
        <p:spPr>
          <a:xfrm>
            <a:off x="5212080" y="1371633"/>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Ben Sigman + Milla Jovovich</a:t>
            </a:r>
            <a:endParaRPr b="0" i="0" sz="1200" u="none" cap="none" strike="noStrike">
              <a:solidFill>
                <a:schemeClr val="dk1"/>
              </a:solidFill>
              <a:latin typeface="Calibri"/>
              <a:ea typeface="Calibri"/>
              <a:cs typeface="Calibri"/>
              <a:sym typeface="Calibri"/>
            </a:endParaRPr>
          </a:p>
        </p:txBody>
      </p:sp>
      <p:sp>
        <p:nvSpPr>
          <p:cNvPr id="800" name="Google Shape;800;p30"/>
          <p:cNvSpPr/>
          <p:nvPr/>
        </p:nvSpPr>
        <p:spPr>
          <a:xfrm>
            <a:off x="5212080" y="2100285"/>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19 MCP Tools</a:t>
            </a:r>
            <a:endParaRPr b="0" i="0" sz="1200" u="none" cap="none" strike="noStrike">
              <a:solidFill>
                <a:schemeClr val="dk1"/>
              </a:solidFill>
              <a:latin typeface="Calibri"/>
              <a:ea typeface="Calibri"/>
              <a:cs typeface="Calibri"/>
              <a:sym typeface="Calibri"/>
            </a:endParaRPr>
          </a:p>
        </p:txBody>
      </p:sp>
      <p:sp>
        <p:nvSpPr>
          <p:cNvPr id="801" name="Google Shape;801;p30"/>
          <p:cNvSpPr/>
          <p:nvPr/>
        </p:nvSpPr>
        <p:spPr>
          <a:xfrm>
            <a:off x="5212080" y="2834650"/>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Winkel zwischen Vektoren (Ähnlichkeit)</a:t>
            </a:r>
            <a:endParaRPr b="0" i="0" sz="1200" u="none" cap="none" strike="noStrike">
              <a:solidFill>
                <a:schemeClr val="dk1"/>
              </a:solidFill>
              <a:latin typeface="Calibri"/>
              <a:ea typeface="Calibri"/>
              <a:cs typeface="Calibri"/>
              <a:sym typeface="Calibri"/>
            </a:endParaRPr>
          </a:p>
        </p:txBody>
      </p:sp>
      <p:sp>
        <p:nvSpPr>
          <p:cNvPr id="802" name="Google Shape;802;p30"/>
          <p:cNvSpPr/>
          <p:nvPr/>
        </p:nvSpPr>
        <p:spPr>
          <a:xfrm>
            <a:off x="5212080" y="3569015"/>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facts, events, discoveries, preferences, advice</a:t>
            </a:r>
            <a:endParaRPr b="0" i="0" sz="1200" u="none" cap="none" strike="noStrike">
              <a:solidFill>
                <a:schemeClr val="dk1"/>
              </a:solidFill>
              <a:latin typeface="Calibri"/>
              <a:ea typeface="Calibri"/>
              <a:cs typeface="Calibri"/>
              <a:sym typeface="Calibri"/>
            </a:endParaRPr>
          </a:p>
        </p:txBody>
      </p:sp>
      <p:sp>
        <p:nvSpPr>
          <p:cNvPr id="803" name="Google Shape;803;p30"/>
          <p:cNvSpPr/>
          <p:nvPr/>
        </p:nvSpPr>
        <p:spPr>
          <a:xfrm>
            <a:off x="5212080" y="4309130"/>
            <a:ext cx="3657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+34% R@10</a:t>
            </a:r>
            <a:endParaRPr b="0" i="0" sz="12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8" name="Shape 808"/>
        <p:cNvGrpSpPr/>
        <p:nvPr/>
      </p:nvGrpSpPr>
      <p:grpSpPr>
        <a:xfrm>
          <a:off x="0" y="0"/>
          <a:ext cx="0" cy="0"/>
          <a:chOff x="0" y="0"/>
          <a:chExt cx="0" cy="0"/>
        </a:xfrm>
      </p:grpSpPr>
      <p:sp>
        <p:nvSpPr>
          <p:cNvPr id="809" name="Google Shape;809;p31"/>
          <p:cNvSpPr/>
          <p:nvPr/>
        </p:nvSpPr>
        <p:spPr>
          <a:xfrm>
            <a:off x="365760" y="228600"/>
            <a:ext cx="457200" cy="457200"/>
          </a:xfrm>
          <a:prstGeom prst="ellipse">
            <a:avLst/>
          </a:prstGeom>
          <a:solidFill>
            <a:srgbClr val="1A5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a:off x="365760" y="2286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7</a:t>
            </a:r>
            <a:endParaRPr b="0" i="0" sz="1600" u="none" cap="none" strike="noStrike">
              <a:solidFill>
                <a:schemeClr val="dk1"/>
              </a:solidFill>
              <a:latin typeface="Calibri"/>
              <a:ea typeface="Calibri"/>
              <a:cs typeface="Calibri"/>
              <a:sym typeface="Calibri"/>
            </a:endParaRPr>
          </a:p>
        </p:txBody>
      </p:sp>
      <p:sp>
        <p:nvSpPr>
          <p:cNvPr id="811" name="Google Shape;811;p31"/>
          <p:cNvSpPr/>
          <p:nvPr/>
        </p:nvSpPr>
        <p:spPr>
          <a:xfrm>
            <a:off x="1005840" y="1371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2800"/>
              <a:buFont typeface="Georgia"/>
              <a:buNone/>
            </a:pPr>
            <a:r>
              <a:rPr b="1" i="0" lang="en-US" sz="2800" u="none" cap="none" strike="noStrike">
                <a:solidFill>
                  <a:srgbClr val="1A5276"/>
                </a:solidFill>
                <a:latin typeface="Georgia"/>
                <a:ea typeface="Georgia"/>
                <a:cs typeface="Georgia"/>
                <a:sym typeface="Georgia"/>
              </a:rPr>
              <a:t>Take-Aways</a:t>
            </a:r>
            <a:endParaRPr b="0" i="0" sz="2800" u="none" cap="none" strike="noStrike">
              <a:solidFill>
                <a:schemeClr val="dk1"/>
              </a:solidFill>
              <a:latin typeface="Calibri"/>
              <a:ea typeface="Calibri"/>
              <a:cs typeface="Calibri"/>
              <a:sym typeface="Calibri"/>
            </a:endParaRPr>
          </a:p>
        </p:txBody>
      </p:sp>
      <p:sp>
        <p:nvSpPr>
          <p:cNvPr id="812" name="Google Shape;812;p31"/>
          <p:cNvSpPr/>
          <p:nvPr/>
        </p:nvSpPr>
        <p:spPr>
          <a:xfrm>
            <a:off x="457200" y="100584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1"/>
          <p:cNvSpPr/>
          <p:nvPr/>
        </p:nvSpPr>
        <p:spPr>
          <a:xfrm>
            <a:off x="594360" y="106070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4" name="Google Shape;814;p31"/>
          <p:cNvPicPr preferRelativeResize="0"/>
          <p:nvPr/>
        </p:nvPicPr>
        <p:blipFill rotWithShape="1">
          <a:blip r:embed="rId3">
            <a:alphaModFix/>
          </a:blip>
          <a:srcRect b="0" l="0" r="0" t="0"/>
          <a:stretch/>
        </p:blipFill>
        <p:spPr>
          <a:xfrm>
            <a:off x="667512" y="1133856"/>
            <a:ext cx="219456" cy="219456"/>
          </a:xfrm>
          <a:prstGeom prst="rect">
            <a:avLst/>
          </a:prstGeom>
          <a:noFill/>
          <a:ln>
            <a:noFill/>
          </a:ln>
        </p:spPr>
      </p:pic>
      <p:sp>
        <p:nvSpPr>
          <p:cNvPr id="815" name="Google Shape;815;p31"/>
          <p:cNvSpPr/>
          <p:nvPr/>
        </p:nvSpPr>
        <p:spPr>
          <a:xfrm>
            <a:off x="1097280" y="103327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AI-Memory = RAG + hierarchische Metadaten + Vektordatenbank</a:t>
            </a:r>
            <a:endParaRPr b="0" i="0" sz="1200" u="none" cap="none" strike="noStrike">
              <a:solidFill>
                <a:schemeClr val="dk1"/>
              </a:solidFill>
              <a:latin typeface="Calibri"/>
              <a:ea typeface="Calibri"/>
              <a:cs typeface="Calibri"/>
              <a:sym typeface="Calibri"/>
            </a:endParaRPr>
          </a:p>
        </p:txBody>
      </p:sp>
      <p:sp>
        <p:nvSpPr>
          <p:cNvPr id="816" name="Google Shape;816;p31"/>
          <p:cNvSpPr/>
          <p:nvPr/>
        </p:nvSpPr>
        <p:spPr>
          <a:xfrm>
            <a:off x="457200" y="160020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1"/>
          <p:cNvSpPr/>
          <p:nvPr/>
        </p:nvSpPr>
        <p:spPr>
          <a:xfrm>
            <a:off x="594360" y="165506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8" name="Google Shape;818;p31"/>
          <p:cNvPicPr preferRelativeResize="0"/>
          <p:nvPr/>
        </p:nvPicPr>
        <p:blipFill rotWithShape="1">
          <a:blip r:embed="rId4">
            <a:alphaModFix/>
          </a:blip>
          <a:srcRect b="0" l="0" r="0" t="0"/>
          <a:stretch/>
        </p:blipFill>
        <p:spPr>
          <a:xfrm>
            <a:off x="667512" y="1728216"/>
            <a:ext cx="219456" cy="219456"/>
          </a:xfrm>
          <a:prstGeom prst="rect">
            <a:avLst/>
          </a:prstGeom>
          <a:noFill/>
          <a:ln>
            <a:noFill/>
          </a:ln>
        </p:spPr>
      </p:pic>
      <p:sp>
        <p:nvSpPr>
          <p:cNvPr id="819" name="Google Shape;819;p31"/>
          <p:cNvSpPr/>
          <p:nvPr/>
        </p:nvSpPr>
        <p:spPr>
          <a:xfrm>
            <a:off x="1097280" y="162763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Embeddings kodieren Bedeutung, nicht Wörter — Cosine Similarity misst Ähnlichkeit</a:t>
            </a:r>
            <a:endParaRPr b="0" i="0" sz="1200" u="none" cap="none" strike="noStrike">
              <a:solidFill>
                <a:schemeClr val="dk1"/>
              </a:solidFill>
              <a:latin typeface="Calibri"/>
              <a:ea typeface="Calibri"/>
              <a:cs typeface="Calibri"/>
              <a:sym typeface="Calibri"/>
            </a:endParaRPr>
          </a:p>
        </p:txBody>
      </p:sp>
      <p:sp>
        <p:nvSpPr>
          <p:cNvPr id="820" name="Google Shape;820;p31"/>
          <p:cNvSpPr/>
          <p:nvPr/>
        </p:nvSpPr>
        <p:spPr>
          <a:xfrm>
            <a:off x="457200" y="219456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1"/>
          <p:cNvSpPr/>
          <p:nvPr/>
        </p:nvSpPr>
        <p:spPr>
          <a:xfrm>
            <a:off x="594360" y="224942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2" name="Google Shape;822;p31"/>
          <p:cNvPicPr preferRelativeResize="0"/>
          <p:nvPr/>
        </p:nvPicPr>
        <p:blipFill rotWithShape="1">
          <a:blip r:embed="rId5">
            <a:alphaModFix/>
          </a:blip>
          <a:srcRect b="0" l="0" r="0" t="0"/>
          <a:stretch/>
        </p:blipFill>
        <p:spPr>
          <a:xfrm>
            <a:off x="667512" y="2322576"/>
            <a:ext cx="219456" cy="219456"/>
          </a:xfrm>
          <a:prstGeom prst="rect">
            <a:avLst/>
          </a:prstGeom>
          <a:noFill/>
          <a:ln>
            <a:noFill/>
          </a:ln>
        </p:spPr>
      </p:pic>
      <p:sp>
        <p:nvSpPr>
          <p:cNvPr id="823" name="Google Shape;823;p31"/>
          <p:cNvSpPr/>
          <p:nvPr/>
        </p:nvSpPr>
        <p:spPr>
          <a:xfrm>
            <a:off x="1097280" y="222199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Verbatim Storage schlägt LLM-Extraction auf SOTA-Benchmark (96,6% R@5)</a:t>
            </a:r>
            <a:endParaRPr b="0" i="0" sz="1200" u="none" cap="none" strike="noStrike">
              <a:solidFill>
                <a:schemeClr val="dk1"/>
              </a:solidFill>
              <a:latin typeface="Calibri"/>
              <a:ea typeface="Calibri"/>
              <a:cs typeface="Calibri"/>
              <a:sym typeface="Calibri"/>
            </a:endParaRPr>
          </a:p>
        </p:txBody>
      </p:sp>
      <p:sp>
        <p:nvSpPr>
          <p:cNvPr id="824" name="Google Shape;824;p31"/>
          <p:cNvSpPr/>
          <p:nvPr/>
        </p:nvSpPr>
        <p:spPr>
          <a:xfrm>
            <a:off x="457200" y="278892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1"/>
          <p:cNvSpPr/>
          <p:nvPr/>
        </p:nvSpPr>
        <p:spPr>
          <a:xfrm>
            <a:off x="594360" y="284378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6" name="Google Shape;826;p31"/>
          <p:cNvPicPr preferRelativeResize="0"/>
          <p:nvPr/>
        </p:nvPicPr>
        <p:blipFill rotWithShape="1">
          <a:blip r:embed="rId6">
            <a:alphaModFix/>
          </a:blip>
          <a:srcRect b="0" l="0" r="0" t="0"/>
          <a:stretch/>
        </p:blipFill>
        <p:spPr>
          <a:xfrm>
            <a:off x="667512" y="2916936"/>
            <a:ext cx="219456" cy="219456"/>
          </a:xfrm>
          <a:prstGeom prst="rect">
            <a:avLst/>
          </a:prstGeom>
          <a:noFill/>
          <a:ln>
            <a:noFill/>
          </a:ln>
        </p:spPr>
      </p:pic>
      <p:sp>
        <p:nvSpPr>
          <p:cNvPr id="827" name="Google Shape;827;p31"/>
          <p:cNvSpPr/>
          <p:nvPr/>
        </p:nvSpPr>
        <p:spPr>
          <a:xfrm>
            <a:off x="1097280" y="281635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+34% </a:t>
            </a:r>
            <a:r>
              <a:rPr lang="en-US" sz="1200">
                <a:solidFill>
                  <a:srgbClr val="1C2833"/>
                </a:solidFill>
                <a:latin typeface="Calibri"/>
                <a:ea typeface="Calibri"/>
                <a:cs typeface="Calibri"/>
                <a:sym typeface="Calibri"/>
              </a:rPr>
              <a:t>R@5 </a:t>
            </a:r>
            <a:r>
              <a:rPr b="0" i="0" lang="en-US" sz="1200" u="none" cap="none" strike="noStrike">
                <a:solidFill>
                  <a:srgbClr val="1C2833"/>
                </a:solidFill>
                <a:latin typeface="Calibri"/>
                <a:ea typeface="Calibri"/>
                <a:cs typeface="Calibri"/>
                <a:sym typeface="Calibri"/>
              </a:rPr>
              <a:t>durch Metadata-Filtering — strukturierte Indizierung ist unterschätzt</a:t>
            </a:r>
            <a:endParaRPr b="0" i="0" sz="1200" u="none" cap="none" strike="noStrike">
              <a:solidFill>
                <a:schemeClr val="dk1"/>
              </a:solidFill>
              <a:latin typeface="Calibri"/>
              <a:ea typeface="Calibri"/>
              <a:cs typeface="Calibri"/>
              <a:sym typeface="Calibri"/>
            </a:endParaRPr>
          </a:p>
        </p:txBody>
      </p:sp>
      <p:sp>
        <p:nvSpPr>
          <p:cNvPr id="828" name="Google Shape;828;p31"/>
          <p:cNvSpPr/>
          <p:nvPr/>
        </p:nvSpPr>
        <p:spPr>
          <a:xfrm>
            <a:off x="457200" y="338328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1"/>
          <p:cNvSpPr/>
          <p:nvPr/>
        </p:nvSpPr>
        <p:spPr>
          <a:xfrm>
            <a:off x="594360" y="343814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0" name="Google Shape;830;p31"/>
          <p:cNvPicPr preferRelativeResize="0"/>
          <p:nvPr/>
        </p:nvPicPr>
        <p:blipFill rotWithShape="1">
          <a:blip r:embed="rId7">
            <a:alphaModFix/>
          </a:blip>
          <a:srcRect b="0" l="0" r="0" t="0"/>
          <a:stretch/>
        </p:blipFill>
        <p:spPr>
          <a:xfrm>
            <a:off x="667512" y="3511296"/>
            <a:ext cx="219456" cy="219456"/>
          </a:xfrm>
          <a:prstGeom prst="rect">
            <a:avLst/>
          </a:prstGeom>
          <a:noFill/>
          <a:ln>
            <a:noFill/>
          </a:ln>
        </p:spPr>
      </p:pic>
      <p:sp>
        <p:nvSpPr>
          <p:cNvPr id="831" name="Google Shape;831;p31"/>
          <p:cNvSpPr/>
          <p:nvPr/>
        </p:nvSpPr>
        <p:spPr>
          <a:xfrm>
            <a:off x="1097280" y="341071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Open Source + GitHub Issues = Peer Review in Echtzeit</a:t>
            </a:r>
            <a:endParaRPr b="0" i="0" sz="1200" u="none" cap="none" strike="noStrike">
              <a:solidFill>
                <a:schemeClr val="dk1"/>
              </a:solidFill>
              <a:latin typeface="Calibri"/>
              <a:ea typeface="Calibri"/>
              <a:cs typeface="Calibri"/>
              <a:sym typeface="Calibri"/>
            </a:endParaRPr>
          </a:p>
        </p:txBody>
      </p:sp>
      <p:sp>
        <p:nvSpPr>
          <p:cNvPr id="832" name="Google Shape;832;p31"/>
          <p:cNvSpPr/>
          <p:nvPr/>
        </p:nvSpPr>
        <p:spPr>
          <a:xfrm>
            <a:off x="457200" y="3977640"/>
            <a:ext cx="8229600" cy="502920"/>
          </a:xfrm>
          <a:prstGeom prst="rect">
            <a:avLst/>
          </a:prstGeom>
          <a:solidFill>
            <a:srgbClr val="F4F6F8"/>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1"/>
          <p:cNvSpPr/>
          <p:nvPr/>
        </p:nvSpPr>
        <p:spPr>
          <a:xfrm>
            <a:off x="594360" y="4032504"/>
            <a:ext cx="365760" cy="365760"/>
          </a:xfrm>
          <a:prstGeom prst="ellipse">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4" name="Google Shape;834;p31"/>
          <p:cNvPicPr preferRelativeResize="0"/>
          <p:nvPr/>
        </p:nvPicPr>
        <p:blipFill rotWithShape="1">
          <a:blip r:embed="rId8">
            <a:alphaModFix/>
          </a:blip>
          <a:srcRect b="0" l="0" r="0" t="0"/>
          <a:stretch/>
        </p:blipFill>
        <p:spPr>
          <a:xfrm>
            <a:off x="667512" y="4105656"/>
            <a:ext cx="219456" cy="219456"/>
          </a:xfrm>
          <a:prstGeom prst="rect">
            <a:avLst/>
          </a:prstGeom>
          <a:noFill/>
          <a:ln>
            <a:noFill/>
          </a:ln>
        </p:spPr>
      </p:pic>
      <p:sp>
        <p:nvSpPr>
          <p:cNvPr id="835" name="Google Shape;835;p31"/>
          <p:cNvSpPr/>
          <p:nvPr/>
        </p:nvSpPr>
        <p:spPr>
          <a:xfrm>
            <a:off x="1097280" y="4005072"/>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833"/>
              </a:buClr>
              <a:buSzPts val="1200"/>
              <a:buFont typeface="Calibri"/>
              <a:buNone/>
            </a:pPr>
            <a:r>
              <a:rPr b="0" i="0" lang="en-US" sz="1200" u="none" cap="none" strike="noStrike">
                <a:solidFill>
                  <a:srgbClr val="1C2833"/>
                </a:solidFill>
                <a:latin typeface="Calibri"/>
                <a:ea typeface="Calibri"/>
                <a:cs typeface="Calibri"/>
                <a:sym typeface="Calibri"/>
              </a:rPr>
              <a:t>Reproduzierbare Ergebnisse zählen — nicht wer die Autoren sind</a:t>
            </a:r>
            <a:endParaRPr b="0" i="0" sz="1200" u="none" cap="none" strike="noStrike">
              <a:solidFill>
                <a:schemeClr val="dk1"/>
              </a:solidFill>
              <a:latin typeface="Calibri"/>
              <a:ea typeface="Calibri"/>
              <a:cs typeface="Calibri"/>
              <a:sym typeface="Calibri"/>
            </a:endParaRPr>
          </a:p>
        </p:txBody>
      </p:sp>
      <p:sp>
        <p:nvSpPr>
          <p:cNvPr id="836" name="Google Shape;836;p31"/>
          <p:cNvSpPr/>
          <p:nvPr/>
        </p:nvSpPr>
        <p:spPr>
          <a:xfrm>
            <a:off x="457200" y="4572000"/>
            <a:ext cx="8229600" cy="365760"/>
          </a:xfrm>
          <a:prstGeom prst="rect">
            <a:avLst/>
          </a:prstGeom>
          <a:solidFill>
            <a:srgbClr val="EEF2F7"/>
          </a:solidFill>
          <a:ln cap="flat" cmpd="sng" w="9525">
            <a:solidFill>
              <a:srgbClr val="D5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1"/>
          <p:cNvSpPr/>
          <p:nvPr/>
        </p:nvSpPr>
        <p:spPr>
          <a:xfrm>
            <a:off x="731520" y="4599432"/>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000"/>
              <a:buFont typeface="Consolas"/>
              <a:buNone/>
            </a:pPr>
            <a:r>
              <a:rPr b="0" i="0" lang="en-US" sz="1000" u="none" cap="none" strike="noStrike">
                <a:solidFill>
                  <a:srgbClr val="1A5276"/>
                </a:solidFill>
                <a:latin typeface="Consolas"/>
                <a:ea typeface="Consolas"/>
                <a:cs typeface="Consolas"/>
                <a:sym typeface="Consolas"/>
              </a:rPr>
              <a:t>github.com/milla-jovovich/mempalace  ·  mempalace.tech  ·  LongMemEval Paper  ·  Lewis et al. 2020 (RAG)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32"/>
          <p:cNvSpPr txBox="1"/>
          <p:nvPr/>
        </p:nvSpPr>
        <p:spPr>
          <a:xfrm>
            <a:off x="1280100" y="82400"/>
            <a:ext cx="65838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200"/>
              <a:t>Quellen</a:t>
            </a:r>
            <a:endParaRPr sz="2200"/>
          </a:p>
        </p:txBody>
      </p:sp>
      <p:sp>
        <p:nvSpPr>
          <p:cNvPr id="844" name="Google Shape;844;p32"/>
          <p:cNvSpPr txBox="1"/>
          <p:nvPr/>
        </p:nvSpPr>
        <p:spPr>
          <a:xfrm>
            <a:off x="332400" y="605600"/>
            <a:ext cx="42243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1"/>
                </a:solidFill>
              </a:rPr>
              <a:t>MemPalace Projekt</a:t>
            </a:r>
            <a:endParaRPr b="1" sz="900">
              <a:solidFill>
                <a:schemeClr val="dk1"/>
              </a:solidFill>
            </a:endParaRPr>
          </a:p>
          <a:p>
            <a:pPr indent="0" lvl="0" marL="0" rtl="0" algn="l">
              <a:spcBef>
                <a:spcPts val="0"/>
              </a:spcBef>
              <a:spcAft>
                <a:spcPts val="0"/>
              </a:spcAft>
              <a:buNone/>
            </a:pPr>
            <a:r>
              <a:rPr lang="en-US" sz="900">
                <a:solidFill>
                  <a:schemeClr val="dk1"/>
                </a:solidFill>
              </a:rPr>
              <a:t>GitHub Repository</a:t>
            </a:r>
            <a:endParaRPr sz="900">
              <a:solidFill>
                <a:schemeClr val="dk1"/>
              </a:solidFill>
            </a:endParaRPr>
          </a:p>
          <a:p>
            <a:pPr indent="0" lvl="0" marL="0" rtl="0" algn="l">
              <a:spcBef>
                <a:spcPts val="0"/>
              </a:spcBef>
              <a:spcAft>
                <a:spcPts val="0"/>
              </a:spcAft>
              <a:buNone/>
            </a:pPr>
            <a:r>
              <a:rPr lang="en-US" sz="900" u="sng">
                <a:solidFill>
                  <a:schemeClr val="hlink"/>
                </a:solidFill>
                <a:hlinkClick r:id="rId3"/>
              </a:rPr>
              <a:t>github.com/milla-jovovich/mempalace</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a:p>
            <a:pPr indent="0" lvl="0" marL="0" rtl="0" algn="l">
              <a:spcBef>
                <a:spcPts val="0"/>
              </a:spcBef>
              <a:spcAft>
                <a:spcPts val="0"/>
              </a:spcAft>
              <a:buNone/>
            </a:pPr>
            <a:r>
              <a:rPr b="1" lang="en-US" sz="900">
                <a:solidFill>
                  <a:schemeClr val="dk1"/>
                </a:solidFill>
              </a:rPr>
              <a:t>LongMemEval Benchmark</a:t>
            </a:r>
            <a:endParaRPr b="1" sz="900">
              <a:solidFill>
                <a:schemeClr val="dk1"/>
              </a:solidFill>
            </a:endParaRPr>
          </a:p>
          <a:p>
            <a:pPr indent="0" lvl="0" marL="0" rtl="0" algn="l">
              <a:spcBef>
                <a:spcPts val="0"/>
              </a:spcBef>
              <a:spcAft>
                <a:spcPts val="0"/>
              </a:spcAft>
              <a:buNone/>
            </a:pPr>
            <a:r>
              <a:rPr lang="en-US" sz="900">
                <a:solidFill>
                  <a:schemeClr val="dk1"/>
                </a:solidFill>
              </a:rPr>
              <a:t>Paper (Wu et al., 2024)</a:t>
            </a:r>
            <a:endParaRPr sz="900">
              <a:solidFill>
                <a:schemeClr val="dk1"/>
              </a:solidFill>
            </a:endParaRPr>
          </a:p>
          <a:p>
            <a:pPr indent="0" lvl="0" marL="0" rtl="0" algn="l">
              <a:spcBef>
                <a:spcPts val="0"/>
              </a:spcBef>
              <a:spcAft>
                <a:spcPts val="0"/>
              </a:spcAft>
              <a:buNone/>
            </a:pPr>
            <a:r>
              <a:rPr lang="en-US" sz="900" u="sng">
                <a:solidFill>
                  <a:schemeClr val="hlink"/>
                </a:solidFill>
                <a:hlinkClick r:id="rId4"/>
              </a:rPr>
              <a:t>arxiv.org/abs/2410.10813</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a:p>
            <a:pPr indent="0" lvl="0" marL="0" rtl="0" algn="l">
              <a:spcBef>
                <a:spcPts val="0"/>
              </a:spcBef>
              <a:spcAft>
                <a:spcPts val="0"/>
              </a:spcAft>
              <a:buNone/>
            </a:pPr>
            <a:r>
              <a:rPr b="1" lang="en-US" sz="900">
                <a:solidFill>
                  <a:schemeClr val="dk1"/>
                </a:solidFill>
              </a:rPr>
              <a:t>RAG Grundlagen</a:t>
            </a:r>
            <a:endParaRPr b="1" sz="900">
              <a:solidFill>
                <a:schemeClr val="dk1"/>
              </a:solidFill>
            </a:endParaRPr>
          </a:p>
          <a:p>
            <a:pPr indent="0" lvl="0" marL="0" rtl="0" algn="l">
              <a:spcBef>
                <a:spcPts val="0"/>
              </a:spcBef>
              <a:spcAft>
                <a:spcPts val="0"/>
              </a:spcAft>
              <a:buNone/>
            </a:pPr>
            <a:r>
              <a:rPr lang="en-US" sz="900">
                <a:solidFill>
                  <a:schemeClr val="dk1"/>
                </a:solidFill>
              </a:rPr>
              <a:t>Paper (Lewis et al., 2020)</a:t>
            </a:r>
            <a:endParaRPr sz="900">
              <a:solidFill>
                <a:schemeClr val="dk1"/>
              </a:solidFill>
            </a:endParaRPr>
          </a:p>
          <a:p>
            <a:pPr indent="0" lvl="0" marL="0" rtl="0" algn="l">
              <a:spcBef>
                <a:spcPts val="0"/>
              </a:spcBef>
              <a:spcAft>
                <a:spcPts val="0"/>
              </a:spcAft>
              <a:buNone/>
            </a:pPr>
            <a:r>
              <a:rPr lang="en-US" sz="900" u="sng">
                <a:solidFill>
                  <a:schemeClr val="hlink"/>
                </a:solidFill>
                <a:hlinkClick r:id="rId5"/>
              </a:rPr>
              <a:t>arxiv.org/abs/2005.11401</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a:p>
            <a:pPr indent="0" lvl="0" marL="0" rtl="0" algn="l">
              <a:spcBef>
                <a:spcPts val="0"/>
              </a:spcBef>
              <a:spcAft>
                <a:spcPts val="0"/>
              </a:spcAft>
              <a:buNone/>
            </a:pPr>
            <a:r>
              <a:rPr b="1" lang="en-US" sz="900">
                <a:solidFill>
                  <a:schemeClr val="dk1"/>
                </a:solidFill>
              </a:rPr>
              <a:t>Mem0</a:t>
            </a:r>
            <a:endParaRPr b="1" sz="900">
              <a:solidFill>
                <a:schemeClr val="dk1"/>
              </a:solidFill>
            </a:endParaRPr>
          </a:p>
          <a:p>
            <a:pPr indent="0" lvl="0" marL="0" rtl="0" algn="l">
              <a:spcBef>
                <a:spcPts val="0"/>
              </a:spcBef>
              <a:spcAft>
                <a:spcPts val="0"/>
              </a:spcAft>
              <a:buNone/>
            </a:pPr>
            <a:r>
              <a:rPr lang="en-US" sz="900">
                <a:solidFill>
                  <a:schemeClr val="dk1"/>
                </a:solidFill>
              </a:rPr>
              <a:t>Paper (Chhikara et al., 2025)</a:t>
            </a:r>
            <a:endParaRPr sz="900">
              <a:solidFill>
                <a:schemeClr val="dk1"/>
              </a:solidFill>
            </a:endParaRPr>
          </a:p>
          <a:p>
            <a:pPr indent="0" lvl="0" marL="0" rtl="0" algn="l">
              <a:spcBef>
                <a:spcPts val="0"/>
              </a:spcBef>
              <a:spcAft>
                <a:spcPts val="0"/>
              </a:spcAft>
              <a:buNone/>
            </a:pPr>
            <a:r>
              <a:rPr lang="en-US" sz="900" u="sng">
                <a:solidFill>
                  <a:schemeClr val="hlink"/>
                </a:solidFill>
                <a:hlinkClick r:id="rId6"/>
              </a:rPr>
              <a:t>arxiv.org/abs/2504.19413</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a:p>
            <a:pPr indent="0" lvl="0" marL="0" rtl="0" algn="l">
              <a:spcBef>
                <a:spcPts val="0"/>
              </a:spcBef>
              <a:spcAft>
                <a:spcPts val="0"/>
              </a:spcAft>
              <a:buNone/>
            </a:pPr>
            <a:r>
              <a:rPr b="1" lang="en-US" sz="900">
                <a:solidFill>
                  <a:schemeClr val="dk1"/>
                </a:solidFill>
              </a:rPr>
              <a:t>Zep</a:t>
            </a:r>
            <a:endParaRPr b="1" sz="900">
              <a:solidFill>
                <a:schemeClr val="dk1"/>
              </a:solidFill>
            </a:endParaRPr>
          </a:p>
          <a:p>
            <a:pPr indent="0" lvl="0" marL="0" rtl="0" algn="l">
              <a:spcBef>
                <a:spcPts val="0"/>
              </a:spcBef>
              <a:spcAft>
                <a:spcPts val="0"/>
              </a:spcAft>
              <a:buNone/>
            </a:pPr>
            <a:r>
              <a:rPr lang="en-US" sz="900">
                <a:solidFill>
                  <a:schemeClr val="dk1"/>
                </a:solidFill>
              </a:rPr>
              <a:t>Paper (Rasmussen et al., 2025)</a:t>
            </a:r>
            <a:endParaRPr sz="900">
              <a:solidFill>
                <a:schemeClr val="dk1"/>
              </a:solidFill>
            </a:endParaRPr>
          </a:p>
          <a:p>
            <a:pPr indent="0" lvl="0" marL="0" rtl="0" algn="l">
              <a:spcBef>
                <a:spcPts val="0"/>
              </a:spcBef>
              <a:spcAft>
                <a:spcPts val="0"/>
              </a:spcAft>
              <a:buNone/>
            </a:pPr>
            <a:r>
              <a:rPr lang="en-US" sz="900" u="sng">
                <a:solidFill>
                  <a:schemeClr val="hlink"/>
                </a:solidFill>
                <a:hlinkClick r:id="rId7"/>
              </a:rPr>
              <a:t>arxiv.org/abs/2501.13956</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a:p>
            <a:pPr indent="0" lvl="0" marL="0" rtl="0" algn="l">
              <a:spcBef>
                <a:spcPts val="0"/>
              </a:spcBef>
              <a:spcAft>
                <a:spcPts val="0"/>
              </a:spcAft>
              <a:buNone/>
            </a:pPr>
            <a:r>
              <a:t/>
            </a:r>
            <a:endParaRPr sz="900" u="sng">
              <a:solidFill>
                <a:schemeClr val="hlink"/>
              </a:solidFill>
            </a:endParaRPr>
          </a:p>
        </p:txBody>
      </p:sp>
      <p:sp>
        <p:nvSpPr>
          <p:cNvPr id="845" name="Google Shape;845;p32"/>
          <p:cNvSpPr txBox="1"/>
          <p:nvPr/>
        </p:nvSpPr>
        <p:spPr>
          <a:xfrm>
            <a:off x="4769150" y="605600"/>
            <a:ext cx="4224300" cy="30684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100"/>
              <a:buFont typeface="Arial"/>
              <a:buNone/>
            </a:pPr>
            <a:r>
              <a:rPr b="1" lang="en-US" sz="900">
                <a:solidFill>
                  <a:schemeClr val="dk1"/>
                </a:solidFill>
              </a:rPr>
              <a:t>Observational Memory</a:t>
            </a:r>
            <a:endParaRPr b="1"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a:solidFill>
                  <a:schemeClr val="dk1"/>
                </a:solidFill>
              </a:rPr>
              <a:t>Mastra Research (2026)</a:t>
            </a:r>
            <a:endParaRPr sz="900">
              <a:solidFill>
                <a:schemeClr val="dk1"/>
              </a:solidFill>
            </a:endParaRPr>
          </a:p>
          <a:p>
            <a:pPr indent="0" lvl="0" marL="0" rtl="0" algn="l">
              <a:lnSpc>
                <a:spcPct val="120000"/>
              </a:lnSpc>
              <a:spcBef>
                <a:spcPts val="0"/>
              </a:spcBef>
              <a:spcAft>
                <a:spcPts val="0"/>
              </a:spcAft>
              <a:buNone/>
            </a:pPr>
            <a:r>
              <a:rPr lang="en-US" sz="900" u="sng">
                <a:solidFill>
                  <a:srgbClr val="0563C1"/>
                </a:solidFill>
                <a:hlinkClick r:id="rId8">
                  <a:extLst>
                    <a:ext uri="{A12FA001-AC4F-418D-AE19-62706E023703}">
                      <ahyp:hlinkClr val="tx"/>
                    </a:ext>
                  </a:extLst>
                </a:hlinkClick>
              </a:rPr>
              <a:t>mastra.ai/research/observational-memory</a:t>
            </a:r>
            <a:endParaRPr sz="900" u="sng">
              <a:solidFill>
                <a:srgbClr val="0563C1"/>
              </a:solidFill>
            </a:endParaRPr>
          </a:p>
          <a:p>
            <a:pPr indent="0" lvl="0" marL="0" rtl="0" algn="l">
              <a:lnSpc>
                <a:spcPct val="120000"/>
              </a:lnSpc>
              <a:spcBef>
                <a:spcPts val="0"/>
              </a:spcBef>
              <a:spcAft>
                <a:spcPts val="0"/>
              </a:spcAft>
              <a:buClr>
                <a:schemeClr val="dk1"/>
              </a:buClr>
              <a:buSzPts val="1100"/>
              <a:buFont typeface="Arial"/>
              <a:buNone/>
            </a:pPr>
            <a:r>
              <a:t/>
            </a:r>
            <a:endParaRPr sz="900" u="sng">
              <a:solidFill>
                <a:srgbClr val="0563C1"/>
              </a:solidFill>
            </a:endParaRPr>
          </a:p>
          <a:p>
            <a:pPr indent="0" lvl="0" marL="0" rtl="0" algn="l">
              <a:lnSpc>
                <a:spcPct val="120000"/>
              </a:lnSpc>
              <a:spcBef>
                <a:spcPts val="0"/>
              </a:spcBef>
              <a:spcAft>
                <a:spcPts val="0"/>
              </a:spcAft>
              <a:buClr>
                <a:schemeClr val="dk1"/>
              </a:buClr>
              <a:buSzPts val="1100"/>
              <a:buFont typeface="Arial"/>
              <a:buNone/>
            </a:pPr>
            <a:r>
              <a:rPr b="1" lang="en-US" sz="900">
                <a:solidFill>
                  <a:schemeClr val="dk1"/>
                </a:solidFill>
              </a:rPr>
              <a:t>ChromaDB</a:t>
            </a:r>
            <a:endParaRPr b="1"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a:solidFill>
                  <a:schemeClr val="dk1"/>
                </a:solidFill>
              </a:rPr>
              <a:t>Vektordatenbank</a:t>
            </a:r>
            <a:endParaRPr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u="sng">
                <a:solidFill>
                  <a:srgbClr val="0563C1"/>
                </a:solidFill>
                <a:hlinkClick r:id="rId9">
                  <a:extLst>
                    <a:ext uri="{A12FA001-AC4F-418D-AE19-62706E023703}">
                      <ahyp:hlinkClr val="tx"/>
                    </a:ext>
                  </a:extLst>
                </a:hlinkClick>
              </a:rPr>
              <a:t>github.com/chroma-core/chroma</a:t>
            </a:r>
            <a:endParaRPr sz="900" u="sng">
              <a:solidFill>
                <a:srgbClr val="0563C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US" sz="900">
                <a:solidFill>
                  <a:schemeClr val="dk1"/>
                </a:solidFill>
              </a:rPr>
              <a:t>Sentence Transformers</a:t>
            </a:r>
            <a:endParaRPr b="1"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a:solidFill>
                  <a:schemeClr val="dk1"/>
                </a:solidFill>
              </a:rPr>
              <a:t>Embedding-Modell (all-MiniLM-L6-v2)</a:t>
            </a:r>
            <a:endParaRPr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u="sng">
                <a:solidFill>
                  <a:srgbClr val="0563C1"/>
                </a:solidFill>
                <a:hlinkClick r:id="rId10">
                  <a:extLst>
                    <a:ext uri="{A12FA001-AC4F-418D-AE19-62706E023703}">
                      <ahyp:hlinkClr val="tx"/>
                    </a:ext>
                  </a:extLst>
                </a:hlinkClick>
              </a:rPr>
              <a:t>huggingface.co/sentence-transformers/all-MiniLM-L6-v2</a:t>
            </a:r>
            <a:endParaRPr sz="900" u="sng">
              <a:solidFill>
                <a:srgbClr val="0563C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US" sz="900">
                <a:solidFill>
                  <a:schemeClr val="dk1"/>
                </a:solidFill>
              </a:rPr>
              <a:t>AAAK-Dialekt</a:t>
            </a:r>
            <a:endParaRPr b="1"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a:solidFill>
                  <a:schemeClr val="dk1"/>
                </a:solidFill>
              </a:rPr>
              <a:t>MemPalace-Dokumentation</a:t>
            </a:r>
            <a:endParaRPr sz="9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US" sz="900" u="sng">
                <a:solidFill>
                  <a:srgbClr val="0563C1"/>
                </a:solidFill>
                <a:hlinkClick r:id="rId11">
                  <a:extLst>
                    <a:ext uri="{A12FA001-AC4F-418D-AE19-62706E023703}">
                      <ahyp:hlinkClr val="tx"/>
                    </a:ext>
                  </a:extLst>
                </a:hlinkClick>
              </a:rPr>
              <a:t>mempalaceofficial.com/concepts/aaak-dialect.html</a:t>
            </a:r>
            <a:endParaRPr sz="900" u="sng">
              <a:solidFill>
                <a:srgbClr val="0563C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900" u="sng">
              <a:solidFill>
                <a:schemeClr val="hlink"/>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